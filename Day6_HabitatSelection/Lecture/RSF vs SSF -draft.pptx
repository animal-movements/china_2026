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277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going to unpack two of the most widely used tools in movement ecology: the resource selection function, or RSF, and the step selection function, or SSF. Both ask what predicts where an animal is or where it goes -- but they operate at different scales and answer different questions. I'll walk through the conceptual logic of each, show how they relate to a classic idea in habitat selection theory -- Johnson's hierarchy of selection -- and then look at two recent papers that put these tools to work. The details of the statistical models are in the reading; today is about building the right mental model for when and why you'd reach for one over the other.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Johnson's 1980 paper is one of the most cited framing pieces in habitat selection theory. His point was simple but powerful: selection isn't one decision, it's a nested set of decisions at different scales. First order is which part of the planet a species occupies. Second order is where within that range an individual places its home range. Third order is how it uses different patches within that home range. Fourth order is the finest scale -- which specific item, at which specific spot, an animal picks in the moment. Why does this matter for us? Because RSF and SSF aren't competing methods for the same question -- they were built to operate at different rungs of this ladder. Keep this hierarchy in mind as we go through each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RSF is the workhorse of classical habitat selection modeling. The logic: you take an animal's used locations -- typically GPS fixes -- and you compare the environmental conditions at those points to conditions at a set of randomly sampled 'available' points drawn from the home range or study area. Statistically this is usually a use-availability logistic regression. The key conceptual point is that an RSF treats each location largely as an independent snapshot -- it's not asking how the animal got from one point to the next, just whether the habitat there predicts use relative to what else was on offer. That makes it a natural tool for second- and third-order questions: where does an individual place its home range, and which habitats within that range get disproportionate use.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 selection function flips the unit of analysis from a point to a step -- the straight-line segment between two consecutive GPS fixes. For every real, observed step, you generate a set of alternative 'available' steps by resampling turn angles and step lengths from the animal's own empirical movement distribution, anchored at the same starting point. This is usually fit as a conditional -- matched case-control -- logistic regression, stratified by each observed step. The conceptual shift is important: availability is no longer the whole landscape, it's constrained by where the animal is right now and how far and which direction it's physically capable of moving. That's what lets SSFs speak to connectivity, barriers, and the movement process itself, not just static preference -- which is exactly why they sit at the more movement-explicit end of Johnson's hierarchy.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putting them side by side: same underlying GPS data, two very different framings. An RSF asks a where question over a fixed arena of availability. An SSF asks a how question where availability itself moves with the animal. Neither is strictly 'better' -- they're suited to different questions and different orders of selection. And increasingly, ecologists don't have to choose -- integrated step selection functions, or iSSFs, can recover both movement parameters and habitat selection coefficients in a single model. We won't get into that machinery today, but keep it in mind: RSF and SSF are often complementary, applied together, which is exactly what we'll see in the next two examples.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quick examples to make this concrete. Merkle and colleagues used SSFs on GPS-collared mule deer to ask a mechanistic question: is migration driven by tracking resource waves, or by memory of previously used routes? By comparing real movement against simulated animals that could only track resources versus simulated animals with memory, they showed memory dominates -- 2 to 28 times more influence -- and that resource tracking alone can't reconstruct real migratory routes. Wilkinson and colleagues took a different tack with urban coyotes in LA: they ran RSFs at the home-range scale and SSFs at the step scale on the same animals, and found that societal covariates -- income, pollution burden, development intensity -- predicted both. That's the takeaway I want you to leave with: RSF and SSF aren't rival methods, they're complementary lenses at different orders of Johnson's hierarchy, and the best studies often use both. Details on both papers are in the assigned reading.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9302A"/>
        </a:solidFill>
        <a:effectLst/>
      </p:bgPr>
    </p:bg>
    <p:spTree>
      <p:nvGrpSpPr>
        <p:cNvPr id="1" name=""/>
        <p:cNvGrpSpPr/>
        <p:nvPr/>
      </p:nvGrpSpPr>
      <p:grpSpPr>
        <a:xfrm>
          <a:off x="0" y="0"/>
          <a:ext cx="0" cy="0"/>
          <a:chOff x="0" y="0"/>
          <a:chExt cx="0" cy="0"/>
        </a:xfrm>
      </p:grpSpPr>
      <p:sp>
        <p:nvSpPr>
          <p:cNvPr id="2" name="Text 0"/>
          <p:cNvSpPr/>
          <p:nvPr/>
        </p:nvSpPr>
        <p:spPr>
          <a:xfrm>
            <a:off x="822960" y="1554480"/>
            <a:ext cx="9144000" cy="320040"/>
          </a:xfrm>
          <a:prstGeom prst="rect">
            <a:avLst/>
          </a:prstGeom>
          <a:noFill/>
          <a:ln/>
        </p:spPr>
        <p:txBody>
          <a:bodyPr wrap="square" rtlCol="0" anchor="ctr"/>
          <a:lstStyle/>
          <a:p>
            <a:pPr marL="0" indent="0">
              <a:buNone/>
            </a:pPr>
            <a:r>
              <a:rPr lang="en-US" sz="1300" b="1" kern="0" spc="200" dirty="0">
                <a:solidFill>
                  <a:srgbClr val="FFCA08"/>
                </a:solidFill>
                <a:latin typeface="Arial" pitchFamily="34" charset="0"/>
                <a:ea typeface="Arial" pitchFamily="34" charset="-122"/>
                <a:cs typeface="Arial" pitchFamily="34" charset="-120"/>
              </a:rPr>
              <a:t>SCALE, MOVEMENT &amp; THE QUESTIONS WE ASK</a:t>
            </a:r>
            <a:endParaRPr lang="en-US" sz="1300" dirty="0"/>
          </a:p>
        </p:txBody>
      </p:sp>
      <p:sp>
        <p:nvSpPr>
          <p:cNvPr id="3" name="Text 1"/>
          <p:cNvSpPr/>
          <p:nvPr/>
        </p:nvSpPr>
        <p:spPr>
          <a:xfrm>
            <a:off x="822960" y="1920240"/>
            <a:ext cx="10241280" cy="1737360"/>
          </a:xfrm>
          <a:prstGeom prst="rect">
            <a:avLst/>
          </a:prstGeom>
          <a:noFill/>
          <a:ln/>
        </p:spPr>
        <p:txBody>
          <a:bodyPr wrap="square" rtlCol="0" anchor="ctr"/>
          <a:lstStyle/>
          <a:p>
            <a:pPr marL="0" indent="0">
              <a:lnSpc>
                <a:spcPct val="105000"/>
              </a:lnSpc>
              <a:buNone/>
            </a:pPr>
            <a:r>
              <a:rPr lang="en-US" sz="4000" b="1" dirty="0">
                <a:solidFill>
                  <a:srgbClr val="FFFFFF"/>
                </a:solidFill>
                <a:latin typeface="Arial" pitchFamily="34" charset="0"/>
                <a:ea typeface="Arial" pitchFamily="34" charset="-122"/>
                <a:cs typeface="Arial" pitchFamily="34" charset="-120"/>
              </a:rPr>
              <a:t>Resource Selection vs.</a:t>
            </a:r>
            <a:endParaRPr lang="en-US" sz="4000" dirty="0"/>
          </a:p>
          <a:p>
            <a:pPr marL="0" indent="0">
              <a:lnSpc>
                <a:spcPct val="105000"/>
              </a:lnSpc>
              <a:buNone/>
            </a:pPr>
            <a:r>
              <a:rPr lang="en-US" sz="4000" b="1" dirty="0">
                <a:solidFill>
                  <a:srgbClr val="FFFFFF"/>
                </a:solidFill>
                <a:latin typeface="Arial" pitchFamily="34" charset="0"/>
                <a:ea typeface="Arial" pitchFamily="34" charset="-122"/>
                <a:cs typeface="Arial" pitchFamily="34" charset="-120"/>
              </a:rPr>
              <a:t>Step Selection Functions</a:t>
            </a:r>
            <a:endParaRPr lang="en-US" sz="4000" dirty="0"/>
          </a:p>
        </p:txBody>
      </p:sp>
      <p:sp>
        <p:nvSpPr>
          <p:cNvPr id="4" name="Text 2"/>
          <p:cNvSpPr/>
          <p:nvPr/>
        </p:nvSpPr>
        <p:spPr>
          <a:xfrm>
            <a:off x="822960" y="3703320"/>
            <a:ext cx="9144000" cy="457200"/>
          </a:xfrm>
          <a:prstGeom prst="rect">
            <a:avLst/>
          </a:prstGeom>
          <a:noFill/>
          <a:ln/>
        </p:spPr>
        <p:txBody>
          <a:bodyPr wrap="square" rtlCol="0" anchor="ctr"/>
          <a:lstStyle/>
          <a:p>
            <a:pPr marL="0" indent="0">
              <a:buNone/>
            </a:pPr>
            <a:r>
              <a:rPr lang="en-US" sz="1600" i="1" dirty="0">
                <a:solidFill>
                  <a:srgbClr val="E5DEDB"/>
                </a:solidFill>
                <a:latin typeface="Arial" pitchFamily="34" charset="0"/>
                <a:ea typeface="Arial" pitchFamily="34" charset="-122"/>
                <a:cs typeface="Arial" pitchFamily="34" charset="-120"/>
              </a:rPr>
              <a:t>Same movement data, two different questions about how animals use space</a:t>
            </a:r>
            <a:endParaRPr lang="en-US" sz="1600" dirty="0"/>
          </a:p>
        </p:txBody>
      </p:sp>
      <p:sp>
        <p:nvSpPr>
          <p:cNvPr id="5" name="Shape 3"/>
          <p:cNvSpPr/>
          <p:nvPr/>
        </p:nvSpPr>
        <p:spPr>
          <a:xfrm>
            <a:off x="1645920" y="5074920"/>
            <a:ext cx="594360" cy="0"/>
          </a:xfrm>
          <a:prstGeom prst="line">
            <a:avLst/>
          </a:prstGeom>
          <a:noFill/>
          <a:ln w="19050">
            <a:solidFill>
              <a:srgbClr val="8C7C6E"/>
            </a:solidFill>
            <a:prstDash val="solid"/>
          </a:ln>
        </p:spPr>
        <p:txBody>
          <a:bodyPr/>
          <a:lstStyle/>
          <a:p>
            <a:endParaRPr lang="en-US"/>
          </a:p>
        </p:txBody>
      </p:sp>
      <p:sp>
        <p:nvSpPr>
          <p:cNvPr id="6" name="Shape 4"/>
          <p:cNvSpPr/>
          <p:nvPr/>
        </p:nvSpPr>
        <p:spPr>
          <a:xfrm>
            <a:off x="2240280" y="4910328"/>
            <a:ext cx="685800" cy="256032"/>
          </a:xfrm>
          <a:prstGeom prst="line">
            <a:avLst/>
          </a:prstGeom>
          <a:noFill/>
          <a:ln w="19050">
            <a:solidFill>
              <a:srgbClr val="8C7C6E"/>
            </a:solidFill>
            <a:prstDash val="solid"/>
          </a:ln>
        </p:spPr>
        <p:txBody>
          <a:bodyPr/>
          <a:lstStyle/>
          <a:p>
            <a:endParaRPr lang="en-US"/>
          </a:p>
        </p:txBody>
      </p:sp>
      <p:sp>
        <p:nvSpPr>
          <p:cNvPr id="7" name="Shape 5"/>
          <p:cNvSpPr/>
          <p:nvPr/>
        </p:nvSpPr>
        <p:spPr>
          <a:xfrm>
            <a:off x="2926080" y="5166360"/>
            <a:ext cx="777240" cy="0"/>
          </a:xfrm>
          <a:prstGeom prst="line">
            <a:avLst/>
          </a:prstGeom>
          <a:noFill/>
          <a:ln w="19050">
            <a:solidFill>
              <a:srgbClr val="8C7C6E"/>
            </a:solidFill>
            <a:prstDash val="solid"/>
          </a:ln>
        </p:spPr>
        <p:txBody>
          <a:bodyPr/>
          <a:lstStyle/>
          <a:p>
            <a:endParaRPr lang="en-US"/>
          </a:p>
        </p:txBody>
      </p:sp>
      <p:sp>
        <p:nvSpPr>
          <p:cNvPr id="8" name="Shape 6"/>
          <p:cNvSpPr/>
          <p:nvPr/>
        </p:nvSpPr>
        <p:spPr>
          <a:xfrm>
            <a:off x="3703320" y="4873752"/>
            <a:ext cx="640080" cy="338328"/>
          </a:xfrm>
          <a:prstGeom prst="line">
            <a:avLst/>
          </a:prstGeom>
          <a:noFill/>
          <a:ln w="19050">
            <a:solidFill>
              <a:srgbClr val="8C7C6E"/>
            </a:solidFill>
            <a:prstDash val="solid"/>
          </a:ln>
        </p:spPr>
        <p:txBody>
          <a:bodyPr/>
          <a:lstStyle/>
          <a:p>
            <a:endParaRPr lang="en-US"/>
          </a:p>
        </p:txBody>
      </p:sp>
      <p:sp>
        <p:nvSpPr>
          <p:cNvPr id="9" name="Shape 7"/>
          <p:cNvSpPr/>
          <p:nvPr/>
        </p:nvSpPr>
        <p:spPr>
          <a:xfrm>
            <a:off x="4343400" y="5212080"/>
            <a:ext cx="777240" cy="0"/>
          </a:xfrm>
          <a:prstGeom prst="line">
            <a:avLst/>
          </a:prstGeom>
          <a:noFill/>
          <a:ln w="19050">
            <a:solidFill>
              <a:srgbClr val="8C7C6E"/>
            </a:solidFill>
            <a:prstDash val="solid"/>
          </a:ln>
        </p:spPr>
        <p:txBody>
          <a:bodyPr/>
          <a:lstStyle/>
          <a:p>
            <a:endParaRPr lang="en-US"/>
          </a:p>
        </p:txBody>
      </p:sp>
      <p:sp>
        <p:nvSpPr>
          <p:cNvPr id="10" name="Shape 8"/>
          <p:cNvSpPr/>
          <p:nvPr/>
        </p:nvSpPr>
        <p:spPr>
          <a:xfrm>
            <a:off x="5120640" y="4983480"/>
            <a:ext cx="731520" cy="274320"/>
          </a:xfrm>
          <a:prstGeom prst="line">
            <a:avLst/>
          </a:prstGeom>
          <a:noFill/>
          <a:ln w="19050">
            <a:solidFill>
              <a:srgbClr val="8C7C6E"/>
            </a:solidFill>
            <a:prstDash val="solid"/>
          </a:ln>
        </p:spPr>
        <p:txBody>
          <a:bodyPr/>
          <a:lstStyle/>
          <a:p>
            <a:endParaRPr lang="en-US"/>
          </a:p>
        </p:txBody>
      </p:sp>
      <p:sp>
        <p:nvSpPr>
          <p:cNvPr id="11" name="Shape 9"/>
          <p:cNvSpPr/>
          <p:nvPr/>
        </p:nvSpPr>
        <p:spPr>
          <a:xfrm>
            <a:off x="5852160" y="5257800"/>
            <a:ext cx="777240" cy="0"/>
          </a:xfrm>
          <a:prstGeom prst="line">
            <a:avLst/>
          </a:prstGeom>
          <a:noFill/>
          <a:ln w="19050">
            <a:solidFill>
              <a:srgbClr val="8C7C6E"/>
            </a:solidFill>
            <a:prstDash val="solid"/>
          </a:ln>
        </p:spPr>
        <p:txBody>
          <a:bodyPr/>
          <a:lstStyle/>
          <a:p>
            <a:endParaRPr lang="en-US"/>
          </a:p>
        </p:txBody>
      </p:sp>
      <p:sp>
        <p:nvSpPr>
          <p:cNvPr id="12" name="Shape 10"/>
          <p:cNvSpPr/>
          <p:nvPr/>
        </p:nvSpPr>
        <p:spPr>
          <a:xfrm>
            <a:off x="1600200" y="5029200"/>
            <a:ext cx="91440" cy="91440"/>
          </a:xfrm>
          <a:prstGeom prst="ellipse">
            <a:avLst/>
          </a:prstGeom>
          <a:solidFill>
            <a:srgbClr val="FFCA08"/>
          </a:solidFill>
          <a:ln/>
        </p:spPr>
        <p:txBody>
          <a:bodyPr/>
          <a:lstStyle/>
          <a:p>
            <a:endParaRPr lang="en-US"/>
          </a:p>
        </p:txBody>
      </p:sp>
      <p:sp>
        <p:nvSpPr>
          <p:cNvPr id="13" name="Shape 11"/>
          <p:cNvSpPr/>
          <p:nvPr/>
        </p:nvSpPr>
        <p:spPr>
          <a:xfrm>
            <a:off x="2194560" y="4864608"/>
            <a:ext cx="91440" cy="91440"/>
          </a:xfrm>
          <a:prstGeom prst="ellipse">
            <a:avLst/>
          </a:prstGeom>
          <a:solidFill>
            <a:srgbClr val="FFCA08"/>
          </a:solidFill>
          <a:ln/>
        </p:spPr>
        <p:txBody>
          <a:bodyPr/>
          <a:lstStyle/>
          <a:p>
            <a:endParaRPr lang="en-US"/>
          </a:p>
        </p:txBody>
      </p:sp>
      <p:sp>
        <p:nvSpPr>
          <p:cNvPr id="14" name="Shape 12"/>
          <p:cNvSpPr/>
          <p:nvPr/>
        </p:nvSpPr>
        <p:spPr>
          <a:xfrm>
            <a:off x="2880360" y="5120640"/>
            <a:ext cx="91440" cy="91440"/>
          </a:xfrm>
          <a:prstGeom prst="ellipse">
            <a:avLst/>
          </a:prstGeom>
          <a:solidFill>
            <a:srgbClr val="FFCA08"/>
          </a:solidFill>
          <a:ln/>
        </p:spPr>
        <p:txBody>
          <a:bodyPr/>
          <a:lstStyle/>
          <a:p>
            <a:endParaRPr lang="en-US"/>
          </a:p>
        </p:txBody>
      </p:sp>
      <p:sp>
        <p:nvSpPr>
          <p:cNvPr id="15" name="Shape 13"/>
          <p:cNvSpPr/>
          <p:nvPr/>
        </p:nvSpPr>
        <p:spPr>
          <a:xfrm>
            <a:off x="3657600" y="4828032"/>
            <a:ext cx="91440" cy="91440"/>
          </a:xfrm>
          <a:prstGeom prst="ellipse">
            <a:avLst/>
          </a:prstGeom>
          <a:solidFill>
            <a:srgbClr val="FFCA08"/>
          </a:solidFill>
          <a:ln/>
        </p:spPr>
        <p:txBody>
          <a:bodyPr/>
          <a:lstStyle/>
          <a:p>
            <a:endParaRPr lang="en-US"/>
          </a:p>
        </p:txBody>
      </p:sp>
      <p:sp>
        <p:nvSpPr>
          <p:cNvPr id="16" name="Shape 14"/>
          <p:cNvSpPr/>
          <p:nvPr/>
        </p:nvSpPr>
        <p:spPr>
          <a:xfrm>
            <a:off x="4297680" y="5166360"/>
            <a:ext cx="91440" cy="91440"/>
          </a:xfrm>
          <a:prstGeom prst="ellipse">
            <a:avLst/>
          </a:prstGeom>
          <a:solidFill>
            <a:srgbClr val="FFCA08"/>
          </a:solidFill>
          <a:ln/>
        </p:spPr>
        <p:txBody>
          <a:bodyPr/>
          <a:lstStyle/>
          <a:p>
            <a:endParaRPr lang="en-US"/>
          </a:p>
        </p:txBody>
      </p:sp>
      <p:sp>
        <p:nvSpPr>
          <p:cNvPr id="17" name="Shape 15"/>
          <p:cNvSpPr/>
          <p:nvPr/>
        </p:nvSpPr>
        <p:spPr>
          <a:xfrm>
            <a:off x="5074920" y="4937760"/>
            <a:ext cx="91440" cy="91440"/>
          </a:xfrm>
          <a:prstGeom prst="ellipse">
            <a:avLst/>
          </a:prstGeom>
          <a:solidFill>
            <a:srgbClr val="FFCA08"/>
          </a:solidFill>
          <a:ln/>
        </p:spPr>
        <p:txBody>
          <a:bodyPr/>
          <a:lstStyle/>
          <a:p>
            <a:endParaRPr lang="en-US"/>
          </a:p>
        </p:txBody>
      </p:sp>
      <p:sp>
        <p:nvSpPr>
          <p:cNvPr id="18" name="Shape 16"/>
          <p:cNvSpPr/>
          <p:nvPr/>
        </p:nvSpPr>
        <p:spPr>
          <a:xfrm>
            <a:off x="5806440" y="5212080"/>
            <a:ext cx="91440" cy="91440"/>
          </a:xfrm>
          <a:prstGeom prst="ellipse">
            <a:avLst/>
          </a:prstGeom>
          <a:solidFill>
            <a:srgbClr val="FFCA08"/>
          </a:solidFill>
          <a:ln/>
        </p:spPr>
        <p:txBody>
          <a:bodyPr/>
          <a:lstStyle/>
          <a:p>
            <a:endParaRPr lang="en-US"/>
          </a:p>
        </p:txBody>
      </p:sp>
      <p:sp>
        <p:nvSpPr>
          <p:cNvPr id="19" name="Shape 17"/>
          <p:cNvSpPr/>
          <p:nvPr/>
        </p:nvSpPr>
        <p:spPr>
          <a:xfrm>
            <a:off x="6583680" y="4983480"/>
            <a:ext cx="91440" cy="91440"/>
          </a:xfrm>
          <a:prstGeom prst="ellipse">
            <a:avLst/>
          </a:prstGeom>
          <a:solidFill>
            <a:srgbClr val="E64823"/>
          </a:solidFill>
          <a:ln/>
        </p:spPr>
        <p:txBody>
          <a:bodyPr/>
          <a:lstStyle/>
          <a:p>
            <a:endParaRPr lang="en-US"/>
          </a:p>
        </p:txBody>
      </p:sp>
      <p:sp>
        <p:nvSpPr>
          <p:cNvPr id="20" name="Shape 18"/>
          <p:cNvSpPr/>
          <p:nvPr/>
        </p:nvSpPr>
        <p:spPr>
          <a:xfrm>
            <a:off x="4937760" y="4434840"/>
            <a:ext cx="3291840" cy="1371600"/>
          </a:xfrm>
          <a:prstGeom prst="roundRect">
            <a:avLst>
              <a:gd name="adj" fmla="val 10000"/>
            </a:avLst>
          </a:prstGeom>
          <a:solidFill>
            <a:srgbClr val="CE8D3E">
              <a:alpha val="30000"/>
            </a:srgbClr>
          </a:solidFill>
          <a:ln/>
        </p:spPr>
        <p:txBody>
          <a:bodyPr/>
          <a:lstStyle/>
          <a:p>
            <a:endParaRPr lang="en-US"/>
          </a:p>
        </p:txBody>
      </p:sp>
      <p:sp>
        <p:nvSpPr>
          <p:cNvPr id="21" name="Text 19"/>
          <p:cNvSpPr/>
          <p:nvPr/>
        </p:nvSpPr>
        <p:spPr>
          <a:xfrm>
            <a:off x="822960" y="5303520"/>
            <a:ext cx="2926080" cy="274320"/>
          </a:xfrm>
          <a:prstGeom prst="rect">
            <a:avLst/>
          </a:prstGeom>
          <a:noFill/>
          <a:ln/>
        </p:spPr>
        <p:txBody>
          <a:bodyPr wrap="square" rtlCol="0" anchor="ctr"/>
          <a:lstStyle/>
          <a:p>
            <a:pPr marL="0" indent="0">
              <a:buNone/>
            </a:pPr>
            <a:r>
              <a:rPr lang="en-US" sz="1000" i="1" dirty="0">
                <a:solidFill>
                  <a:srgbClr val="B7A99C"/>
                </a:solidFill>
                <a:latin typeface="Arial" pitchFamily="34" charset="0"/>
                <a:ea typeface="Arial" pitchFamily="34" charset="-122"/>
                <a:cs typeface="Arial" pitchFamily="34" charset="-120"/>
              </a:rPr>
              <a:t>a sequence of steps  </a:t>
            </a:r>
            <a:endParaRPr lang="en-US" sz="1000" dirty="0"/>
          </a:p>
        </p:txBody>
      </p:sp>
      <p:sp>
        <p:nvSpPr>
          <p:cNvPr id="22" name="Text 20"/>
          <p:cNvSpPr/>
          <p:nvPr/>
        </p:nvSpPr>
        <p:spPr>
          <a:xfrm>
            <a:off x="5852160" y="5303520"/>
            <a:ext cx="2926080" cy="274320"/>
          </a:xfrm>
          <a:prstGeom prst="rect">
            <a:avLst/>
          </a:prstGeom>
          <a:noFill/>
          <a:ln/>
        </p:spPr>
        <p:txBody>
          <a:bodyPr wrap="square" rtlCol="0" anchor="ctr"/>
          <a:lstStyle/>
          <a:p>
            <a:pPr marL="0" indent="0">
              <a:buNone/>
            </a:pPr>
            <a:r>
              <a:rPr lang="en-US" sz="1000" i="1" dirty="0">
                <a:solidFill>
                  <a:srgbClr val="B7A99C"/>
                </a:solidFill>
                <a:latin typeface="Arial" pitchFamily="34" charset="0"/>
                <a:ea typeface="Arial" pitchFamily="34" charset="-122"/>
                <a:cs typeface="Arial" pitchFamily="34" charset="-120"/>
              </a:rPr>
              <a:t>a surface of used space</a:t>
            </a:r>
            <a:endParaRPr lang="en-US" sz="1000" dirty="0"/>
          </a:p>
        </p:txBody>
      </p:sp>
      <p:sp>
        <p:nvSpPr>
          <p:cNvPr id="23" name="Text 21"/>
          <p:cNvSpPr/>
          <p:nvPr/>
        </p:nvSpPr>
        <p:spPr>
          <a:xfrm>
            <a:off x="822960" y="6355080"/>
            <a:ext cx="7315200" cy="274320"/>
          </a:xfrm>
          <a:prstGeom prst="rect">
            <a:avLst/>
          </a:prstGeom>
          <a:noFill/>
          <a:ln/>
        </p:spPr>
        <p:txBody>
          <a:bodyPr wrap="square" rtlCol="0" anchor="ctr"/>
          <a:lstStyle/>
          <a:p>
            <a:pPr marL="0" indent="0">
              <a:buNone/>
            </a:pPr>
            <a:r>
              <a:rPr lang="en-US" sz="1000" dirty="0">
                <a:solidFill>
                  <a:srgbClr val="8C7C6E"/>
                </a:solidFill>
                <a:latin typeface="Arial" pitchFamily="34" charset="0"/>
                <a:ea typeface="Arial" pitchFamily="34" charset="-122"/>
                <a:cs typeface="Arial" pitchFamily="34" charset="-120"/>
              </a:rPr>
              <a:t>Wildlife Movement Ecology  |  Conceptual overview</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200" dirty="0">
                <a:solidFill>
                  <a:srgbClr val="F8931D"/>
                </a:solidFill>
                <a:latin typeface="Arial" pitchFamily="34" charset="0"/>
                <a:ea typeface="Arial" pitchFamily="34" charset="-122"/>
                <a:cs typeface="Arial" pitchFamily="34" charset="-120"/>
              </a:rPr>
              <a:t>FRAMING</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2800" b="1" dirty="0">
                <a:solidFill>
                  <a:srgbClr val="39302A"/>
                </a:solidFill>
                <a:latin typeface="Arial" pitchFamily="34" charset="0"/>
                <a:ea typeface="Arial" pitchFamily="34" charset="-122"/>
                <a:cs typeface="Arial" pitchFamily="34" charset="-120"/>
              </a:rPr>
              <a:t>Selection happens at more than one scale</a:t>
            </a:r>
            <a:endParaRPr lang="en-US" sz="2800" dirty="0"/>
          </a:p>
        </p:txBody>
      </p:sp>
      <p:sp>
        <p:nvSpPr>
          <p:cNvPr id="4" name="Text 2"/>
          <p:cNvSpPr/>
          <p:nvPr/>
        </p:nvSpPr>
        <p:spPr>
          <a:xfrm>
            <a:off x="548640" y="1463040"/>
            <a:ext cx="11064240" cy="548640"/>
          </a:xfrm>
          <a:prstGeom prst="rect">
            <a:avLst/>
          </a:prstGeom>
          <a:noFill/>
          <a:ln/>
        </p:spPr>
        <p:txBody>
          <a:bodyPr wrap="square" rtlCol="0" anchor="ctr"/>
          <a:lstStyle/>
          <a:p>
            <a:pPr marL="0" indent="0">
              <a:buNone/>
            </a:pPr>
            <a:r>
              <a:rPr lang="en-US" sz="1400" dirty="0">
                <a:solidFill>
                  <a:srgbClr val="6B5A50"/>
                </a:solidFill>
                <a:latin typeface="Arial" pitchFamily="34" charset="0"/>
                <a:ea typeface="Arial" pitchFamily="34" charset="-122"/>
                <a:cs typeface="Arial" pitchFamily="34" charset="-120"/>
              </a:rPr>
              <a:t>Johnson (1980) argued that habitat selection is a hierarchical process: animals choose where to live at several nested scales, each constrained by the scale above it.</a:t>
            </a:r>
            <a:endParaRPr lang="en-US" sz="1400" dirty="0"/>
          </a:p>
        </p:txBody>
      </p:sp>
      <p:sp>
        <p:nvSpPr>
          <p:cNvPr id="5" name="Shape 3"/>
          <p:cNvSpPr/>
          <p:nvPr/>
        </p:nvSpPr>
        <p:spPr>
          <a:xfrm>
            <a:off x="548640" y="2651760"/>
            <a:ext cx="2514600" cy="3063240"/>
          </a:xfrm>
          <a:prstGeom prst="roundRect">
            <a:avLst>
              <a:gd name="adj" fmla="val 2909"/>
            </a:avLst>
          </a:prstGeom>
          <a:solidFill>
            <a:srgbClr val="F4EFEA"/>
          </a:solidFill>
          <a:ln/>
        </p:spPr>
        <p:txBody>
          <a:bodyPr/>
          <a:lstStyle/>
          <a:p>
            <a:endParaRPr lang="en-US"/>
          </a:p>
        </p:txBody>
      </p:sp>
      <p:sp>
        <p:nvSpPr>
          <p:cNvPr id="6" name="Shape 4"/>
          <p:cNvSpPr/>
          <p:nvPr/>
        </p:nvSpPr>
        <p:spPr>
          <a:xfrm>
            <a:off x="937260" y="2834640"/>
            <a:ext cx="1737360" cy="1737360"/>
          </a:xfrm>
          <a:prstGeom prst="ellipse">
            <a:avLst/>
          </a:prstGeom>
          <a:solidFill>
            <a:srgbClr val="CE8D3E">
              <a:alpha val="85000"/>
            </a:srgbClr>
          </a:solidFill>
          <a:ln w="19050">
            <a:solidFill>
              <a:srgbClr val="CE8D3E"/>
            </a:solidFill>
            <a:prstDash val="solid"/>
          </a:ln>
        </p:spPr>
        <p:txBody>
          <a:bodyPr/>
          <a:lstStyle/>
          <a:p>
            <a:endParaRPr lang="en-US"/>
          </a:p>
        </p:txBody>
      </p:sp>
      <p:sp>
        <p:nvSpPr>
          <p:cNvPr id="7" name="Text 5"/>
          <p:cNvSpPr/>
          <p:nvPr/>
        </p:nvSpPr>
        <p:spPr>
          <a:xfrm>
            <a:off x="548640" y="4617720"/>
            <a:ext cx="2514600" cy="320040"/>
          </a:xfrm>
          <a:prstGeom prst="rect">
            <a:avLst/>
          </a:prstGeom>
          <a:noFill/>
          <a:ln/>
        </p:spPr>
        <p:txBody>
          <a:bodyPr wrap="square" rtlCol="0" anchor="ctr"/>
          <a:lstStyle/>
          <a:p>
            <a:pPr marL="0" indent="0" algn="ctr">
              <a:buNone/>
            </a:pPr>
            <a:r>
              <a:rPr lang="en-US" sz="1300" b="1" dirty="0">
                <a:solidFill>
                  <a:srgbClr val="CE8D3E"/>
                </a:solidFill>
                <a:latin typeface="Arial" pitchFamily="34" charset="0"/>
                <a:ea typeface="Arial" pitchFamily="34" charset="-122"/>
                <a:cs typeface="Arial" pitchFamily="34" charset="-120"/>
              </a:rPr>
              <a:t>1st</a:t>
            </a:r>
            <a:endParaRPr lang="en-US" sz="1300" dirty="0"/>
          </a:p>
        </p:txBody>
      </p:sp>
      <p:sp>
        <p:nvSpPr>
          <p:cNvPr id="8" name="Text 6"/>
          <p:cNvSpPr/>
          <p:nvPr/>
        </p:nvSpPr>
        <p:spPr>
          <a:xfrm>
            <a:off x="685800" y="4937760"/>
            <a:ext cx="2240280" cy="365760"/>
          </a:xfrm>
          <a:prstGeom prst="rect">
            <a:avLst/>
          </a:prstGeom>
          <a:noFill/>
          <a:ln/>
        </p:spPr>
        <p:txBody>
          <a:bodyPr wrap="square" rtlCol="0" anchor="ctr"/>
          <a:lstStyle/>
          <a:p>
            <a:pPr marL="0" indent="0" algn="ctr">
              <a:buNone/>
            </a:pPr>
            <a:r>
              <a:rPr lang="en-US" sz="1300" b="1" dirty="0">
                <a:solidFill>
                  <a:srgbClr val="39302A"/>
                </a:solidFill>
                <a:latin typeface="Arial" pitchFamily="34" charset="0"/>
                <a:ea typeface="Arial" pitchFamily="34" charset="-122"/>
                <a:cs typeface="Arial" pitchFamily="34" charset="-120"/>
              </a:rPr>
              <a:t>Geographic range</a:t>
            </a:r>
            <a:endParaRPr lang="en-US" sz="1300" dirty="0"/>
          </a:p>
        </p:txBody>
      </p:sp>
      <p:sp>
        <p:nvSpPr>
          <p:cNvPr id="9" name="Text 7"/>
          <p:cNvSpPr/>
          <p:nvPr/>
        </p:nvSpPr>
        <p:spPr>
          <a:xfrm>
            <a:off x="685800" y="5303520"/>
            <a:ext cx="2240280" cy="365760"/>
          </a:xfrm>
          <a:prstGeom prst="rect">
            <a:avLst/>
          </a:prstGeom>
          <a:noFill/>
          <a:ln/>
        </p:spPr>
        <p:txBody>
          <a:bodyPr wrap="square" rtlCol="0" anchor="ctr"/>
          <a:lstStyle/>
          <a:p>
            <a:pPr marL="0" indent="0" algn="ctr">
              <a:buNone/>
            </a:pPr>
            <a:r>
              <a:rPr lang="en-US" sz="1050" dirty="0">
                <a:solidFill>
                  <a:srgbClr val="6B5A50"/>
                </a:solidFill>
                <a:latin typeface="Arial" pitchFamily="34" charset="0"/>
                <a:ea typeface="Arial" pitchFamily="34" charset="-122"/>
                <a:cs typeface="Arial" pitchFamily="34" charset="-120"/>
              </a:rPr>
              <a:t>the species' range</a:t>
            </a:r>
            <a:endParaRPr lang="en-US" sz="1050" dirty="0"/>
          </a:p>
        </p:txBody>
      </p:sp>
      <p:sp>
        <p:nvSpPr>
          <p:cNvPr id="10" name="Text 8"/>
          <p:cNvSpPr/>
          <p:nvPr/>
        </p:nvSpPr>
        <p:spPr>
          <a:xfrm>
            <a:off x="3063240" y="3566160"/>
            <a:ext cx="320040" cy="365760"/>
          </a:xfrm>
          <a:prstGeom prst="rect">
            <a:avLst/>
          </a:prstGeom>
          <a:noFill/>
          <a:ln/>
        </p:spPr>
        <p:txBody>
          <a:bodyPr wrap="square" rtlCol="0" anchor="ctr"/>
          <a:lstStyle/>
          <a:p>
            <a:pPr marL="0" indent="0" algn="ctr">
              <a:buNone/>
            </a:pPr>
            <a:r>
              <a:rPr lang="en-US" sz="1800" b="1" dirty="0">
                <a:solidFill>
                  <a:srgbClr val="B7A99C"/>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3383280" y="2651760"/>
            <a:ext cx="2514600" cy="3063240"/>
          </a:xfrm>
          <a:prstGeom prst="roundRect">
            <a:avLst>
              <a:gd name="adj" fmla="val 2909"/>
            </a:avLst>
          </a:prstGeom>
          <a:solidFill>
            <a:srgbClr val="F4EFEA"/>
          </a:solidFill>
          <a:ln/>
        </p:spPr>
        <p:txBody>
          <a:bodyPr/>
          <a:lstStyle/>
          <a:p>
            <a:endParaRPr lang="en-US"/>
          </a:p>
        </p:txBody>
      </p:sp>
      <p:sp>
        <p:nvSpPr>
          <p:cNvPr id="12" name="Shape 10"/>
          <p:cNvSpPr/>
          <p:nvPr/>
        </p:nvSpPr>
        <p:spPr>
          <a:xfrm>
            <a:off x="3931920" y="2994660"/>
            <a:ext cx="1417320" cy="1417320"/>
          </a:xfrm>
          <a:prstGeom prst="ellipse">
            <a:avLst/>
          </a:prstGeom>
          <a:solidFill>
            <a:srgbClr val="F8931D">
              <a:alpha val="85000"/>
            </a:srgbClr>
          </a:solidFill>
          <a:ln w="19050">
            <a:solidFill>
              <a:srgbClr val="F8931D"/>
            </a:solidFill>
            <a:prstDash val="solid"/>
          </a:ln>
        </p:spPr>
        <p:txBody>
          <a:bodyPr/>
          <a:lstStyle/>
          <a:p>
            <a:endParaRPr lang="en-US"/>
          </a:p>
        </p:txBody>
      </p:sp>
      <p:sp>
        <p:nvSpPr>
          <p:cNvPr id="13" name="Text 11"/>
          <p:cNvSpPr/>
          <p:nvPr/>
        </p:nvSpPr>
        <p:spPr>
          <a:xfrm>
            <a:off x="3383280" y="4617720"/>
            <a:ext cx="2514600" cy="320040"/>
          </a:xfrm>
          <a:prstGeom prst="rect">
            <a:avLst/>
          </a:prstGeom>
          <a:noFill/>
          <a:ln/>
        </p:spPr>
        <p:txBody>
          <a:bodyPr wrap="square" rtlCol="0" anchor="ctr"/>
          <a:lstStyle/>
          <a:p>
            <a:pPr marL="0" indent="0" algn="ctr">
              <a:buNone/>
            </a:pPr>
            <a:r>
              <a:rPr lang="en-US" sz="1300" b="1" dirty="0">
                <a:solidFill>
                  <a:srgbClr val="F8931D"/>
                </a:solidFill>
                <a:latin typeface="Arial" pitchFamily="34" charset="0"/>
                <a:ea typeface="Arial" pitchFamily="34" charset="-122"/>
                <a:cs typeface="Arial" pitchFamily="34" charset="-120"/>
              </a:rPr>
              <a:t>2nd</a:t>
            </a:r>
            <a:endParaRPr lang="en-US" sz="1300" dirty="0"/>
          </a:p>
        </p:txBody>
      </p:sp>
      <p:sp>
        <p:nvSpPr>
          <p:cNvPr id="14" name="Text 12"/>
          <p:cNvSpPr/>
          <p:nvPr/>
        </p:nvSpPr>
        <p:spPr>
          <a:xfrm>
            <a:off x="3520440" y="4937760"/>
            <a:ext cx="2240280" cy="365760"/>
          </a:xfrm>
          <a:prstGeom prst="rect">
            <a:avLst/>
          </a:prstGeom>
          <a:noFill/>
          <a:ln/>
        </p:spPr>
        <p:txBody>
          <a:bodyPr wrap="square" rtlCol="0" anchor="ctr"/>
          <a:lstStyle/>
          <a:p>
            <a:pPr marL="0" indent="0" algn="ctr">
              <a:buNone/>
            </a:pPr>
            <a:r>
              <a:rPr lang="en-US" sz="1300" b="1" dirty="0">
                <a:solidFill>
                  <a:srgbClr val="39302A"/>
                </a:solidFill>
                <a:latin typeface="Arial" pitchFamily="34" charset="0"/>
                <a:ea typeface="Arial" pitchFamily="34" charset="-122"/>
                <a:cs typeface="Arial" pitchFamily="34" charset="-120"/>
              </a:rPr>
              <a:t>Home range</a:t>
            </a:r>
            <a:endParaRPr lang="en-US" sz="1300" dirty="0"/>
          </a:p>
        </p:txBody>
      </p:sp>
      <p:sp>
        <p:nvSpPr>
          <p:cNvPr id="15" name="Text 13"/>
          <p:cNvSpPr/>
          <p:nvPr/>
        </p:nvSpPr>
        <p:spPr>
          <a:xfrm>
            <a:off x="3520440" y="5303520"/>
            <a:ext cx="2240280" cy="365760"/>
          </a:xfrm>
          <a:prstGeom prst="rect">
            <a:avLst/>
          </a:prstGeom>
          <a:noFill/>
          <a:ln/>
        </p:spPr>
        <p:txBody>
          <a:bodyPr wrap="square" rtlCol="0" anchor="ctr"/>
          <a:lstStyle/>
          <a:p>
            <a:pPr marL="0" indent="0" algn="ctr">
              <a:buNone/>
            </a:pPr>
            <a:r>
              <a:rPr lang="en-US" sz="1050" dirty="0">
                <a:solidFill>
                  <a:srgbClr val="6B5A50"/>
                </a:solidFill>
                <a:latin typeface="Arial" pitchFamily="34" charset="0"/>
                <a:ea typeface="Arial" pitchFamily="34" charset="-122"/>
                <a:cs typeface="Arial" pitchFamily="34" charset="-120"/>
              </a:rPr>
              <a:t>placement within the landscape</a:t>
            </a:r>
            <a:endParaRPr lang="en-US" sz="1050" dirty="0"/>
          </a:p>
        </p:txBody>
      </p:sp>
      <p:sp>
        <p:nvSpPr>
          <p:cNvPr id="16" name="Text 14"/>
          <p:cNvSpPr/>
          <p:nvPr/>
        </p:nvSpPr>
        <p:spPr>
          <a:xfrm>
            <a:off x="5897880" y="3566160"/>
            <a:ext cx="320040" cy="365760"/>
          </a:xfrm>
          <a:prstGeom prst="rect">
            <a:avLst/>
          </a:prstGeom>
          <a:noFill/>
          <a:ln/>
        </p:spPr>
        <p:txBody>
          <a:bodyPr wrap="square" rtlCol="0" anchor="ctr"/>
          <a:lstStyle/>
          <a:p>
            <a:pPr marL="0" indent="0" algn="ctr">
              <a:buNone/>
            </a:pPr>
            <a:r>
              <a:rPr lang="en-US" sz="1800" b="1" dirty="0">
                <a:solidFill>
                  <a:srgbClr val="B7A99C"/>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6217920" y="2651760"/>
            <a:ext cx="2514600" cy="3063240"/>
          </a:xfrm>
          <a:prstGeom prst="roundRect">
            <a:avLst>
              <a:gd name="adj" fmla="val 2909"/>
            </a:avLst>
          </a:prstGeom>
          <a:solidFill>
            <a:srgbClr val="F4EFEA"/>
          </a:solidFill>
          <a:ln/>
        </p:spPr>
        <p:txBody>
          <a:bodyPr/>
          <a:lstStyle/>
          <a:p>
            <a:endParaRPr lang="en-US"/>
          </a:p>
        </p:txBody>
      </p:sp>
      <p:sp>
        <p:nvSpPr>
          <p:cNvPr id="18" name="Shape 16"/>
          <p:cNvSpPr/>
          <p:nvPr/>
        </p:nvSpPr>
        <p:spPr>
          <a:xfrm>
            <a:off x="6926580" y="3154680"/>
            <a:ext cx="1097280" cy="1097280"/>
          </a:xfrm>
          <a:prstGeom prst="ellipse">
            <a:avLst/>
          </a:prstGeom>
          <a:solidFill>
            <a:srgbClr val="E64823">
              <a:alpha val="85000"/>
            </a:srgbClr>
          </a:solidFill>
          <a:ln w="19050">
            <a:solidFill>
              <a:srgbClr val="E64823"/>
            </a:solidFill>
            <a:prstDash val="solid"/>
          </a:ln>
        </p:spPr>
        <p:txBody>
          <a:bodyPr/>
          <a:lstStyle/>
          <a:p>
            <a:endParaRPr lang="en-US"/>
          </a:p>
        </p:txBody>
      </p:sp>
      <p:sp>
        <p:nvSpPr>
          <p:cNvPr id="19" name="Text 17"/>
          <p:cNvSpPr/>
          <p:nvPr/>
        </p:nvSpPr>
        <p:spPr>
          <a:xfrm>
            <a:off x="6217920" y="4617720"/>
            <a:ext cx="2514600" cy="320040"/>
          </a:xfrm>
          <a:prstGeom prst="rect">
            <a:avLst/>
          </a:prstGeom>
          <a:noFill/>
          <a:ln/>
        </p:spPr>
        <p:txBody>
          <a:bodyPr wrap="square" rtlCol="0" anchor="ctr"/>
          <a:lstStyle/>
          <a:p>
            <a:pPr marL="0" indent="0" algn="ctr">
              <a:buNone/>
            </a:pPr>
            <a:r>
              <a:rPr lang="en-US" sz="1300" b="1" dirty="0">
                <a:solidFill>
                  <a:srgbClr val="E64823"/>
                </a:solidFill>
                <a:latin typeface="Arial" pitchFamily="34" charset="0"/>
                <a:ea typeface="Arial" pitchFamily="34" charset="-122"/>
                <a:cs typeface="Arial" pitchFamily="34" charset="-120"/>
              </a:rPr>
              <a:t>3rd</a:t>
            </a:r>
            <a:endParaRPr lang="en-US" sz="1300" dirty="0"/>
          </a:p>
        </p:txBody>
      </p:sp>
      <p:sp>
        <p:nvSpPr>
          <p:cNvPr id="20" name="Text 18"/>
          <p:cNvSpPr/>
          <p:nvPr/>
        </p:nvSpPr>
        <p:spPr>
          <a:xfrm>
            <a:off x="6355080" y="4937760"/>
            <a:ext cx="2240280" cy="365760"/>
          </a:xfrm>
          <a:prstGeom prst="rect">
            <a:avLst/>
          </a:prstGeom>
          <a:noFill/>
          <a:ln/>
        </p:spPr>
        <p:txBody>
          <a:bodyPr wrap="square" rtlCol="0" anchor="ctr"/>
          <a:lstStyle/>
          <a:p>
            <a:pPr marL="0" indent="0" algn="ctr">
              <a:buNone/>
            </a:pPr>
            <a:r>
              <a:rPr lang="en-US" sz="1300" b="1" dirty="0">
                <a:solidFill>
                  <a:srgbClr val="39302A"/>
                </a:solidFill>
                <a:latin typeface="Arial" pitchFamily="34" charset="0"/>
                <a:ea typeface="Arial" pitchFamily="34" charset="-122"/>
                <a:cs typeface="Arial" pitchFamily="34" charset="-120"/>
              </a:rPr>
              <a:t>Within home range</a:t>
            </a:r>
            <a:endParaRPr lang="en-US" sz="1300" dirty="0"/>
          </a:p>
        </p:txBody>
      </p:sp>
      <p:sp>
        <p:nvSpPr>
          <p:cNvPr id="21" name="Text 19"/>
          <p:cNvSpPr/>
          <p:nvPr/>
        </p:nvSpPr>
        <p:spPr>
          <a:xfrm>
            <a:off x="6355080" y="5303520"/>
            <a:ext cx="2240280" cy="365760"/>
          </a:xfrm>
          <a:prstGeom prst="rect">
            <a:avLst/>
          </a:prstGeom>
          <a:noFill/>
          <a:ln/>
        </p:spPr>
        <p:txBody>
          <a:bodyPr wrap="square" rtlCol="0" anchor="ctr"/>
          <a:lstStyle/>
          <a:p>
            <a:pPr marL="0" indent="0" algn="ctr">
              <a:buNone/>
            </a:pPr>
            <a:r>
              <a:rPr lang="en-US" sz="1050" dirty="0">
                <a:solidFill>
                  <a:srgbClr val="6B5A50"/>
                </a:solidFill>
                <a:latin typeface="Arial" pitchFamily="34" charset="0"/>
                <a:ea typeface="Arial" pitchFamily="34" charset="-122"/>
                <a:cs typeface="Arial" pitchFamily="34" charset="-120"/>
              </a:rPr>
              <a:t>which patches / habitat get used</a:t>
            </a:r>
            <a:endParaRPr lang="en-US" sz="1050" dirty="0"/>
          </a:p>
        </p:txBody>
      </p:sp>
      <p:sp>
        <p:nvSpPr>
          <p:cNvPr id="22" name="Text 20"/>
          <p:cNvSpPr/>
          <p:nvPr/>
        </p:nvSpPr>
        <p:spPr>
          <a:xfrm>
            <a:off x="8732520" y="3566160"/>
            <a:ext cx="320040" cy="365760"/>
          </a:xfrm>
          <a:prstGeom prst="rect">
            <a:avLst/>
          </a:prstGeom>
          <a:noFill/>
          <a:ln/>
        </p:spPr>
        <p:txBody>
          <a:bodyPr wrap="square" rtlCol="0" anchor="ctr"/>
          <a:lstStyle/>
          <a:p>
            <a:pPr marL="0" indent="0" algn="ctr">
              <a:buNone/>
            </a:pPr>
            <a:r>
              <a:rPr lang="en-US" sz="1800" b="1" dirty="0">
                <a:solidFill>
                  <a:srgbClr val="B7A99C"/>
                </a:solidFill>
                <a:latin typeface="Arial" pitchFamily="34" charset="0"/>
                <a:ea typeface="Arial" pitchFamily="34" charset="-122"/>
                <a:cs typeface="Arial" pitchFamily="34" charset="-120"/>
              </a:rPr>
              <a:t>→</a:t>
            </a:r>
            <a:endParaRPr lang="en-US" sz="1800" dirty="0"/>
          </a:p>
        </p:txBody>
      </p:sp>
      <p:sp>
        <p:nvSpPr>
          <p:cNvPr id="23" name="Shape 21"/>
          <p:cNvSpPr/>
          <p:nvPr/>
        </p:nvSpPr>
        <p:spPr>
          <a:xfrm>
            <a:off x="9052560" y="2651760"/>
            <a:ext cx="2514600" cy="3063240"/>
          </a:xfrm>
          <a:prstGeom prst="roundRect">
            <a:avLst>
              <a:gd name="adj" fmla="val 2909"/>
            </a:avLst>
          </a:prstGeom>
          <a:solidFill>
            <a:srgbClr val="F4EFEA"/>
          </a:solidFill>
          <a:ln/>
        </p:spPr>
        <p:txBody>
          <a:bodyPr/>
          <a:lstStyle/>
          <a:p>
            <a:endParaRPr lang="en-US"/>
          </a:p>
        </p:txBody>
      </p:sp>
      <p:sp>
        <p:nvSpPr>
          <p:cNvPr id="24" name="Shape 22"/>
          <p:cNvSpPr/>
          <p:nvPr/>
        </p:nvSpPr>
        <p:spPr>
          <a:xfrm>
            <a:off x="9921240" y="3314700"/>
            <a:ext cx="777240" cy="777240"/>
          </a:xfrm>
          <a:prstGeom prst="ellipse">
            <a:avLst/>
          </a:prstGeom>
          <a:solidFill>
            <a:srgbClr val="39302A">
              <a:alpha val="85000"/>
            </a:srgbClr>
          </a:solidFill>
          <a:ln w="19050">
            <a:solidFill>
              <a:srgbClr val="39302A"/>
            </a:solidFill>
            <a:prstDash val="solid"/>
          </a:ln>
        </p:spPr>
        <p:txBody>
          <a:bodyPr/>
          <a:lstStyle/>
          <a:p>
            <a:endParaRPr lang="en-US"/>
          </a:p>
        </p:txBody>
      </p:sp>
      <p:sp>
        <p:nvSpPr>
          <p:cNvPr id="25" name="Text 23"/>
          <p:cNvSpPr/>
          <p:nvPr/>
        </p:nvSpPr>
        <p:spPr>
          <a:xfrm>
            <a:off x="9052560" y="4617720"/>
            <a:ext cx="2514600" cy="320040"/>
          </a:xfrm>
          <a:prstGeom prst="rect">
            <a:avLst/>
          </a:prstGeom>
          <a:noFill/>
          <a:ln/>
        </p:spPr>
        <p:txBody>
          <a:bodyPr wrap="square" rtlCol="0" anchor="ctr"/>
          <a:lstStyle/>
          <a:p>
            <a:pPr marL="0" indent="0" algn="ctr">
              <a:buNone/>
            </a:pPr>
            <a:r>
              <a:rPr lang="en-US" sz="1300" b="1" dirty="0">
                <a:solidFill>
                  <a:srgbClr val="39302A"/>
                </a:solidFill>
                <a:latin typeface="Arial" pitchFamily="34" charset="0"/>
                <a:ea typeface="Arial" pitchFamily="34" charset="-122"/>
                <a:cs typeface="Arial" pitchFamily="34" charset="-120"/>
              </a:rPr>
              <a:t>4th</a:t>
            </a:r>
            <a:endParaRPr lang="en-US" sz="1300" dirty="0"/>
          </a:p>
        </p:txBody>
      </p:sp>
      <p:sp>
        <p:nvSpPr>
          <p:cNvPr id="26" name="Text 24"/>
          <p:cNvSpPr/>
          <p:nvPr/>
        </p:nvSpPr>
        <p:spPr>
          <a:xfrm>
            <a:off x="9189720" y="4937760"/>
            <a:ext cx="2240280" cy="365760"/>
          </a:xfrm>
          <a:prstGeom prst="rect">
            <a:avLst/>
          </a:prstGeom>
          <a:noFill/>
          <a:ln/>
        </p:spPr>
        <p:txBody>
          <a:bodyPr wrap="square" rtlCol="0" anchor="ctr"/>
          <a:lstStyle/>
          <a:p>
            <a:pPr marL="0" indent="0" algn="ctr">
              <a:buNone/>
            </a:pPr>
            <a:r>
              <a:rPr lang="en-US" sz="1300" b="1" dirty="0">
                <a:solidFill>
                  <a:srgbClr val="39302A"/>
                </a:solidFill>
                <a:latin typeface="Arial" pitchFamily="34" charset="0"/>
                <a:ea typeface="Arial" pitchFamily="34" charset="-122"/>
                <a:cs typeface="Arial" pitchFamily="34" charset="-120"/>
              </a:rPr>
              <a:t>Within a patch</a:t>
            </a:r>
            <a:endParaRPr lang="en-US" sz="1300" dirty="0"/>
          </a:p>
        </p:txBody>
      </p:sp>
      <p:sp>
        <p:nvSpPr>
          <p:cNvPr id="27" name="Text 25"/>
          <p:cNvSpPr/>
          <p:nvPr/>
        </p:nvSpPr>
        <p:spPr>
          <a:xfrm>
            <a:off x="9189720" y="5303520"/>
            <a:ext cx="2240280" cy="365760"/>
          </a:xfrm>
          <a:prstGeom prst="rect">
            <a:avLst/>
          </a:prstGeom>
          <a:noFill/>
          <a:ln/>
        </p:spPr>
        <p:txBody>
          <a:bodyPr wrap="square" rtlCol="0" anchor="ctr"/>
          <a:lstStyle/>
          <a:p>
            <a:pPr marL="0" indent="0" algn="ctr">
              <a:buNone/>
            </a:pPr>
            <a:r>
              <a:rPr lang="en-US" sz="1050" dirty="0">
                <a:solidFill>
                  <a:srgbClr val="6B5A50"/>
                </a:solidFill>
                <a:latin typeface="Arial" pitchFamily="34" charset="0"/>
                <a:ea typeface="Arial" pitchFamily="34" charset="-122"/>
                <a:cs typeface="Arial" pitchFamily="34" charset="-120"/>
              </a:rPr>
              <a:t>specific food or resource items</a:t>
            </a:r>
            <a:endParaRPr lang="en-US" sz="1050" dirty="0"/>
          </a:p>
        </p:txBody>
      </p:sp>
      <p:sp>
        <p:nvSpPr>
          <p:cNvPr id="28" name="Text 26"/>
          <p:cNvSpPr/>
          <p:nvPr/>
        </p:nvSpPr>
        <p:spPr>
          <a:xfrm>
            <a:off x="548640" y="5897880"/>
            <a:ext cx="11064240" cy="457200"/>
          </a:xfrm>
          <a:prstGeom prst="rect">
            <a:avLst/>
          </a:prstGeom>
          <a:noFill/>
          <a:ln/>
        </p:spPr>
        <p:txBody>
          <a:bodyPr wrap="square" rtlCol="0" anchor="ctr"/>
          <a:lstStyle/>
          <a:p>
            <a:pPr marL="0" indent="0">
              <a:buNone/>
            </a:pPr>
            <a:r>
              <a:rPr lang="en-US" sz="1250" i="1" dirty="0">
                <a:solidFill>
                  <a:srgbClr val="6B5A50"/>
                </a:solidFill>
                <a:latin typeface="Arial" pitchFamily="34" charset="0"/>
                <a:ea typeface="Arial" pitchFamily="34" charset="-122"/>
                <a:cs typeface="Arial" pitchFamily="34" charset="-120"/>
              </a:rPr>
              <a:t>RSF and SSF are tools built for different rungs of this ladder — RSF typically operates around the 2nd–3rd order, SSF around the 3rd–4th, where movement itself becomes part of the question.</a:t>
            </a:r>
            <a:endParaRPr lang="en-US" sz="1250" dirty="0"/>
          </a:p>
        </p:txBody>
      </p:sp>
      <p:sp>
        <p:nvSpPr>
          <p:cNvPr id="29" name="Text 27"/>
          <p:cNvSpPr/>
          <p:nvPr/>
        </p:nvSpPr>
        <p:spPr>
          <a:xfrm>
            <a:off x="548640" y="6473952"/>
            <a:ext cx="7315200" cy="274320"/>
          </a:xfrm>
          <a:prstGeom prst="rect">
            <a:avLst/>
          </a:prstGeom>
          <a:noFill/>
          <a:ln/>
        </p:spPr>
        <p:txBody>
          <a:bodyPr wrap="square" rtlCol="0" anchor="ctr"/>
          <a:lstStyle/>
          <a:p>
            <a:pPr marL="0" indent="0">
              <a:buNone/>
            </a:pPr>
            <a:r>
              <a:rPr lang="en-US" sz="1000" i="1" dirty="0">
                <a:solidFill>
                  <a:srgbClr val="A89A8C"/>
                </a:solidFill>
                <a:latin typeface="Arial" pitchFamily="34" charset="0"/>
                <a:ea typeface="Arial" pitchFamily="34" charset="-122"/>
                <a:cs typeface="Arial" pitchFamily="34" charset="-120"/>
              </a:rPr>
              <a:t>Johnson, D.H. (1980) Ecology 61(1):65–71</a:t>
            </a:r>
            <a:endParaRPr lang="en-US" sz="1000" dirty="0"/>
          </a:p>
        </p:txBody>
      </p:sp>
      <p:sp>
        <p:nvSpPr>
          <p:cNvPr id="30" name="Text 28"/>
          <p:cNvSpPr/>
          <p:nvPr/>
        </p:nvSpPr>
        <p:spPr>
          <a:xfrm>
            <a:off x="9357055" y="6473952"/>
            <a:ext cx="2286000" cy="274320"/>
          </a:xfrm>
          <a:prstGeom prst="rect">
            <a:avLst/>
          </a:prstGeom>
          <a:noFill/>
          <a:ln/>
        </p:spPr>
        <p:txBody>
          <a:bodyPr wrap="square" rtlCol="0" anchor="ctr"/>
          <a:lstStyle/>
          <a:p>
            <a:pPr marL="0" indent="0" algn="r">
              <a:buNone/>
            </a:pPr>
            <a:r>
              <a:rPr lang="en-US" sz="1000" dirty="0">
                <a:solidFill>
                  <a:srgbClr val="A89A8C"/>
                </a:solidFill>
                <a:latin typeface="Arial" pitchFamily="34" charset="0"/>
                <a:ea typeface="Arial" pitchFamily="34" charset="-122"/>
                <a:cs typeface="Arial" pitchFamily="34" charset="-120"/>
              </a:rPr>
              <a:t>RSF vs. SSF</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200" dirty="0">
                <a:solidFill>
                  <a:srgbClr val="F8931D"/>
                </a:solidFill>
                <a:latin typeface="Arial" pitchFamily="34" charset="0"/>
                <a:ea typeface="Arial" pitchFamily="34" charset="-122"/>
                <a:cs typeface="Arial" pitchFamily="34" charset="-120"/>
              </a:rPr>
              <a:t>METHOD 1</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2800" b="1" dirty="0">
                <a:solidFill>
                  <a:srgbClr val="39302A"/>
                </a:solidFill>
                <a:latin typeface="Arial" pitchFamily="34" charset="0"/>
                <a:ea typeface="Arial" pitchFamily="34" charset="-122"/>
                <a:cs typeface="Arial" pitchFamily="34" charset="-120"/>
              </a:rPr>
              <a:t>RSF: where is the animal, given what's available?</a:t>
            </a:r>
            <a:endParaRPr lang="en-US" sz="2800" dirty="0"/>
          </a:p>
        </p:txBody>
      </p:sp>
      <p:sp>
        <p:nvSpPr>
          <p:cNvPr id="4" name="Shape 2"/>
          <p:cNvSpPr/>
          <p:nvPr/>
        </p:nvSpPr>
        <p:spPr>
          <a:xfrm>
            <a:off x="548640" y="1655064"/>
            <a:ext cx="109728" cy="109728"/>
          </a:xfrm>
          <a:prstGeom prst="ellipse">
            <a:avLst/>
          </a:prstGeom>
          <a:solidFill>
            <a:srgbClr val="F8931D"/>
          </a:solidFill>
          <a:ln/>
        </p:spPr>
        <p:txBody>
          <a:bodyPr/>
          <a:lstStyle/>
          <a:p>
            <a:endParaRPr lang="en-US"/>
          </a:p>
        </p:txBody>
      </p:sp>
      <p:sp>
        <p:nvSpPr>
          <p:cNvPr id="5" name="Text 3"/>
          <p:cNvSpPr/>
          <p:nvPr/>
        </p:nvSpPr>
        <p:spPr>
          <a:xfrm>
            <a:off x="822960" y="1508760"/>
            <a:ext cx="5120640" cy="292608"/>
          </a:xfrm>
          <a:prstGeom prst="rect">
            <a:avLst/>
          </a:prstGeom>
          <a:noFill/>
          <a:ln/>
        </p:spPr>
        <p:txBody>
          <a:bodyPr wrap="square" rtlCol="0" anchor="ctr"/>
          <a:lstStyle/>
          <a:p>
            <a:pPr marL="0" indent="0">
              <a:buNone/>
            </a:pPr>
            <a:r>
              <a:rPr lang="en-US" sz="1400" b="1" dirty="0">
                <a:solidFill>
                  <a:srgbClr val="39302A"/>
                </a:solidFill>
                <a:latin typeface="Arial" pitchFamily="34" charset="0"/>
                <a:ea typeface="Arial" pitchFamily="34" charset="-122"/>
                <a:cs typeface="Arial" pitchFamily="34" charset="-120"/>
              </a:rPr>
              <a:t>Used vs. available</a:t>
            </a:r>
            <a:endParaRPr lang="en-US" sz="1400" dirty="0"/>
          </a:p>
        </p:txBody>
      </p:sp>
      <p:sp>
        <p:nvSpPr>
          <p:cNvPr id="6" name="Text 4"/>
          <p:cNvSpPr/>
          <p:nvPr/>
        </p:nvSpPr>
        <p:spPr>
          <a:xfrm>
            <a:off x="822960" y="1801368"/>
            <a:ext cx="5120640" cy="685800"/>
          </a:xfrm>
          <a:prstGeom prst="rect">
            <a:avLst/>
          </a:prstGeom>
          <a:noFill/>
          <a:ln/>
        </p:spPr>
        <p:txBody>
          <a:bodyPr wrap="square" rtlCol="0" anchor="ctr"/>
          <a:lstStyle/>
          <a:p>
            <a:pPr marL="0" indent="0">
              <a:buNone/>
            </a:pPr>
            <a:r>
              <a:rPr lang="en-US" sz="1150" dirty="0">
                <a:solidFill>
                  <a:srgbClr val="6B5A50"/>
                </a:solidFill>
                <a:latin typeface="Arial" pitchFamily="34" charset="0"/>
                <a:ea typeface="Arial" pitchFamily="34" charset="-122"/>
                <a:cs typeface="Arial" pitchFamily="34" charset="-120"/>
              </a:rPr>
              <a:t>Compares locations the animal actually used against a broader set of “available” points sampled across its home range or the study area.</a:t>
            </a:r>
            <a:endParaRPr lang="en-US" sz="1150" dirty="0"/>
          </a:p>
        </p:txBody>
      </p:sp>
      <p:sp>
        <p:nvSpPr>
          <p:cNvPr id="7" name="Shape 5"/>
          <p:cNvSpPr/>
          <p:nvPr/>
        </p:nvSpPr>
        <p:spPr>
          <a:xfrm>
            <a:off x="548640" y="2706624"/>
            <a:ext cx="109728" cy="109728"/>
          </a:xfrm>
          <a:prstGeom prst="ellipse">
            <a:avLst/>
          </a:prstGeom>
          <a:solidFill>
            <a:srgbClr val="F8931D"/>
          </a:solidFill>
          <a:ln/>
        </p:spPr>
        <p:txBody>
          <a:bodyPr/>
          <a:lstStyle/>
          <a:p>
            <a:endParaRPr lang="en-US"/>
          </a:p>
        </p:txBody>
      </p:sp>
      <p:sp>
        <p:nvSpPr>
          <p:cNvPr id="8" name="Text 6"/>
          <p:cNvSpPr/>
          <p:nvPr/>
        </p:nvSpPr>
        <p:spPr>
          <a:xfrm>
            <a:off x="822960" y="2560320"/>
            <a:ext cx="5120640" cy="292608"/>
          </a:xfrm>
          <a:prstGeom prst="rect">
            <a:avLst/>
          </a:prstGeom>
          <a:noFill/>
          <a:ln/>
        </p:spPr>
        <p:txBody>
          <a:bodyPr wrap="square" rtlCol="0" anchor="ctr"/>
          <a:lstStyle/>
          <a:p>
            <a:pPr marL="0" indent="0">
              <a:buNone/>
            </a:pPr>
            <a:r>
              <a:rPr lang="en-US" sz="1400" b="1" dirty="0">
                <a:solidFill>
                  <a:srgbClr val="39302A"/>
                </a:solidFill>
                <a:latin typeface="Arial" pitchFamily="34" charset="0"/>
                <a:ea typeface="Arial" pitchFamily="34" charset="-122"/>
                <a:cs typeface="Arial" pitchFamily="34" charset="-120"/>
              </a:rPr>
              <a:t>A spatial snapshot</a:t>
            </a:r>
            <a:endParaRPr lang="en-US" sz="1400" dirty="0"/>
          </a:p>
        </p:txBody>
      </p:sp>
      <p:sp>
        <p:nvSpPr>
          <p:cNvPr id="9" name="Text 7"/>
          <p:cNvSpPr/>
          <p:nvPr/>
        </p:nvSpPr>
        <p:spPr>
          <a:xfrm>
            <a:off x="822960" y="2852928"/>
            <a:ext cx="5120640" cy="685800"/>
          </a:xfrm>
          <a:prstGeom prst="rect">
            <a:avLst/>
          </a:prstGeom>
          <a:noFill/>
          <a:ln/>
        </p:spPr>
        <p:txBody>
          <a:bodyPr wrap="square" rtlCol="0" anchor="ctr"/>
          <a:lstStyle/>
          <a:p>
            <a:pPr marL="0" indent="0">
              <a:buNone/>
            </a:pPr>
            <a:r>
              <a:rPr lang="en-US" sz="1150" dirty="0">
                <a:solidFill>
                  <a:srgbClr val="6B5A50"/>
                </a:solidFill>
                <a:latin typeface="Arial" pitchFamily="34" charset="0"/>
                <a:ea typeface="Arial" pitchFamily="34" charset="-122"/>
                <a:cs typeface="Arial" pitchFamily="34" charset="-120"/>
              </a:rPr>
              <a:t>Locations are treated largely independently — it asks which habitat conditions predict presence, not the order animals visited them in.</a:t>
            </a:r>
            <a:endParaRPr lang="en-US" sz="1150" dirty="0"/>
          </a:p>
        </p:txBody>
      </p:sp>
      <p:sp>
        <p:nvSpPr>
          <p:cNvPr id="10" name="Shape 8"/>
          <p:cNvSpPr/>
          <p:nvPr/>
        </p:nvSpPr>
        <p:spPr>
          <a:xfrm>
            <a:off x="548640" y="3758184"/>
            <a:ext cx="109728" cy="109728"/>
          </a:xfrm>
          <a:prstGeom prst="ellipse">
            <a:avLst/>
          </a:prstGeom>
          <a:solidFill>
            <a:srgbClr val="F8931D"/>
          </a:solidFill>
          <a:ln/>
        </p:spPr>
        <p:txBody>
          <a:bodyPr/>
          <a:lstStyle/>
          <a:p>
            <a:endParaRPr lang="en-US"/>
          </a:p>
        </p:txBody>
      </p:sp>
      <p:sp>
        <p:nvSpPr>
          <p:cNvPr id="11" name="Text 9"/>
          <p:cNvSpPr/>
          <p:nvPr/>
        </p:nvSpPr>
        <p:spPr>
          <a:xfrm>
            <a:off x="822960" y="3611880"/>
            <a:ext cx="5120640" cy="292608"/>
          </a:xfrm>
          <a:prstGeom prst="rect">
            <a:avLst/>
          </a:prstGeom>
          <a:noFill/>
          <a:ln/>
        </p:spPr>
        <p:txBody>
          <a:bodyPr wrap="square" rtlCol="0" anchor="ctr"/>
          <a:lstStyle/>
          <a:p>
            <a:pPr marL="0" indent="0">
              <a:buNone/>
            </a:pPr>
            <a:r>
              <a:rPr lang="en-US" sz="1400" b="1" dirty="0">
                <a:solidFill>
                  <a:srgbClr val="39302A"/>
                </a:solidFill>
                <a:latin typeface="Arial" pitchFamily="34" charset="0"/>
                <a:ea typeface="Arial" pitchFamily="34" charset="-122"/>
                <a:cs typeface="Arial" pitchFamily="34" charset="-120"/>
              </a:rPr>
              <a:t>Answers</a:t>
            </a:r>
            <a:endParaRPr lang="en-US" sz="1400" dirty="0"/>
          </a:p>
        </p:txBody>
      </p:sp>
      <p:sp>
        <p:nvSpPr>
          <p:cNvPr id="12" name="Text 10"/>
          <p:cNvSpPr/>
          <p:nvPr/>
        </p:nvSpPr>
        <p:spPr>
          <a:xfrm>
            <a:off x="822960" y="3904488"/>
            <a:ext cx="5120640" cy="685800"/>
          </a:xfrm>
          <a:prstGeom prst="rect">
            <a:avLst/>
          </a:prstGeom>
          <a:noFill/>
          <a:ln/>
        </p:spPr>
        <p:txBody>
          <a:bodyPr wrap="square" rtlCol="0" anchor="ctr"/>
          <a:lstStyle/>
          <a:p>
            <a:pPr marL="0" indent="0">
              <a:buNone/>
            </a:pPr>
            <a:r>
              <a:rPr lang="en-US" sz="1150" dirty="0">
                <a:solidFill>
                  <a:srgbClr val="6B5A50"/>
                </a:solidFill>
                <a:latin typeface="Arial" pitchFamily="34" charset="0"/>
                <a:ea typeface="Arial" pitchFamily="34" charset="-122"/>
                <a:cs typeface="Arial" pitchFamily="34" charset="-120"/>
              </a:rPr>
              <a:t>“Which resource / habitat conditions make a location more or less likely to be used?”</a:t>
            </a:r>
            <a:endParaRPr lang="en-US" sz="1150" dirty="0"/>
          </a:p>
        </p:txBody>
      </p:sp>
      <p:sp>
        <p:nvSpPr>
          <p:cNvPr id="13" name="Shape 11"/>
          <p:cNvSpPr/>
          <p:nvPr/>
        </p:nvSpPr>
        <p:spPr>
          <a:xfrm>
            <a:off x="548640" y="4809744"/>
            <a:ext cx="109728" cy="109728"/>
          </a:xfrm>
          <a:prstGeom prst="ellipse">
            <a:avLst/>
          </a:prstGeom>
          <a:solidFill>
            <a:srgbClr val="F8931D"/>
          </a:solidFill>
          <a:ln/>
        </p:spPr>
        <p:txBody>
          <a:bodyPr/>
          <a:lstStyle/>
          <a:p>
            <a:endParaRPr lang="en-US"/>
          </a:p>
        </p:txBody>
      </p:sp>
      <p:sp>
        <p:nvSpPr>
          <p:cNvPr id="14" name="Text 12"/>
          <p:cNvSpPr/>
          <p:nvPr/>
        </p:nvSpPr>
        <p:spPr>
          <a:xfrm>
            <a:off x="822960" y="4663440"/>
            <a:ext cx="5120640" cy="292608"/>
          </a:xfrm>
          <a:prstGeom prst="rect">
            <a:avLst/>
          </a:prstGeom>
          <a:noFill/>
          <a:ln/>
        </p:spPr>
        <p:txBody>
          <a:bodyPr wrap="square" rtlCol="0" anchor="ctr"/>
          <a:lstStyle/>
          <a:p>
            <a:pPr marL="0" indent="0">
              <a:buNone/>
            </a:pPr>
            <a:r>
              <a:rPr lang="en-US" sz="1400" b="1" dirty="0">
                <a:solidFill>
                  <a:srgbClr val="39302A"/>
                </a:solidFill>
                <a:latin typeface="Arial" pitchFamily="34" charset="0"/>
                <a:ea typeface="Arial" pitchFamily="34" charset="-122"/>
                <a:cs typeface="Arial" pitchFamily="34" charset="-120"/>
              </a:rPr>
              <a:t>Typical scale</a:t>
            </a:r>
            <a:endParaRPr lang="en-US" sz="1400" dirty="0"/>
          </a:p>
        </p:txBody>
      </p:sp>
      <p:sp>
        <p:nvSpPr>
          <p:cNvPr id="15" name="Text 13"/>
          <p:cNvSpPr/>
          <p:nvPr/>
        </p:nvSpPr>
        <p:spPr>
          <a:xfrm>
            <a:off x="822960" y="4956048"/>
            <a:ext cx="5120640" cy="685800"/>
          </a:xfrm>
          <a:prstGeom prst="rect">
            <a:avLst/>
          </a:prstGeom>
          <a:noFill/>
          <a:ln/>
        </p:spPr>
        <p:txBody>
          <a:bodyPr wrap="square" rtlCol="0" anchor="ctr"/>
          <a:lstStyle/>
          <a:p>
            <a:pPr marL="0" indent="0">
              <a:buNone/>
            </a:pPr>
            <a:r>
              <a:rPr lang="en-US" sz="1150" dirty="0">
                <a:solidFill>
                  <a:srgbClr val="6B5A50"/>
                </a:solidFill>
                <a:latin typeface="Arial" pitchFamily="34" charset="0"/>
                <a:ea typeface="Arial" pitchFamily="34" charset="-122"/>
                <a:cs typeface="Arial" pitchFamily="34" charset="-120"/>
              </a:rPr>
              <a:t>Usually operates at Johnson's 2nd–3rd order — home range placement and within-range habitat use.</a:t>
            </a:r>
            <a:endParaRPr lang="en-US" sz="1150" dirty="0"/>
          </a:p>
        </p:txBody>
      </p:sp>
      <p:sp>
        <p:nvSpPr>
          <p:cNvPr id="16" name="Shape 14"/>
          <p:cNvSpPr/>
          <p:nvPr/>
        </p:nvSpPr>
        <p:spPr>
          <a:xfrm>
            <a:off x="6492240" y="1554480"/>
            <a:ext cx="5120640" cy="4480560"/>
          </a:xfrm>
          <a:prstGeom prst="roundRect">
            <a:avLst>
              <a:gd name="adj" fmla="val 1633"/>
            </a:avLst>
          </a:prstGeom>
          <a:solidFill>
            <a:srgbClr val="F4EFEA"/>
          </a:solidFill>
          <a:ln/>
        </p:spPr>
        <p:txBody>
          <a:bodyPr/>
          <a:lstStyle/>
          <a:p>
            <a:endParaRPr lang="en-US"/>
          </a:p>
        </p:txBody>
      </p:sp>
      <p:sp>
        <p:nvSpPr>
          <p:cNvPr id="17" name="Text 15"/>
          <p:cNvSpPr/>
          <p:nvPr/>
        </p:nvSpPr>
        <p:spPr>
          <a:xfrm>
            <a:off x="6766560" y="1737360"/>
            <a:ext cx="4572000" cy="274320"/>
          </a:xfrm>
          <a:prstGeom prst="rect">
            <a:avLst/>
          </a:prstGeom>
          <a:noFill/>
          <a:ln/>
        </p:spPr>
        <p:txBody>
          <a:bodyPr wrap="square" rtlCol="0" anchor="ctr"/>
          <a:lstStyle/>
          <a:p>
            <a:pPr marL="0" indent="0">
              <a:buNone/>
            </a:pPr>
            <a:r>
              <a:rPr lang="en-US" sz="1050" b="1" kern="0" spc="150" dirty="0">
                <a:solidFill>
                  <a:srgbClr val="B7A99C"/>
                </a:solidFill>
                <a:latin typeface="Arial" pitchFamily="34" charset="0"/>
                <a:ea typeface="Arial" pitchFamily="34" charset="-122"/>
                <a:cs typeface="Arial" pitchFamily="34" charset="-120"/>
              </a:rPr>
              <a:t>USE – AVAILABILITY DESIGN</a:t>
            </a:r>
            <a:endParaRPr lang="en-US" sz="1050" dirty="0"/>
          </a:p>
        </p:txBody>
      </p:sp>
      <p:sp>
        <p:nvSpPr>
          <p:cNvPr id="18" name="Shape 16"/>
          <p:cNvSpPr/>
          <p:nvPr/>
        </p:nvSpPr>
        <p:spPr>
          <a:xfrm>
            <a:off x="6949440" y="2194560"/>
            <a:ext cx="4206240" cy="3108960"/>
          </a:xfrm>
          <a:prstGeom prst="ellipse">
            <a:avLst/>
          </a:prstGeom>
          <a:solidFill>
            <a:srgbClr val="FFFFFF"/>
          </a:solidFill>
          <a:ln w="25400">
            <a:solidFill>
              <a:srgbClr val="CE8D3E"/>
            </a:solidFill>
            <a:prstDash val="dash"/>
          </a:ln>
        </p:spPr>
        <p:txBody>
          <a:bodyPr/>
          <a:lstStyle/>
          <a:p>
            <a:endParaRPr lang="en-US"/>
          </a:p>
        </p:txBody>
      </p:sp>
      <p:sp>
        <p:nvSpPr>
          <p:cNvPr id="19" name="Shape 17"/>
          <p:cNvSpPr/>
          <p:nvPr/>
        </p:nvSpPr>
        <p:spPr>
          <a:xfrm>
            <a:off x="7315200" y="3017520"/>
            <a:ext cx="100584" cy="100584"/>
          </a:xfrm>
          <a:prstGeom prst="ellipse">
            <a:avLst/>
          </a:prstGeom>
          <a:solidFill>
            <a:srgbClr val="FFFFFF"/>
          </a:solidFill>
          <a:ln w="12700">
            <a:solidFill>
              <a:srgbClr val="B7A99C"/>
            </a:solidFill>
            <a:prstDash val="solid"/>
          </a:ln>
        </p:spPr>
        <p:txBody>
          <a:bodyPr/>
          <a:lstStyle/>
          <a:p>
            <a:endParaRPr lang="en-US"/>
          </a:p>
        </p:txBody>
      </p:sp>
      <p:sp>
        <p:nvSpPr>
          <p:cNvPr id="20" name="Shape 18"/>
          <p:cNvSpPr/>
          <p:nvPr/>
        </p:nvSpPr>
        <p:spPr>
          <a:xfrm>
            <a:off x="7955280" y="2651760"/>
            <a:ext cx="100584" cy="100584"/>
          </a:xfrm>
          <a:prstGeom prst="ellipse">
            <a:avLst/>
          </a:prstGeom>
          <a:solidFill>
            <a:srgbClr val="FFFFFF"/>
          </a:solidFill>
          <a:ln w="12700">
            <a:solidFill>
              <a:srgbClr val="B7A99C"/>
            </a:solidFill>
            <a:prstDash val="solid"/>
          </a:ln>
        </p:spPr>
        <p:txBody>
          <a:bodyPr/>
          <a:lstStyle/>
          <a:p>
            <a:endParaRPr lang="en-US"/>
          </a:p>
        </p:txBody>
      </p:sp>
      <p:sp>
        <p:nvSpPr>
          <p:cNvPr id="21" name="Shape 19"/>
          <p:cNvSpPr/>
          <p:nvPr/>
        </p:nvSpPr>
        <p:spPr>
          <a:xfrm>
            <a:off x="8686800" y="3291840"/>
            <a:ext cx="100584" cy="100584"/>
          </a:xfrm>
          <a:prstGeom prst="ellipse">
            <a:avLst/>
          </a:prstGeom>
          <a:solidFill>
            <a:srgbClr val="FFFFFF"/>
          </a:solidFill>
          <a:ln w="12700">
            <a:solidFill>
              <a:srgbClr val="B7A99C"/>
            </a:solidFill>
            <a:prstDash val="solid"/>
          </a:ln>
        </p:spPr>
        <p:txBody>
          <a:bodyPr/>
          <a:lstStyle/>
          <a:p>
            <a:endParaRPr lang="en-US"/>
          </a:p>
        </p:txBody>
      </p:sp>
      <p:sp>
        <p:nvSpPr>
          <p:cNvPr id="22" name="Shape 20"/>
          <p:cNvSpPr/>
          <p:nvPr/>
        </p:nvSpPr>
        <p:spPr>
          <a:xfrm>
            <a:off x="9326880" y="2560320"/>
            <a:ext cx="100584" cy="100584"/>
          </a:xfrm>
          <a:prstGeom prst="ellipse">
            <a:avLst/>
          </a:prstGeom>
          <a:solidFill>
            <a:srgbClr val="FFFFFF"/>
          </a:solidFill>
          <a:ln w="12700">
            <a:solidFill>
              <a:srgbClr val="B7A99C"/>
            </a:solidFill>
            <a:prstDash val="solid"/>
          </a:ln>
        </p:spPr>
        <p:txBody>
          <a:bodyPr/>
          <a:lstStyle/>
          <a:p>
            <a:endParaRPr lang="en-US"/>
          </a:p>
        </p:txBody>
      </p:sp>
      <p:sp>
        <p:nvSpPr>
          <p:cNvPr id="23" name="Shape 21"/>
          <p:cNvSpPr/>
          <p:nvPr/>
        </p:nvSpPr>
        <p:spPr>
          <a:xfrm>
            <a:off x="9875520" y="3108960"/>
            <a:ext cx="100584" cy="100584"/>
          </a:xfrm>
          <a:prstGeom prst="ellipse">
            <a:avLst/>
          </a:prstGeom>
          <a:solidFill>
            <a:srgbClr val="FFFFFF"/>
          </a:solidFill>
          <a:ln w="12700">
            <a:solidFill>
              <a:srgbClr val="B7A99C"/>
            </a:solidFill>
            <a:prstDash val="solid"/>
          </a:ln>
        </p:spPr>
        <p:txBody>
          <a:bodyPr/>
          <a:lstStyle/>
          <a:p>
            <a:endParaRPr lang="en-US"/>
          </a:p>
        </p:txBody>
      </p:sp>
      <p:sp>
        <p:nvSpPr>
          <p:cNvPr id="24" name="Shape 22"/>
          <p:cNvSpPr/>
          <p:nvPr/>
        </p:nvSpPr>
        <p:spPr>
          <a:xfrm>
            <a:off x="7132320" y="3931920"/>
            <a:ext cx="100584" cy="100584"/>
          </a:xfrm>
          <a:prstGeom prst="ellipse">
            <a:avLst/>
          </a:prstGeom>
          <a:solidFill>
            <a:srgbClr val="FFFFFF"/>
          </a:solidFill>
          <a:ln w="12700">
            <a:solidFill>
              <a:srgbClr val="B7A99C"/>
            </a:solidFill>
            <a:prstDash val="solid"/>
          </a:ln>
        </p:spPr>
        <p:txBody>
          <a:bodyPr/>
          <a:lstStyle/>
          <a:p>
            <a:endParaRPr lang="en-US"/>
          </a:p>
        </p:txBody>
      </p:sp>
      <p:sp>
        <p:nvSpPr>
          <p:cNvPr id="25" name="Shape 23"/>
          <p:cNvSpPr/>
          <p:nvPr/>
        </p:nvSpPr>
        <p:spPr>
          <a:xfrm>
            <a:off x="7680960" y="4480560"/>
            <a:ext cx="100584" cy="100584"/>
          </a:xfrm>
          <a:prstGeom prst="ellipse">
            <a:avLst/>
          </a:prstGeom>
          <a:solidFill>
            <a:srgbClr val="FFFFFF"/>
          </a:solidFill>
          <a:ln w="12700">
            <a:solidFill>
              <a:srgbClr val="B7A99C"/>
            </a:solidFill>
            <a:prstDash val="solid"/>
          </a:ln>
        </p:spPr>
        <p:txBody>
          <a:bodyPr/>
          <a:lstStyle/>
          <a:p>
            <a:endParaRPr lang="en-US"/>
          </a:p>
        </p:txBody>
      </p:sp>
      <p:sp>
        <p:nvSpPr>
          <p:cNvPr id="26" name="Shape 24"/>
          <p:cNvSpPr/>
          <p:nvPr/>
        </p:nvSpPr>
        <p:spPr>
          <a:xfrm>
            <a:off x="8412480" y="4937760"/>
            <a:ext cx="100584" cy="100584"/>
          </a:xfrm>
          <a:prstGeom prst="ellipse">
            <a:avLst/>
          </a:prstGeom>
          <a:solidFill>
            <a:srgbClr val="FFFFFF"/>
          </a:solidFill>
          <a:ln w="12700">
            <a:solidFill>
              <a:srgbClr val="B7A99C"/>
            </a:solidFill>
            <a:prstDash val="solid"/>
          </a:ln>
        </p:spPr>
        <p:txBody>
          <a:bodyPr/>
          <a:lstStyle/>
          <a:p>
            <a:endParaRPr lang="en-US"/>
          </a:p>
        </p:txBody>
      </p:sp>
      <p:sp>
        <p:nvSpPr>
          <p:cNvPr id="27" name="Shape 25"/>
          <p:cNvSpPr/>
          <p:nvPr/>
        </p:nvSpPr>
        <p:spPr>
          <a:xfrm>
            <a:off x="9144000" y="4572000"/>
            <a:ext cx="100584" cy="100584"/>
          </a:xfrm>
          <a:prstGeom prst="ellipse">
            <a:avLst/>
          </a:prstGeom>
          <a:solidFill>
            <a:srgbClr val="FFFFFF"/>
          </a:solidFill>
          <a:ln w="12700">
            <a:solidFill>
              <a:srgbClr val="B7A99C"/>
            </a:solidFill>
            <a:prstDash val="solid"/>
          </a:ln>
        </p:spPr>
        <p:txBody>
          <a:bodyPr/>
          <a:lstStyle/>
          <a:p>
            <a:endParaRPr lang="en-US"/>
          </a:p>
        </p:txBody>
      </p:sp>
      <p:sp>
        <p:nvSpPr>
          <p:cNvPr id="28" name="Shape 26"/>
          <p:cNvSpPr/>
          <p:nvPr/>
        </p:nvSpPr>
        <p:spPr>
          <a:xfrm>
            <a:off x="9784080" y="4114800"/>
            <a:ext cx="100584" cy="100584"/>
          </a:xfrm>
          <a:prstGeom prst="ellipse">
            <a:avLst/>
          </a:prstGeom>
          <a:solidFill>
            <a:srgbClr val="FFFFFF"/>
          </a:solidFill>
          <a:ln w="12700">
            <a:solidFill>
              <a:srgbClr val="B7A99C"/>
            </a:solidFill>
            <a:prstDash val="solid"/>
          </a:ln>
        </p:spPr>
        <p:txBody>
          <a:bodyPr/>
          <a:lstStyle/>
          <a:p>
            <a:endParaRPr lang="en-US"/>
          </a:p>
        </p:txBody>
      </p:sp>
      <p:sp>
        <p:nvSpPr>
          <p:cNvPr id="29" name="Shape 27"/>
          <p:cNvSpPr/>
          <p:nvPr/>
        </p:nvSpPr>
        <p:spPr>
          <a:xfrm>
            <a:off x="7406640" y="5120640"/>
            <a:ext cx="100584" cy="100584"/>
          </a:xfrm>
          <a:prstGeom prst="ellipse">
            <a:avLst/>
          </a:prstGeom>
          <a:solidFill>
            <a:srgbClr val="FFFFFF"/>
          </a:solidFill>
          <a:ln w="12700">
            <a:solidFill>
              <a:srgbClr val="B7A99C"/>
            </a:solidFill>
            <a:prstDash val="solid"/>
          </a:ln>
        </p:spPr>
        <p:txBody>
          <a:bodyPr/>
          <a:lstStyle/>
          <a:p>
            <a:endParaRPr lang="en-US"/>
          </a:p>
        </p:txBody>
      </p:sp>
      <p:sp>
        <p:nvSpPr>
          <p:cNvPr id="30" name="Shape 28"/>
          <p:cNvSpPr/>
          <p:nvPr/>
        </p:nvSpPr>
        <p:spPr>
          <a:xfrm>
            <a:off x="9509760" y="5212080"/>
            <a:ext cx="100584" cy="100584"/>
          </a:xfrm>
          <a:prstGeom prst="ellipse">
            <a:avLst/>
          </a:prstGeom>
          <a:solidFill>
            <a:srgbClr val="FFFFFF"/>
          </a:solidFill>
          <a:ln w="12700">
            <a:solidFill>
              <a:srgbClr val="B7A99C"/>
            </a:solidFill>
            <a:prstDash val="solid"/>
          </a:ln>
        </p:spPr>
        <p:txBody>
          <a:bodyPr/>
          <a:lstStyle/>
          <a:p>
            <a:endParaRPr lang="en-US"/>
          </a:p>
        </p:txBody>
      </p:sp>
      <p:sp>
        <p:nvSpPr>
          <p:cNvPr id="31" name="Shape 29"/>
          <p:cNvSpPr/>
          <p:nvPr/>
        </p:nvSpPr>
        <p:spPr>
          <a:xfrm>
            <a:off x="8778240" y="2926080"/>
            <a:ext cx="100584" cy="100584"/>
          </a:xfrm>
          <a:prstGeom prst="ellipse">
            <a:avLst/>
          </a:prstGeom>
          <a:solidFill>
            <a:srgbClr val="FFFFFF"/>
          </a:solidFill>
          <a:ln w="12700">
            <a:solidFill>
              <a:srgbClr val="B7A99C"/>
            </a:solidFill>
            <a:prstDash val="solid"/>
          </a:ln>
        </p:spPr>
        <p:txBody>
          <a:bodyPr/>
          <a:lstStyle/>
          <a:p>
            <a:endParaRPr lang="en-US"/>
          </a:p>
        </p:txBody>
      </p:sp>
      <p:sp>
        <p:nvSpPr>
          <p:cNvPr id="32" name="Shape 30"/>
          <p:cNvSpPr/>
          <p:nvPr/>
        </p:nvSpPr>
        <p:spPr>
          <a:xfrm>
            <a:off x="7315200" y="3749040"/>
            <a:ext cx="100584" cy="100584"/>
          </a:xfrm>
          <a:prstGeom prst="ellipse">
            <a:avLst/>
          </a:prstGeom>
          <a:solidFill>
            <a:srgbClr val="FFFFFF"/>
          </a:solidFill>
          <a:ln w="12700">
            <a:solidFill>
              <a:srgbClr val="B7A99C"/>
            </a:solidFill>
            <a:prstDash val="solid"/>
          </a:ln>
        </p:spPr>
        <p:txBody>
          <a:bodyPr/>
          <a:lstStyle/>
          <a:p>
            <a:endParaRPr lang="en-US"/>
          </a:p>
        </p:txBody>
      </p:sp>
      <p:sp>
        <p:nvSpPr>
          <p:cNvPr id="33" name="Shape 31"/>
          <p:cNvSpPr/>
          <p:nvPr/>
        </p:nvSpPr>
        <p:spPr>
          <a:xfrm>
            <a:off x="7589520" y="2926080"/>
            <a:ext cx="128016" cy="128016"/>
          </a:xfrm>
          <a:prstGeom prst="ellipse">
            <a:avLst/>
          </a:prstGeom>
          <a:solidFill>
            <a:srgbClr val="E64823"/>
          </a:solidFill>
          <a:ln/>
        </p:spPr>
        <p:txBody>
          <a:bodyPr/>
          <a:lstStyle/>
          <a:p>
            <a:endParaRPr lang="en-US"/>
          </a:p>
        </p:txBody>
      </p:sp>
      <p:sp>
        <p:nvSpPr>
          <p:cNvPr id="34" name="Shape 32"/>
          <p:cNvSpPr/>
          <p:nvPr/>
        </p:nvSpPr>
        <p:spPr>
          <a:xfrm>
            <a:off x="7863840" y="3200400"/>
            <a:ext cx="128016" cy="128016"/>
          </a:xfrm>
          <a:prstGeom prst="ellipse">
            <a:avLst/>
          </a:prstGeom>
          <a:solidFill>
            <a:srgbClr val="E64823"/>
          </a:solidFill>
          <a:ln/>
        </p:spPr>
        <p:txBody>
          <a:bodyPr/>
          <a:lstStyle/>
          <a:p>
            <a:endParaRPr lang="en-US"/>
          </a:p>
        </p:txBody>
      </p:sp>
      <p:sp>
        <p:nvSpPr>
          <p:cNvPr id="35" name="Shape 33"/>
          <p:cNvSpPr/>
          <p:nvPr/>
        </p:nvSpPr>
        <p:spPr>
          <a:xfrm>
            <a:off x="7406640" y="3474720"/>
            <a:ext cx="128016" cy="128016"/>
          </a:xfrm>
          <a:prstGeom prst="ellipse">
            <a:avLst/>
          </a:prstGeom>
          <a:solidFill>
            <a:srgbClr val="E64823"/>
          </a:solidFill>
          <a:ln/>
        </p:spPr>
        <p:txBody>
          <a:bodyPr/>
          <a:lstStyle/>
          <a:p>
            <a:endParaRPr lang="en-US"/>
          </a:p>
        </p:txBody>
      </p:sp>
      <p:sp>
        <p:nvSpPr>
          <p:cNvPr id="36" name="Shape 34"/>
          <p:cNvSpPr/>
          <p:nvPr/>
        </p:nvSpPr>
        <p:spPr>
          <a:xfrm>
            <a:off x="8046720" y="2834640"/>
            <a:ext cx="128016" cy="128016"/>
          </a:xfrm>
          <a:prstGeom prst="ellipse">
            <a:avLst/>
          </a:prstGeom>
          <a:solidFill>
            <a:srgbClr val="E64823"/>
          </a:solidFill>
          <a:ln/>
        </p:spPr>
        <p:txBody>
          <a:bodyPr/>
          <a:lstStyle/>
          <a:p>
            <a:endParaRPr lang="en-US"/>
          </a:p>
        </p:txBody>
      </p:sp>
      <p:sp>
        <p:nvSpPr>
          <p:cNvPr id="37" name="Shape 35"/>
          <p:cNvSpPr/>
          <p:nvPr/>
        </p:nvSpPr>
        <p:spPr>
          <a:xfrm>
            <a:off x="7680960" y="3657600"/>
            <a:ext cx="128016" cy="128016"/>
          </a:xfrm>
          <a:prstGeom prst="ellipse">
            <a:avLst/>
          </a:prstGeom>
          <a:solidFill>
            <a:srgbClr val="E64823"/>
          </a:solidFill>
          <a:ln/>
        </p:spPr>
        <p:txBody>
          <a:bodyPr/>
          <a:lstStyle/>
          <a:p>
            <a:endParaRPr lang="en-US"/>
          </a:p>
        </p:txBody>
      </p:sp>
      <p:sp>
        <p:nvSpPr>
          <p:cNvPr id="38" name="Shape 36"/>
          <p:cNvSpPr/>
          <p:nvPr/>
        </p:nvSpPr>
        <p:spPr>
          <a:xfrm>
            <a:off x="7360920" y="3108960"/>
            <a:ext cx="128016" cy="128016"/>
          </a:xfrm>
          <a:prstGeom prst="ellipse">
            <a:avLst/>
          </a:prstGeom>
          <a:solidFill>
            <a:srgbClr val="E64823"/>
          </a:solidFill>
          <a:ln/>
        </p:spPr>
        <p:txBody>
          <a:bodyPr/>
          <a:lstStyle/>
          <a:p>
            <a:endParaRPr lang="en-US"/>
          </a:p>
        </p:txBody>
      </p:sp>
      <p:sp>
        <p:nvSpPr>
          <p:cNvPr id="39" name="Shape 37"/>
          <p:cNvSpPr/>
          <p:nvPr/>
        </p:nvSpPr>
        <p:spPr>
          <a:xfrm>
            <a:off x="8183880" y="3383280"/>
            <a:ext cx="128016" cy="128016"/>
          </a:xfrm>
          <a:prstGeom prst="ellipse">
            <a:avLst/>
          </a:prstGeom>
          <a:solidFill>
            <a:srgbClr val="E64823"/>
          </a:solidFill>
          <a:ln/>
        </p:spPr>
        <p:txBody>
          <a:bodyPr/>
          <a:lstStyle/>
          <a:p>
            <a:endParaRPr lang="en-US"/>
          </a:p>
        </p:txBody>
      </p:sp>
      <p:sp>
        <p:nvSpPr>
          <p:cNvPr id="40" name="Shape 38"/>
          <p:cNvSpPr/>
          <p:nvPr/>
        </p:nvSpPr>
        <p:spPr>
          <a:xfrm>
            <a:off x="7818120" y="2697480"/>
            <a:ext cx="128016" cy="128016"/>
          </a:xfrm>
          <a:prstGeom prst="ellipse">
            <a:avLst/>
          </a:prstGeom>
          <a:solidFill>
            <a:srgbClr val="E64823"/>
          </a:solidFill>
          <a:ln/>
        </p:spPr>
        <p:txBody>
          <a:bodyPr/>
          <a:lstStyle/>
          <a:p>
            <a:endParaRPr lang="en-US"/>
          </a:p>
        </p:txBody>
      </p:sp>
      <p:sp>
        <p:nvSpPr>
          <p:cNvPr id="41" name="Shape 39"/>
          <p:cNvSpPr/>
          <p:nvPr/>
        </p:nvSpPr>
        <p:spPr>
          <a:xfrm>
            <a:off x="6812280" y="5532120"/>
            <a:ext cx="118872" cy="118872"/>
          </a:xfrm>
          <a:prstGeom prst="ellipse">
            <a:avLst/>
          </a:prstGeom>
          <a:solidFill>
            <a:srgbClr val="E64823"/>
          </a:solidFill>
          <a:ln/>
        </p:spPr>
        <p:txBody>
          <a:bodyPr/>
          <a:lstStyle/>
          <a:p>
            <a:endParaRPr lang="en-US"/>
          </a:p>
        </p:txBody>
      </p:sp>
      <p:sp>
        <p:nvSpPr>
          <p:cNvPr id="42" name="Text 40"/>
          <p:cNvSpPr/>
          <p:nvPr/>
        </p:nvSpPr>
        <p:spPr>
          <a:xfrm>
            <a:off x="7040880" y="5413248"/>
            <a:ext cx="2011680" cy="274320"/>
          </a:xfrm>
          <a:prstGeom prst="rect">
            <a:avLst/>
          </a:prstGeom>
          <a:noFill/>
          <a:ln/>
        </p:spPr>
        <p:txBody>
          <a:bodyPr wrap="square" rtlCol="0" anchor="ctr"/>
          <a:lstStyle/>
          <a:p>
            <a:pPr marL="0" indent="0">
              <a:buNone/>
            </a:pPr>
            <a:r>
              <a:rPr lang="en-US" sz="1050" dirty="0">
                <a:solidFill>
                  <a:srgbClr val="6B5A50"/>
                </a:solidFill>
                <a:latin typeface="Arial" pitchFamily="34" charset="0"/>
                <a:ea typeface="Arial" pitchFamily="34" charset="-122"/>
                <a:cs typeface="Arial" pitchFamily="34" charset="-120"/>
              </a:rPr>
              <a:t>used location</a:t>
            </a:r>
            <a:endParaRPr lang="en-US" sz="1050" dirty="0"/>
          </a:p>
        </p:txBody>
      </p:sp>
      <p:sp>
        <p:nvSpPr>
          <p:cNvPr id="43" name="Shape 41"/>
          <p:cNvSpPr/>
          <p:nvPr/>
        </p:nvSpPr>
        <p:spPr>
          <a:xfrm>
            <a:off x="9144000" y="5532120"/>
            <a:ext cx="118872" cy="118872"/>
          </a:xfrm>
          <a:prstGeom prst="ellipse">
            <a:avLst/>
          </a:prstGeom>
          <a:solidFill>
            <a:srgbClr val="FFFFFF"/>
          </a:solidFill>
          <a:ln w="12700">
            <a:solidFill>
              <a:srgbClr val="B7A99C"/>
            </a:solidFill>
            <a:prstDash val="solid"/>
          </a:ln>
        </p:spPr>
        <p:txBody>
          <a:bodyPr/>
          <a:lstStyle/>
          <a:p>
            <a:endParaRPr lang="en-US"/>
          </a:p>
        </p:txBody>
      </p:sp>
      <p:sp>
        <p:nvSpPr>
          <p:cNvPr id="44" name="Text 42"/>
          <p:cNvSpPr/>
          <p:nvPr/>
        </p:nvSpPr>
        <p:spPr>
          <a:xfrm>
            <a:off x="9372600" y="5413248"/>
            <a:ext cx="2103120" cy="274320"/>
          </a:xfrm>
          <a:prstGeom prst="rect">
            <a:avLst/>
          </a:prstGeom>
          <a:noFill/>
          <a:ln/>
        </p:spPr>
        <p:txBody>
          <a:bodyPr wrap="square" rtlCol="0" anchor="ctr"/>
          <a:lstStyle/>
          <a:p>
            <a:pPr marL="0" indent="0">
              <a:buNone/>
            </a:pPr>
            <a:r>
              <a:rPr lang="en-US" sz="1050" dirty="0">
                <a:solidFill>
                  <a:srgbClr val="6B5A50"/>
                </a:solidFill>
                <a:latin typeface="Arial" pitchFamily="34" charset="0"/>
                <a:ea typeface="Arial" pitchFamily="34" charset="-122"/>
                <a:cs typeface="Arial" pitchFamily="34" charset="-120"/>
              </a:rPr>
              <a:t>available (random)</a:t>
            </a:r>
            <a:endParaRPr lang="en-US" sz="1050" dirty="0"/>
          </a:p>
        </p:txBody>
      </p:sp>
      <p:sp>
        <p:nvSpPr>
          <p:cNvPr id="45" name="Text 43"/>
          <p:cNvSpPr/>
          <p:nvPr/>
        </p:nvSpPr>
        <p:spPr>
          <a:xfrm>
            <a:off x="548640" y="6473952"/>
            <a:ext cx="7315200" cy="274320"/>
          </a:xfrm>
          <a:prstGeom prst="rect">
            <a:avLst/>
          </a:prstGeom>
          <a:noFill/>
          <a:ln/>
        </p:spPr>
        <p:txBody>
          <a:bodyPr wrap="square" rtlCol="0" anchor="ctr"/>
          <a:lstStyle/>
          <a:p>
            <a:pPr marL="0" indent="0">
              <a:buNone/>
            </a:pPr>
            <a:r>
              <a:rPr lang="en-US" sz="1000" i="1" dirty="0">
                <a:solidFill>
                  <a:srgbClr val="A89A8C"/>
                </a:solidFill>
                <a:latin typeface="Arial" pitchFamily="34" charset="0"/>
                <a:ea typeface="Arial" pitchFamily="34" charset="-122"/>
                <a:cs typeface="Arial" pitchFamily="34" charset="-120"/>
              </a:rPr>
              <a:t>RSF: a use–availability comparison, not a path</a:t>
            </a:r>
            <a:endParaRPr lang="en-US" sz="1000" dirty="0"/>
          </a:p>
        </p:txBody>
      </p:sp>
      <p:sp>
        <p:nvSpPr>
          <p:cNvPr id="46" name="Text 44"/>
          <p:cNvSpPr/>
          <p:nvPr/>
        </p:nvSpPr>
        <p:spPr>
          <a:xfrm>
            <a:off x="9357055" y="6473952"/>
            <a:ext cx="2286000" cy="274320"/>
          </a:xfrm>
          <a:prstGeom prst="rect">
            <a:avLst/>
          </a:prstGeom>
          <a:noFill/>
          <a:ln/>
        </p:spPr>
        <p:txBody>
          <a:bodyPr wrap="square" rtlCol="0" anchor="ctr"/>
          <a:lstStyle/>
          <a:p>
            <a:pPr marL="0" indent="0" algn="r">
              <a:buNone/>
            </a:pPr>
            <a:r>
              <a:rPr lang="en-US" sz="1000" dirty="0">
                <a:solidFill>
                  <a:srgbClr val="A89A8C"/>
                </a:solidFill>
                <a:latin typeface="Arial" pitchFamily="34" charset="0"/>
                <a:ea typeface="Arial" pitchFamily="34" charset="-122"/>
                <a:cs typeface="Arial" pitchFamily="34" charset="-120"/>
              </a:rPr>
              <a:t>RSF vs. SSF</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200" dirty="0">
                <a:solidFill>
                  <a:srgbClr val="F8931D"/>
                </a:solidFill>
                <a:latin typeface="Arial" pitchFamily="34" charset="0"/>
                <a:ea typeface="Arial" pitchFamily="34" charset="-122"/>
                <a:cs typeface="Arial" pitchFamily="34" charset="-120"/>
              </a:rPr>
              <a:t>METHOD 2</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2800" b="1" dirty="0">
                <a:solidFill>
                  <a:srgbClr val="39302A"/>
                </a:solidFill>
                <a:latin typeface="Arial" pitchFamily="34" charset="0"/>
                <a:ea typeface="Arial" pitchFamily="34" charset="-122"/>
                <a:cs typeface="Arial" pitchFamily="34" charset="-120"/>
              </a:rPr>
              <a:t>SSF: how does the animal choose its next move?</a:t>
            </a:r>
            <a:endParaRPr lang="en-US" sz="2800" dirty="0"/>
          </a:p>
        </p:txBody>
      </p:sp>
      <p:sp>
        <p:nvSpPr>
          <p:cNvPr id="4" name="Shape 2"/>
          <p:cNvSpPr/>
          <p:nvPr/>
        </p:nvSpPr>
        <p:spPr>
          <a:xfrm>
            <a:off x="548640" y="1655064"/>
            <a:ext cx="109728" cy="109728"/>
          </a:xfrm>
          <a:prstGeom prst="ellipse">
            <a:avLst/>
          </a:prstGeom>
          <a:solidFill>
            <a:srgbClr val="E64823"/>
          </a:solidFill>
          <a:ln/>
        </p:spPr>
        <p:txBody>
          <a:bodyPr/>
          <a:lstStyle/>
          <a:p>
            <a:endParaRPr lang="en-US"/>
          </a:p>
        </p:txBody>
      </p:sp>
      <p:sp>
        <p:nvSpPr>
          <p:cNvPr id="5" name="Text 3"/>
          <p:cNvSpPr/>
          <p:nvPr/>
        </p:nvSpPr>
        <p:spPr>
          <a:xfrm>
            <a:off x="822960" y="1508760"/>
            <a:ext cx="5120640" cy="292608"/>
          </a:xfrm>
          <a:prstGeom prst="rect">
            <a:avLst/>
          </a:prstGeom>
          <a:noFill/>
          <a:ln/>
        </p:spPr>
        <p:txBody>
          <a:bodyPr wrap="square" rtlCol="0" anchor="ctr"/>
          <a:lstStyle/>
          <a:p>
            <a:pPr marL="0" indent="0">
              <a:buNone/>
            </a:pPr>
            <a:r>
              <a:rPr lang="en-US" sz="1400" b="1" dirty="0">
                <a:solidFill>
                  <a:srgbClr val="39302A"/>
                </a:solidFill>
                <a:latin typeface="Arial" pitchFamily="34" charset="0"/>
                <a:ea typeface="Arial" pitchFamily="34" charset="-122"/>
                <a:cs typeface="Arial" pitchFamily="34" charset="-120"/>
              </a:rPr>
              <a:t>Used vs. available steps</a:t>
            </a:r>
            <a:endParaRPr lang="en-US" sz="1400" dirty="0"/>
          </a:p>
        </p:txBody>
      </p:sp>
      <p:sp>
        <p:nvSpPr>
          <p:cNvPr id="6" name="Text 4"/>
          <p:cNvSpPr/>
          <p:nvPr/>
        </p:nvSpPr>
        <p:spPr>
          <a:xfrm>
            <a:off x="822960" y="1801368"/>
            <a:ext cx="5120640" cy="685800"/>
          </a:xfrm>
          <a:prstGeom prst="rect">
            <a:avLst/>
          </a:prstGeom>
          <a:noFill/>
          <a:ln/>
        </p:spPr>
        <p:txBody>
          <a:bodyPr wrap="square" rtlCol="0" anchor="ctr"/>
          <a:lstStyle/>
          <a:p>
            <a:pPr marL="0" indent="0">
              <a:buNone/>
            </a:pPr>
            <a:r>
              <a:rPr lang="en-US" sz="1150" dirty="0">
                <a:solidFill>
                  <a:srgbClr val="6B5A50"/>
                </a:solidFill>
                <a:latin typeface="Arial" pitchFamily="34" charset="0"/>
                <a:ea typeface="Arial" pitchFamily="34" charset="-122"/>
                <a:cs typeface="Arial" pitchFamily="34" charset="-120"/>
              </a:rPr>
              <a:t>Compares each observed “step” (start → end movement segment) to alternative steps drawn from the animal's own turn-angle and step-length distribution.</a:t>
            </a:r>
            <a:endParaRPr lang="en-US" sz="1150" dirty="0"/>
          </a:p>
        </p:txBody>
      </p:sp>
      <p:sp>
        <p:nvSpPr>
          <p:cNvPr id="7" name="Shape 5"/>
          <p:cNvSpPr/>
          <p:nvPr/>
        </p:nvSpPr>
        <p:spPr>
          <a:xfrm>
            <a:off x="548640" y="2706624"/>
            <a:ext cx="109728" cy="109728"/>
          </a:xfrm>
          <a:prstGeom prst="ellipse">
            <a:avLst/>
          </a:prstGeom>
          <a:solidFill>
            <a:srgbClr val="E64823"/>
          </a:solidFill>
          <a:ln/>
        </p:spPr>
        <p:txBody>
          <a:bodyPr/>
          <a:lstStyle/>
          <a:p>
            <a:endParaRPr lang="en-US"/>
          </a:p>
        </p:txBody>
      </p:sp>
      <p:sp>
        <p:nvSpPr>
          <p:cNvPr id="8" name="Text 6"/>
          <p:cNvSpPr/>
          <p:nvPr/>
        </p:nvSpPr>
        <p:spPr>
          <a:xfrm>
            <a:off x="822960" y="2560320"/>
            <a:ext cx="5120640" cy="292608"/>
          </a:xfrm>
          <a:prstGeom prst="rect">
            <a:avLst/>
          </a:prstGeom>
          <a:noFill/>
          <a:ln/>
        </p:spPr>
        <p:txBody>
          <a:bodyPr wrap="square" rtlCol="0" anchor="ctr"/>
          <a:lstStyle/>
          <a:p>
            <a:pPr marL="0" indent="0">
              <a:buNone/>
            </a:pPr>
            <a:r>
              <a:rPr lang="en-US" sz="1400" b="1" dirty="0">
                <a:solidFill>
                  <a:srgbClr val="39302A"/>
                </a:solidFill>
                <a:latin typeface="Arial" pitchFamily="34" charset="0"/>
                <a:ea typeface="Arial" pitchFamily="34" charset="-122"/>
                <a:cs typeface="Arial" pitchFamily="34" charset="-120"/>
              </a:rPr>
              <a:t>Availability depends on movement</a:t>
            </a:r>
            <a:endParaRPr lang="en-US" sz="1400" dirty="0"/>
          </a:p>
        </p:txBody>
      </p:sp>
      <p:sp>
        <p:nvSpPr>
          <p:cNvPr id="9" name="Text 7"/>
          <p:cNvSpPr/>
          <p:nvPr/>
        </p:nvSpPr>
        <p:spPr>
          <a:xfrm>
            <a:off x="822960" y="2852928"/>
            <a:ext cx="5120640" cy="685800"/>
          </a:xfrm>
          <a:prstGeom prst="rect">
            <a:avLst/>
          </a:prstGeom>
          <a:noFill/>
          <a:ln/>
        </p:spPr>
        <p:txBody>
          <a:bodyPr wrap="square" rtlCol="0" anchor="ctr"/>
          <a:lstStyle/>
          <a:p>
            <a:pPr marL="0" indent="0">
              <a:buNone/>
            </a:pPr>
            <a:r>
              <a:rPr lang="en-US" sz="1150" dirty="0">
                <a:solidFill>
                  <a:srgbClr val="6B5A50"/>
                </a:solidFill>
                <a:latin typeface="Arial" pitchFamily="34" charset="0"/>
                <a:ea typeface="Arial" pitchFamily="34" charset="-122"/>
                <a:cs typeface="Arial" pitchFamily="34" charset="-120"/>
              </a:rPr>
              <a:t>“Available” isn't the whole landscape — it's only what the animal could plausibly reach from where it currently is.</a:t>
            </a:r>
            <a:endParaRPr lang="en-US" sz="1150" dirty="0"/>
          </a:p>
        </p:txBody>
      </p:sp>
      <p:sp>
        <p:nvSpPr>
          <p:cNvPr id="10" name="Shape 8"/>
          <p:cNvSpPr/>
          <p:nvPr/>
        </p:nvSpPr>
        <p:spPr>
          <a:xfrm>
            <a:off x="548640" y="3758184"/>
            <a:ext cx="109728" cy="109728"/>
          </a:xfrm>
          <a:prstGeom prst="ellipse">
            <a:avLst/>
          </a:prstGeom>
          <a:solidFill>
            <a:srgbClr val="E64823"/>
          </a:solidFill>
          <a:ln/>
        </p:spPr>
        <p:txBody>
          <a:bodyPr/>
          <a:lstStyle/>
          <a:p>
            <a:endParaRPr lang="en-US"/>
          </a:p>
        </p:txBody>
      </p:sp>
      <p:sp>
        <p:nvSpPr>
          <p:cNvPr id="11" name="Text 9"/>
          <p:cNvSpPr/>
          <p:nvPr/>
        </p:nvSpPr>
        <p:spPr>
          <a:xfrm>
            <a:off x="822960" y="3611880"/>
            <a:ext cx="5120640" cy="292608"/>
          </a:xfrm>
          <a:prstGeom prst="rect">
            <a:avLst/>
          </a:prstGeom>
          <a:noFill/>
          <a:ln/>
        </p:spPr>
        <p:txBody>
          <a:bodyPr wrap="square" rtlCol="0" anchor="ctr"/>
          <a:lstStyle/>
          <a:p>
            <a:pPr marL="0" indent="0">
              <a:buNone/>
            </a:pPr>
            <a:r>
              <a:rPr lang="en-US" sz="1400" b="1" dirty="0">
                <a:solidFill>
                  <a:srgbClr val="39302A"/>
                </a:solidFill>
                <a:latin typeface="Arial" pitchFamily="34" charset="0"/>
                <a:ea typeface="Arial" pitchFamily="34" charset="-122"/>
                <a:cs typeface="Arial" pitchFamily="34" charset="-120"/>
              </a:rPr>
              <a:t>Answers</a:t>
            </a:r>
            <a:endParaRPr lang="en-US" sz="1400" dirty="0"/>
          </a:p>
        </p:txBody>
      </p:sp>
      <p:sp>
        <p:nvSpPr>
          <p:cNvPr id="12" name="Text 10"/>
          <p:cNvSpPr/>
          <p:nvPr/>
        </p:nvSpPr>
        <p:spPr>
          <a:xfrm>
            <a:off x="822960" y="3904488"/>
            <a:ext cx="5120640" cy="685800"/>
          </a:xfrm>
          <a:prstGeom prst="rect">
            <a:avLst/>
          </a:prstGeom>
          <a:noFill/>
          <a:ln/>
        </p:spPr>
        <p:txBody>
          <a:bodyPr wrap="square" rtlCol="0" anchor="ctr"/>
          <a:lstStyle/>
          <a:p>
            <a:pPr marL="0" indent="0">
              <a:buNone/>
            </a:pPr>
            <a:r>
              <a:rPr lang="en-US" sz="1150" dirty="0">
                <a:solidFill>
                  <a:srgbClr val="6B5A50"/>
                </a:solidFill>
                <a:latin typeface="Arial" pitchFamily="34" charset="0"/>
                <a:ea typeface="Arial" pitchFamily="34" charset="-122"/>
                <a:cs typeface="Arial" pitchFamily="34" charset="-120"/>
              </a:rPr>
              <a:t>“Given its current position and movement capacity, what shapes the animal's next step?”</a:t>
            </a:r>
            <a:endParaRPr lang="en-US" sz="1150" dirty="0"/>
          </a:p>
        </p:txBody>
      </p:sp>
      <p:sp>
        <p:nvSpPr>
          <p:cNvPr id="13" name="Shape 11"/>
          <p:cNvSpPr/>
          <p:nvPr/>
        </p:nvSpPr>
        <p:spPr>
          <a:xfrm>
            <a:off x="548640" y="4809744"/>
            <a:ext cx="109728" cy="109728"/>
          </a:xfrm>
          <a:prstGeom prst="ellipse">
            <a:avLst/>
          </a:prstGeom>
          <a:solidFill>
            <a:srgbClr val="E64823"/>
          </a:solidFill>
          <a:ln/>
        </p:spPr>
        <p:txBody>
          <a:bodyPr/>
          <a:lstStyle/>
          <a:p>
            <a:endParaRPr lang="en-US"/>
          </a:p>
        </p:txBody>
      </p:sp>
      <p:sp>
        <p:nvSpPr>
          <p:cNvPr id="14" name="Text 12"/>
          <p:cNvSpPr/>
          <p:nvPr/>
        </p:nvSpPr>
        <p:spPr>
          <a:xfrm>
            <a:off x="822960" y="4663440"/>
            <a:ext cx="5120640" cy="292608"/>
          </a:xfrm>
          <a:prstGeom prst="rect">
            <a:avLst/>
          </a:prstGeom>
          <a:noFill/>
          <a:ln/>
        </p:spPr>
        <p:txBody>
          <a:bodyPr wrap="square" rtlCol="0" anchor="ctr"/>
          <a:lstStyle/>
          <a:p>
            <a:pPr marL="0" indent="0">
              <a:buNone/>
            </a:pPr>
            <a:r>
              <a:rPr lang="en-US" sz="1400" b="1" dirty="0">
                <a:solidFill>
                  <a:srgbClr val="39302A"/>
                </a:solidFill>
                <a:latin typeface="Arial" pitchFamily="34" charset="0"/>
                <a:ea typeface="Arial" pitchFamily="34" charset="-122"/>
                <a:cs typeface="Arial" pitchFamily="34" charset="-120"/>
              </a:rPr>
              <a:t>Typical scale</a:t>
            </a:r>
            <a:endParaRPr lang="en-US" sz="1400" dirty="0"/>
          </a:p>
        </p:txBody>
      </p:sp>
      <p:sp>
        <p:nvSpPr>
          <p:cNvPr id="15" name="Text 13"/>
          <p:cNvSpPr/>
          <p:nvPr/>
        </p:nvSpPr>
        <p:spPr>
          <a:xfrm>
            <a:off x="822960" y="4956048"/>
            <a:ext cx="5120640" cy="685800"/>
          </a:xfrm>
          <a:prstGeom prst="rect">
            <a:avLst/>
          </a:prstGeom>
          <a:noFill/>
          <a:ln/>
        </p:spPr>
        <p:txBody>
          <a:bodyPr wrap="square" rtlCol="0" anchor="ctr"/>
          <a:lstStyle/>
          <a:p>
            <a:pPr marL="0" indent="0">
              <a:buNone/>
            </a:pPr>
            <a:r>
              <a:rPr lang="en-US" sz="1150" dirty="0">
                <a:solidFill>
                  <a:srgbClr val="6B5A50"/>
                </a:solidFill>
                <a:latin typeface="Arial" pitchFamily="34" charset="0"/>
                <a:ea typeface="Arial" pitchFamily="34" charset="-122"/>
                <a:cs typeface="Arial" pitchFamily="34" charset="-120"/>
              </a:rPr>
              <a:t>Usually 3rd–4th order — movement is explicitly part of the model, not assumed away.</a:t>
            </a:r>
            <a:endParaRPr lang="en-US" sz="1150" dirty="0"/>
          </a:p>
        </p:txBody>
      </p:sp>
      <p:sp>
        <p:nvSpPr>
          <p:cNvPr id="16" name="Shape 14"/>
          <p:cNvSpPr/>
          <p:nvPr/>
        </p:nvSpPr>
        <p:spPr>
          <a:xfrm>
            <a:off x="6492240" y="1554480"/>
            <a:ext cx="5120640" cy="4480560"/>
          </a:xfrm>
          <a:prstGeom prst="roundRect">
            <a:avLst>
              <a:gd name="adj" fmla="val 1633"/>
            </a:avLst>
          </a:prstGeom>
          <a:solidFill>
            <a:srgbClr val="F4EFEA"/>
          </a:solidFill>
          <a:ln/>
        </p:spPr>
        <p:txBody>
          <a:bodyPr/>
          <a:lstStyle/>
          <a:p>
            <a:endParaRPr lang="en-US"/>
          </a:p>
        </p:txBody>
      </p:sp>
      <p:sp>
        <p:nvSpPr>
          <p:cNvPr id="17" name="Text 15"/>
          <p:cNvSpPr/>
          <p:nvPr/>
        </p:nvSpPr>
        <p:spPr>
          <a:xfrm>
            <a:off x="6766560" y="1737360"/>
            <a:ext cx="4572000" cy="274320"/>
          </a:xfrm>
          <a:prstGeom prst="rect">
            <a:avLst/>
          </a:prstGeom>
          <a:noFill/>
          <a:ln/>
        </p:spPr>
        <p:txBody>
          <a:bodyPr wrap="square" rtlCol="0" anchor="ctr"/>
          <a:lstStyle/>
          <a:p>
            <a:pPr marL="0" indent="0">
              <a:buNone/>
            </a:pPr>
            <a:r>
              <a:rPr lang="en-US" sz="1050" b="1" kern="0" spc="150" dirty="0">
                <a:solidFill>
                  <a:srgbClr val="B7A99C"/>
                </a:solidFill>
                <a:latin typeface="Arial" pitchFamily="34" charset="0"/>
                <a:ea typeface="Arial" pitchFamily="34" charset="-122"/>
                <a:cs typeface="Arial" pitchFamily="34" charset="-120"/>
              </a:rPr>
              <a:t>A SINGLE STEP, WITH ALTERNATIVES</a:t>
            </a:r>
            <a:endParaRPr lang="en-US" sz="1050" dirty="0"/>
          </a:p>
        </p:txBody>
      </p:sp>
      <p:sp>
        <p:nvSpPr>
          <p:cNvPr id="18" name="Shape 16"/>
          <p:cNvSpPr/>
          <p:nvPr/>
        </p:nvSpPr>
        <p:spPr>
          <a:xfrm>
            <a:off x="7040880" y="3017520"/>
            <a:ext cx="640080" cy="1554480"/>
          </a:xfrm>
          <a:prstGeom prst="line">
            <a:avLst/>
          </a:prstGeom>
          <a:noFill/>
          <a:ln w="19050">
            <a:solidFill>
              <a:srgbClr val="8C7C6E"/>
            </a:solidFill>
            <a:prstDash val="solid"/>
          </a:ln>
        </p:spPr>
        <p:txBody>
          <a:bodyPr/>
          <a:lstStyle/>
          <a:p>
            <a:endParaRPr lang="en-US"/>
          </a:p>
        </p:txBody>
      </p:sp>
      <p:sp>
        <p:nvSpPr>
          <p:cNvPr id="19" name="Shape 17"/>
          <p:cNvSpPr/>
          <p:nvPr/>
        </p:nvSpPr>
        <p:spPr>
          <a:xfrm>
            <a:off x="6995160" y="2971800"/>
            <a:ext cx="91440" cy="91440"/>
          </a:xfrm>
          <a:prstGeom prst="ellipse">
            <a:avLst/>
          </a:prstGeom>
          <a:solidFill>
            <a:srgbClr val="FFCA08"/>
          </a:solidFill>
          <a:ln/>
        </p:spPr>
        <p:txBody>
          <a:bodyPr/>
          <a:lstStyle/>
          <a:p>
            <a:endParaRPr lang="en-US"/>
          </a:p>
        </p:txBody>
      </p:sp>
      <p:sp>
        <p:nvSpPr>
          <p:cNvPr id="20" name="Shape 18"/>
          <p:cNvSpPr/>
          <p:nvPr/>
        </p:nvSpPr>
        <p:spPr>
          <a:xfrm>
            <a:off x="7680960" y="4572000"/>
            <a:ext cx="3291840" cy="0"/>
          </a:xfrm>
          <a:prstGeom prst="line">
            <a:avLst/>
          </a:prstGeom>
          <a:noFill/>
          <a:ln w="15875">
            <a:solidFill>
              <a:srgbClr val="C9BDB2"/>
            </a:solidFill>
            <a:prstDash val="dash"/>
          </a:ln>
        </p:spPr>
        <p:txBody>
          <a:bodyPr/>
          <a:lstStyle/>
          <a:p>
            <a:endParaRPr lang="en-US"/>
          </a:p>
        </p:txBody>
      </p:sp>
      <p:sp>
        <p:nvSpPr>
          <p:cNvPr id="21" name="Shape 19"/>
          <p:cNvSpPr/>
          <p:nvPr/>
        </p:nvSpPr>
        <p:spPr>
          <a:xfrm>
            <a:off x="10917936" y="3511296"/>
            <a:ext cx="91440" cy="91440"/>
          </a:xfrm>
          <a:prstGeom prst="ellipse">
            <a:avLst/>
          </a:prstGeom>
          <a:solidFill>
            <a:srgbClr val="FFFFFF"/>
          </a:solidFill>
          <a:ln w="12700">
            <a:solidFill>
              <a:srgbClr val="B7A99C"/>
            </a:solidFill>
            <a:prstDash val="solid"/>
          </a:ln>
        </p:spPr>
        <p:txBody>
          <a:bodyPr/>
          <a:lstStyle/>
          <a:p>
            <a:endParaRPr lang="en-US"/>
          </a:p>
        </p:txBody>
      </p:sp>
      <p:sp>
        <p:nvSpPr>
          <p:cNvPr id="22" name="Shape 20"/>
          <p:cNvSpPr/>
          <p:nvPr/>
        </p:nvSpPr>
        <p:spPr>
          <a:xfrm>
            <a:off x="7680960" y="4572000"/>
            <a:ext cx="3566160" cy="0"/>
          </a:xfrm>
          <a:prstGeom prst="line">
            <a:avLst/>
          </a:prstGeom>
          <a:noFill/>
          <a:ln w="15875">
            <a:solidFill>
              <a:srgbClr val="C9BDB2"/>
            </a:solidFill>
            <a:prstDash val="dash"/>
          </a:ln>
        </p:spPr>
        <p:txBody>
          <a:bodyPr/>
          <a:lstStyle/>
          <a:p>
            <a:endParaRPr lang="en-US"/>
          </a:p>
        </p:txBody>
      </p:sp>
      <p:sp>
        <p:nvSpPr>
          <p:cNvPr id="23" name="Shape 21"/>
          <p:cNvSpPr/>
          <p:nvPr/>
        </p:nvSpPr>
        <p:spPr>
          <a:xfrm>
            <a:off x="11192256" y="4425696"/>
            <a:ext cx="91440" cy="91440"/>
          </a:xfrm>
          <a:prstGeom prst="ellipse">
            <a:avLst/>
          </a:prstGeom>
          <a:solidFill>
            <a:srgbClr val="FFFFFF"/>
          </a:solidFill>
          <a:ln w="12700">
            <a:solidFill>
              <a:srgbClr val="B7A99C"/>
            </a:solidFill>
            <a:prstDash val="solid"/>
          </a:ln>
        </p:spPr>
        <p:txBody>
          <a:bodyPr/>
          <a:lstStyle/>
          <a:p>
            <a:endParaRPr lang="en-US"/>
          </a:p>
        </p:txBody>
      </p:sp>
      <p:sp>
        <p:nvSpPr>
          <p:cNvPr id="24" name="Shape 22"/>
          <p:cNvSpPr/>
          <p:nvPr/>
        </p:nvSpPr>
        <p:spPr>
          <a:xfrm>
            <a:off x="7680960" y="4572000"/>
            <a:ext cx="3383280" cy="822960"/>
          </a:xfrm>
          <a:prstGeom prst="line">
            <a:avLst/>
          </a:prstGeom>
          <a:noFill/>
          <a:ln w="15875">
            <a:solidFill>
              <a:srgbClr val="C9BDB2"/>
            </a:solidFill>
            <a:prstDash val="dash"/>
          </a:ln>
        </p:spPr>
        <p:txBody>
          <a:bodyPr/>
          <a:lstStyle/>
          <a:p>
            <a:endParaRPr lang="en-US"/>
          </a:p>
        </p:txBody>
      </p:sp>
      <p:sp>
        <p:nvSpPr>
          <p:cNvPr id="25" name="Shape 23"/>
          <p:cNvSpPr/>
          <p:nvPr/>
        </p:nvSpPr>
        <p:spPr>
          <a:xfrm>
            <a:off x="11009376" y="5340096"/>
            <a:ext cx="91440" cy="91440"/>
          </a:xfrm>
          <a:prstGeom prst="ellipse">
            <a:avLst/>
          </a:prstGeom>
          <a:solidFill>
            <a:srgbClr val="FFFFFF"/>
          </a:solidFill>
          <a:ln w="12700">
            <a:solidFill>
              <a:srgbClr val="B7A99C"/>
            </a:solidFill>
            <a:prstDash val="solid"/>
          </a:ln>
        </p:spPr>
        <p:txBody>
          <a:bodyPr/>
          <a:lstStyle/>
          <a:p>
            <a:endParaRPr lang="en-US"/>
          </a:p>
        </p:txBody>
      </p:sp>
      <p:sp>
        <p:nvSpPr>
          <p:cNvPr id="26" name="Shape 24"/>
          <p:cNvSpPr/>
          <p:nvPr/>
        </p:nvSpPr>
        <p:spPr>
          <a:xfrm>
            <a:off x="7680960" y="4572000"/>
            <a:ext cx="2926080" cy="1463040"/>
          </a:xfrm>
          <a:prstGeom prst="line">
            <a:avLst/>
          </a:prstGeom>
          <a:noFill/>
          <a:ln w="15875">
            <a:solidFill>
              <a:srgbClr val="C9BDB2"/>
            </a:solidFill>
            <a:prstDash val="dash"/>
          </a:ln>
        </p:spPr>
        <p:txBody>
          <a:bodyPr/>
          <a:lstStyle/>
          <a:p>
            <a:endParaRPr lang="en-US"/>
          </a:p>
        </p:txBody>
      </p:sp>
      <p:sp>
        <p:nvSpPr>
          <p:cNvPr id="27" name="Shape 25"/>
          <p:cNvSpPr/>
          <p:nvPr/>
        </p:nvSpPr>
        <p:spPr>
          <a:xfrm>
            <a:off x="10552176" y="5980176"/>
            <a:ext cx="91440" cy="91440"/>
          </a:xfrm>
          <a:prstGeom prst="ellipse">
            <a:avLst/>
          </a:prstGeom>
          <a:solidFill>
            <a:srgbClr val="FFFFFF"/>
          </a:solidFill>
          <a:ln w="12700">
            <a:solidFill>
              <a:srgbClr val="B7A99C"/>
            </a:solidFill>
            <a:prstDash val="solid"/>
          </a:ln>
        </p:spPr>
        <p:txBody>
          <a:bodyPr/>
          <a:lstStyle/>
          <a:p>
            <a:endParaRPr lang="en-US"/>
          </a:p>
        </p:txBody>
      </p:sp>
      <p:sp>
        <p:nvSpPr>
          <p:cNvPr id="28" name="Shape 26"/>
          <p:cNvSpPr/>
          <p:nvPr/>
        </p:nvSpPr>
        <p:spPr>
          <a:xfrm>
            <a:off x="7680960" y="4572000"/>
            <a:ext cx="2377440" cy="0"/>
          </a:xfrm>
          <a:prstGeom prst="line">
            <a:avLst/>
          </a:prstGeom>
          <a:noFill/>
          <a:ln w="15875">
            <a:solidFill>
              <a:srgbClr val="C9BDB2"/>
            </a:solidFill>
            <a:prstDash val="dash"/>
          </a:ln>
        </p:spPr>
        <p:txBody>
          <a:bodyPr/>
          <a:lstStyle/>
          <a:p>
            <a:endParaRPr lang="en-US"/>
          </a:p>
        </p:txBody>
      </p:sp>
      <p:sp>
        <p:nvSpPr>
          <p:cNvPr id="29" name="Shape 27"/>
          <p:cNvSpPr/>
          <p:nvPr/>
        </p:nvSpPr>
        <p:spPr>
          <a:xfrm>
            <a:off x="10003536" y="3328416"/>
            <a:ext cx="91440" cy="91440"/>
          </a:xfrm>
          <a:prstGeom prst="ellipse">
            <a:avLst/>
          </a:prstGeom>
          <a:solidFill>
            <a:srgbClr val="FFFFFF"/>
          </a:solidFill>
          <a:ln w="12700">
            <a:solidFill>
              <a:srgbClr val="B7A99C"/>
            </a:solidFill>
            <a:prstDash val="solid"/>
          </a:ln>
        </p:spPr>
        <p:txBody>
          <a:bodyPr/>
          <a:lstStyle/>
          <a:p>
            <a:endParaRPr lang="en-US"/>
          </a:p>
        </p:txBody>
      </p:sp>
      <p:sp>
        <p:nvSpPr>
          <p:cNvPr id="30" name="Shape 28"/>
          <p:cNvSpPr/>
          <p:nvPr/>
        </p:nvSpPr>
        <p:spPr>
          <a:xfrm>
            <a:off x="7680960" y="4572000"/>
            <a:ext cx="2011680" cy="1645920"/>
          </a:xfrm>
          <a:prstGeom prst="line">
            <a:avLst/>
          </a:prstGeom>
          <a:noFill/>
          <a:ln w="15875">
            <a:solidFill>
              <a:srgbClr val="C9BDB2"/>
            </a:solidFill>
            <a:prstDash val="dash"/>
          </a:ln>
        </p:spPr>
        <p:txBody>
          <a:bodyPr/>
          <a:lstStyle/>
          <a:p>
            <a:endParaRPr lang="en-US"/>
          </a:p>
        </p:txBody>
      </p:sp>
      <p:sp>
        <p:nvSpPr>
          <p:cNvPr id="31" name="Shape 29"/>
          <p:cNvSpPr/>
          <p:nvPr/>
        </p:nvSpPr>
        <p:spPr>
          <a:xfrm>
            <a:off x="9637776" y="6163056"/>
            <a:ext cx="91440" cy="91440"/>
          </a:xfrm>
          <a:prstGeom prst="ellipse">
            <a:avLst/>
          </a:prstGeom>
          <a:solidFill>
            <a:srgbClr val="FFFFFF"/>
          </a:solidFill>
          <a:ln w="12700">
            <a:solidFill>
              <a:srgbClr val="B7A99C"/>
            </a:solidFill>
            <a:prstDash val="solid"/>
          </a:ln>
        </p:spPr>
        <p:txBody>
          <a:bodyPr/>
          <a:lstStyle/>
          <a:p>
            <a:endParaRPr lang="en-US"/>
          </a:p>
        </p:txBody>
      </p:sp>
      <p:sp>
        <p:nvSpPr>
          <p:cNvPr id="32" name="Shape 30"/>
          <p:cNvSpPr/>
          <p:nvPr/>
        </p:nvSpPr>
        <p:spPr>
          <a:xfrm>
            <a:off x="7680960" y="4572000"/>
            <a:ext cx="3017520" cy="0"/>
          </a:xfrm>
          <a:prstGeom prst="line">
            <a:avLst/>
          </a:prstGeom>
          <a:noFill/>
          <a:ln w="34925">
            <a:solidFill>
              <a:srgbClr val="E64823"/>
            </a:solidFill>
            <a:prstDash val="solid"/>
          </a:ln>
        </p:spPr>
        <p:txBody>
          <a:bodyPr/>
          <a:lstStyle/>
          <a:p>
            <a:endParaRPr lang="en-US"/>
          </a:p>
        </p:txBody>
      </p:sp>
      <p:sp>
        <p:nvSpPr>
          <p:cNvPr id="33" name="Shape 31"/>
          <p:cNvSpPr/>
          <p:nvPr/>
        </p:nvSpPr>
        <p:spPr>
          <a:xfrm>
            <a:off x="7616952" y="4507992"/>
            <a:ext cx="128016" cy="128016"/>
          </a:xfrm>
          <a:prstGeom prst="ellipse">
            <a:avLst/>
          </a:prstGeom>
          <a:solidFill>
            <a:srgbClr val="39302A"/>
          </a:solidFill>
          <a:ln/>
        </p:spPr>
        <p:txBody>
          <a:bodyPr/>
          <a:lstStyle/>
          <a:p>
            <a:endParaRPr lang="en-US"/>
          </a:p>
        </p:txBody>
      </p:sp>
      <p:sp>
        <p:nvSpPr>
          <p:cNvPr id="34" name="Shape 32"/>
          <p:cNvSpPr/>
          <p:nvPr/>
        </p:nvSpPr>
        <p:spPr>
          <a:xfrm>
            <a:off x="10634472" y="4325112"/>
            <a:ext cx="128016" cy="128016"/>
          </a:xfrm>
          <a:prstGeom prst="ellipse">
            <a:avLst/>
          </a:prstGeom>
          <a:solidFill>
            <a:srgbClr val="E64823"/>
          </a:solidFill>
          <a:ln/>
        </p:spPr>
        <p:txBody>
          <a:bodyPr/>
          <a:lstStyle/>
          <a:p>
            <a:endParaRPr lang="en-US"/>
          </a:p>
        </p:txBody>
      </p:sp>
      <p:sp>
        <p:nvSpPr>
          <p:cNvPr id="35" name="Shape 33"/>
          <p:cNvSpPr/>
          <p:nvPr/>
        </p:nvSpPr>
        <p:spPr>
          <a:xfrm>
            <a:off x="6766560" y="5532120"/>
            <a:ext cx="320040" cy="0"/>
          </a:xfrm>
          <a:prstGeom prst="line">
            <a:avLst/>
          </a:prstGeom>
          <a:noFill/>
          <a:ln w="34925">
            <a:solidFill>
              <a:srgbClr val="E64823"/>
            </a:solidFill>
            <a:prstDash val="solid"/>
          </a:ln>
        </p:spPr>
        <p:txBody>
          <a:bodyPr/>
          <a:lstStyle/>
          <a:p>
            <a:endParaRPr lang="en-US"/>
          </a:p>
        </p:txBody>
      </p:sp>
      <p:sp>
        <p:nvSpPr>
          <p:cNvPr id="36" name="Text 34"/>
          <p:cNvSpPr/>
          <p:nvPr/>
        </p:nvSpPr>
        <p:spPr>
          <a:xfrm>
            <a:off x="7178040" y="5413248"/>
            <a:ext cx="1188720" cy="274320"/>
          </a:xfrm>
          <a:prstGeom prst="rect">
            <a:avLst/>
          </a:prstGeom>
          <a:noFill/>
          <a:ln/>
        </p:spPr>
        <p:txBody>
          <a:bodyPr wrap="square" rtlCol="0" anchor="ctr"/>
          <a:lstStyle/>
          <a:p>
            <a:pPr marL="0" indent="0">
              <a:buNone/>
            </a:pPr>
            <a:r>
              <a:rPr lang="en-US" sz="1050" dirty="0">
                <a:solidFill>
                  <a:srgbClr val="6B5A50"/>
                </a:solidFill>
                <a:latin typeface="Arial" pitchFamily="34" charset="0"/>
                <a:ea typeface="Arial" pitchFamily="34" charset="-122"/>
                <a:cs typeface="Arial" pitchFamily="34" charset="-120"/>
              </a:rPr>
              <a:t>used step</a:t>
            </a:r>
            <a:endParaRPr lang="en-US" sz="1050" dirty="0"/>
          </a:p>
        </p:txBody>
      </p:sp>
      <p:sp>
        <p:nvSpPr>
          <p:cNvPr id="37" name="Shape 35"/>
          <p:cNvSpPr/>
          <p:nvPr/>
        </p:nvSpPr>
        <p:spPr>
          <a:xfrm>
            <a:off x="8595360" y="5532120"/>
            <a:ext cx="320040" cy="0"/>
          </a:xfrm>
          <a:prstGeom prst="line">
            <a:avLst/>
          </a:prstGeom>
          <a:noFill/>
          <a:ln w="15875">
            <a:solidFill>
              <a:srgbClr val="C9BDB2"/>
            </a:solidFill>
            <a:prstDash val="dash"/>
          </a:ln>
        </p:spPr>
        <p:txBody>
          <a:bodyPr/>
          <a:lstStyle/>
          <a:p>
            <a:endParaRPr lang="en-US"/>
          </a:p>
        </p:txBody>
      </p:sp>
      <p:sp>
        <p:nvSpPr>
          <p:cNvPr id="38" name="Text 36"/>
          <p:cNvSpPr/>
          <p:nvPr/>
        </p:nvSpPr>
        <p:spPr>
          <a:xfrm>
            <a:off x="9006840" y="5413248"/>
            <a:ext cx="2377440" cy="274320"/>
          </a:xfrm>
          <a:prstGeom prst="rect">
            <a:avLst/>
          </a:prstGeom>
          <a:noFill/>
          <a:ln/>
        </p:spPr>
        <p:txBody>
          <a:bodyPr wrap="square" rtlCol="0" anchor="ctr"/>
          <a:lstStyle/>
          <a:p>
            <a:pPr marL="0" indent="0">
              <a:buNone/>
            </a:pPr>
            <a:r>
              <a:rPr lang="en-US" sz="1050" dirty="0">
                <a:solidFill>
                  <a:srgbClr val="6B5A50"/>
                </a:solidFill>
                <a:latin typeface="Arial" pitchFamily="34" charset="0"/>
                <a:ea typeface="Arial" pitchFamily="34" charset="-122"/>
                <a:cs typeface="Arial" pitchFamily="34" charset="-120"/>
              </a:rPr>
              <a:t>available step</a:t>
            </a:r>
            <a:endParaRPr lang="en-US" sz="1050" dirty="0"/>
          </a:p>
        </p:txBody>
      </p:sp>
      <p:sp>
        <p:nvSpPr>
          <p:cNvPr id="39" name="Text 37"/>
          <p:cNvSpPr/>
          <p:nvPr/>
        </p:nvSpPr>
        <p:spPr>
          <a:xfrm>
            <a:off x="548640" y="6473952"/>
            <a:ext cx="7315200" cy="274320"/>
          </a:xfrm>
          <a:prstGeom prst="rect">
            <a:avLst/>
          </a:prstGeom>
          <a:noFill/>
          <a:ln/>
        </p:spPr>
        <p:txBody>
          <a:bodyPr wrap="square" rtlCol="0" anchor="ctr"/>
          <a:lstStyle/>
          <a:p>
            <a:pPr marL="0" indent="0">
              <a:buNone/>
            </a:pPr>
            <a:r>
              <a:rPr lang="en-US" sz="1000" i="1" dirty="0">
                <a:solidFill>
                  <a:srgbClr val="A89A8C"/>
                </a:solidFill>
                <a:latin typeface="Arial" pitchFamily="34" charset="0"/>
                <a:ea typeface="Arial" pitchFamily="34" charset="-122"/>
                <a:cs typeface="Arial" pitchFamily="34" charset="-120"/>
              </a:rPr>
              <a:t>SSF: availability is conditioned on the animal's last position</a:t>
            </a:r>
            <a:endParaRPr lang="en-US" sz="1000" dirty="0"/>
          </a:p>
        </p:txBody>
      </p:sp>
      <p:sp>
        <p:nvSpPr>
          <p:cNvPr id="40" name="Text 38"/>
          <p:cNvSpPr/>
          <p:nvPr/>
        </p:nvSpPr>
        <p:spPr>
          <a:xfrm>
            <a:off x="9357055" y="6473952"/>
            <a:ext cx="2286000" cy="274320"/>
          </a:xfrm>
          <a:prstGeom prst="rect">
            <a:avLst/>
          </a:prstGeom>
          <a:noFill/>
          <a:ln/>
        </p:spPr>
        <p:txBody>
          <a:bodyPr wrap="square" rtlCol="0" anchor="ctr"/>
          <a:lstStyle/>
          <a:p>
            <a:pPr marL="0" indent="0" algn="r">
              <a:buNone/>
            </a:pPr>
            <a:r>
              <a:rPr lang="en-US" sz="1000" dirty="0">
                <a:solidFill>
                  <a:srgbClr val="A89A8C"/>
                </a:solidFill>
                <a:latin typeface="Arial" pitchFamily="34" charset="0"/>
                <a:ea typeface="Arial" pitchFamily="34" charset="-122"/>
                <a:cs typeface="Arial" pitchFamily="34" charset="-120"/>
              </a:rPr>
              <a:t>RSF vs. SSF</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200" dirty="0">
                <a:solidFill>
                  <a:srgbClr val="F8931D"/>
                </a:solidFill>
                <a:latin typeface="Arial" pitchFamily="34" charset="0"/>
                <a:ea typeface="Arial" pitchFamily="34" charset="-122"/>
                <a:cs typeface="Arial" pitchFamily="34" charset="-120"/>
              </a:rPr>
              <a:t>AT A GLANCE</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2800" b="1" dirty="0">
                <a:solidFill>
                  <a:srgbClr val="39302A"/>
                </a:solidFill>
                <a:latin typeface="Arial" pitchFamily="34" charset="0"/>
                <a:ea typeface="Arial" pitchFamily="34" charset="-122"/>
                <a:cs typeface="Arial" pitchFamily="34" charset="-120"/>
              </a:rPr>
              <a:t>RSF and SSF, side by side</a:t>
            </a:r>
            <a:endParaRPr lang="en-US" sz="2800" dirty="0"/>
          </a:p>
        </p:txBody>
      </p:sp>
      <p:sp>
        <p:nvSpPr>
          <p:cNvPr id="4" name="Shape 2"/>
          <p:cNvSpPr/>
          <p:nvPr/>
        </p:nvSpPr>
        <p:spPr>
          <a:xfrm>
            <a:off x="548640" y="1600200"/>
            <a:ext cx="5212080" cy="4434840"/>
          </a:xfrm>
          <a:prstGeom prst="roundRect">
            <a:avLst>
              <a:gd name="adj" fmla="val 1649"/>
            </a:avLst>
          </a:prstGeom>
          <a:solidFill>
            <a:srgbClr val="F4EFEA"/>
          </a:solidFill>
          <a:ln/>
        </p:spPr>
        <p:txBody>
          <a:bodyPr/>
          <a:lstStyle/>
          <a:p>
            <a:endParaRPr lang="en-US"/>
          </a:p>
        </p:txBody>
      </p:sp>
      <p:sp>
        <p:nvSpPr>
          <p:cNvPr id="5" name="Shape 3"/>
          <p:cNvSpPr/>
          <p:nvPr/>
        </p:nvSpPr>
        <p:spPr>
          <a:xfrm>
            <a:off x="868680" y="1874520"/>
            <a:ext cx="1371600" cy="502920"/>
          </a:xfrm>
          <a:prstGeom prst="roundRect">
            <a:avLst>
              <a:gd name="adj" fmla="val 10909"/>
            </a:avLst>
          </a:prstGeom>
          <a:solidFill>
            <a:srgbClr val="F8931D"/>
          </a:solidFill>
          <a:ln/>
        </p:spPr>
        <p:txBody>
          <a:bodyPr/>
          <a:lstStyle/>
          <a:p>
            <a:endParaRPr lang="en-US"/>
          </a:p>
        </p:txBody>
      </p:sp>
      <p:sp>
        <p:nvSpPr>
          <p:cNvPr id="6" name="Text 4"/>
          <p:cNvSpPr/>
          <p:nvPr/>
        </p:nvSpPr>
        <p:spPr>
          <a:xfrm>
            <a:off x="868680" y="1874520"/>
            <a:ext cx="1371600" cy="50292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RSF</a:t>
            </a:r>
            <a:endParaRPr lang="en-US" sz="1800" dirty="0"/>
          </a:p>
        </p:txBody>
      </p:sp>
      <p:sp>
        <p:nvSpPr>
          <p:cNvPr id="7" name="Text 5"/>
          <p:cNvSpPr/>
          <p:nvPr/>
        </p:nvSpPr>
        <p:spPr>
          <a:xfrm>
            <a:off x="868680" y="2651760"/>
            <a:ext cx="4572000" cy="256032"/>
          </a:xfrm>
          <a:prstGeom prst="rect">
            <a:avLst/>
          </a:prstGeom>
          <a:noFill/>
          <a:ln/>
        </p:spPr>
        <p:txBody>
          <a:bodyPr wrap="square" rtlCol="0" anchor="ctr"/>
          <a:lstStyle/>
          <a:p>
            <a:pPr marL="0" indent="0">
              <a:buNone/>
            </a:pPr>
            <a:r>
              <a:rPr lang="en-US" sz="950" b="1" kern="0" spc="100" dirty="0">
                <a:solidFill>
                  <a:srgbClr val="F8931D"/>
                </a:solidFill>
                <a:latin typeface="Arial" pitchFamily="34" charset="0"/>
                <a:ea typeface="Arial" pitchFamily="34" charset="-122"/>
                <a:cs typeface="Arial" pitchFamily="34" charset="-120"/>
              </a:rPr>
              <a:t>UNIT OF ANALYSIS</a:t>
            </a:r>
            <a:endParaRPr lang="en-US" sz="950" dirty="0"/>
          </a:p>
        </p:txBody>
      </p:sp>
      <p:sp>
        <p:nvSpPr>
          <p:cNvPr id="8" name="Text 6"/>
          <p:cNvSpPr/>
          <p:nvPr/>
        </p:nvSpPr>
        <p:spPr>
          <a:xfrm>
            <a:off x="868680" y="2889504"/>
            <a:ext cx="4572000" cy="411480"/>
          </a:xfrm>
          <a:prstGeom prst="rect">
            <a:avLst/>
          </a:prstGeom>
          <a:noFill/>
          <a:ln/>
        </p:spPr>
        <p:txBody>
          <a:bodyPr wrap="square" rtlCol="0" anchor="ctr"/>
          <a:lstStyle/>
          <a:p>
            <a:pPr marL="0" indent="0">
              <a:buNone/>
            </a:pPr>
            <a:r>
              <a:rPr lang="en-US" sz="1250" dirty="0">
                <a:solidFill>
                  <a:srgbClr val="39302A"/>
                </a:solidFill>
                <a:latin typeface="Arial" pitchFamily="34" charset="0"/>
                <a:ea typeface="Arial" pitchFamily="34" charset="-122"/>
                <a:cs typeface="Arial" pitchFamily="34" charset="-120"/>
              </a:rPr>
              <a:t>individual point locations</a:t>
            </a:r>
            <a:endParaRPr lang="en-US" sz="1250" dirty="0"/>
          </a:p>
        </p:txBody>
      </p:sp>
      <p:sp>
        <p:nvSpPr>
          <p:cNvPr id="9" name="Text 7"/>
          <p:cNvSpPr/>
          <p:nvPr/>
        </p:nvSpPr>
        <p:spPr>
          <a:xfrm>
            <a:off x="868680" y="3337560"/>
            <a:ext cx="4572000" cy="256032"/>
          </a:xfrm>
          <a:prstGeom prst="rect">
            <a:avLst/>
          </a:prstGeom>
          <a:noFill/>
          <a:ln/>
        </p:spPr>
        <p:txBody>
          <a:bodyPr wrap="square" rtlCol="0" anchor="ctr"/>
          <a:lstStyle/>
          <a:p>
            <a:pPr marL="0" indent="0">
              <a:buNone/>
            </a:pPr>
            <a:r>
              <a:rPr lang="en-US" sz="950" b="1" kern="0" spc="100" dirty="0">
                <a:solidFill>
                  <a:srgbClr val="F8931D"/>
                </a:solidFill>
                <a:latin typeface="Arial" pitchFamily="34" charset="0"/>
                <a:ea typeface="Arial" pitchFamily="34" charset="-122"/>
                <a:cs typeface="Arial" pitchFamily="34" charset="-120"/>
              </a:rPr>
              <a:t>“AVAILABLE” DEFINED BY</a:t>
            </a:r>
            <a:endParaRPr lang="en-US" sz="950" dirty="0"/>
          </a:p>
        </p:txBody>
      </p:sp>
      <p:sp>
        <p:nvSpPr>
          <p:cNvPr id="10" name="Text 8"/>
          <p:cNvSpPr/>
          <p:nvPr/>
        </p:nvSpPr>
        <p:spPr>
          <a:xfrm>
            <a:off x="868680" y="3575304"/>
            <a:ext cx="4572000" cy="411480"/>
          </a:xfrm>
          <a:prstGeom prst="rect">
            <a:avLst/>
          </a:prstGeom>
          <a:noFill/>
          <a:ln/>
        </p:spPr>
        <p:txBody>
          <a:bodyPr wrap="square" rtlCol="0" anchor="ctr"/>
          <a:lstStyle/>
          <a:p>
            <a:pPr marL="0" indent="0">
              <a:buNone/>
            </a:pPr>
            <a:r>
              <a:rPr lang="en-US" sz="1250" dirty="0">
                <a:solidFill>
                  <a:srgbClr val="39302A"/>
                </a:solidFill>
                <a:latin typeface="Arial" pitchFamily="34" charset="0"/>
                <a:ea typeface="Arial" pitchFamily="34" charset="-122"/>
                <a:cs typeface="Arial" pitchFamily="34" charset="-120"/>
              </a:rPr>
              <a:t>the home range / study area</a:t>
            </a:r>
            <a:endParaRPr lang="en-US" sz="1250" dirty="0"/>
          </a:p>
        </p:txBody>
      </p:sp>
      <p:sp>
        <p:nvSpPr>
          <p:cNvPr id="11" name="Text 9"/>
          <p:cNvSpPr/>
          <p:nvPr/>
        </p:nvSpPr>
        <p:spPr>
          <a:xfrm>
            <a:off x="868680" y="4023360"/>
            <a:ext cx="4572000" cy="256032"/>
          </a:xfrm>
          <a:prstGeom prst="rect">
            <a:avLst/>
          </a:prstGeom>
          <a:noFill/>
          <a:ln/>
        </p:spPr>
        <p:txBody>
          <a:bodyPr wrap="square" rtlCol="0" anchor="ctr"/>
          <a:lstStyle/>
          <a:p>
            <a:pPr marL="0" indent="0">
              <a:buNone/>
            </a:pPr>
            <a:r>
              <a:rPr lang="en-US" sz="950" b="1" kern="0" spc="100" dirty="0">
                <a:solidFill>
                  <a:srgbClr val="F8931D"/>
                </a:solidFill>
                <a:latin typeface="Arial" pitchFamily="34" charset="0"/>
                <a:ea typeface="Arial" pitchFamily="34" charset="-122"/>
                <a:cs typeface="Arial" pitchFamily="34" charset="-120"/>
              </a:rPr>
              <a:t>CORE QUESTION</a:t>
            </a:r>
            <a:endParaRPr lang="en-US" sz="950" dirty="0"/>
          </a:p>
        </p:txBody>
      </p:sp>
      <p:sp>
        <p:nvSpPr>
          <p:cNvPr id="12" name="Text 10"/>
          <p:cNvSpPr/>
          <p:nvPr/>
        </p:nvSpPr>
        <p:spPr>
          <a:xfrm>
            <a:off x="868680" y="4261104"/>
            <a:ext cx="4572000" cy="411480"/>
          </a:xfrm>
          <a:prstGeom prst="rect">
            <a:avLst/>
          </a:prstGeom>
          <a:noFill/>
          <a:ln/>
        </p:spPr>
        <p:txBody>
          <a:bodyPr wrap="square" rtlCol="0" anchor="ctr"/>
          <a:lstStyle/>
          <a:p>
            <a:pPr marL="0" indent="0">
              <a:buNone/>
            </a:pPr>
            <a:r>
              <a:rPr lang="en-US" sz="1250" dirty="0">
                <a:solidFill>
                  <a:srgbClr val="39302A"/>
                </a:solidFill>
                <a:latin typeface="Arial" pitchFamily="34" charset="0"/>
                <a:ea typeface="Arial" pitchFamily="34" charset="-122"/>
                <a:cs typeface="Arial" pitchFamily="34" charset="-120"/>
              </a:rPr>
              <a:t>where is the animal, given what's on offer?</a:t>
            </a:r>
            <a:endParaRPr lang="en-US" sz="1250" dirty="0"/>
          </a:p>
        </p:txBody>
      </p:sp>
      <p:sp>
        <p:nvSpPr>
          <p:cNvPr id="13" name="Text 11"/>
          <p:cNvSpPr/>
          <p:nvPr/>
        </p:nvSpPr>
        <p:spPr>
          <a:xfrm>
            <a:off x="868680" y="4709160"/>
            <a:ext cx="4572000" cy="256032"/>
          </a:xfrm>
          <a:prstGeom prst="rect">
            <a:avLst/>
          </a:prstGeom>
          <a:noFill/>
          <a:ln/>
        </p:spPr>
        <p:txBody>
          <a:bodyPr wrap="square" rtlCol="0" anchor="ctr"/>
          <a:lstStyle/>
          <a:p>
            <a:pPr marL="0" indent="0">
              <a:buNone/>
            </a:pPr>
            <a:r>
              <a:rPr lang="en-US" sz="950" b="1" kern="0" spc="100" dirty="0">
                <a:solidFill>
                  <a:srgbClr val="F8931D"/>
                </a:solidFill>
                <a:latin typeface="Arial" pitchFamily="34" charset="0"/>
                <a:ea typeface="Arial" pitchFamily="34" charset="-122"/>
                <a:cs typeface="Arial" pitchFamily="34" charset="-120"/>
              </a:rPr>
              <a:t>MOVEMENT PROCESS</a:t>
            </a:r>
            <a:endParaRPr lang="en-US" sz="950" dirty="0"/>
          </a:p>
        </p:txBody>
      </p:sp>
      <p:sp>
        <p:nvSpPr>
          <p:cNvPr id="14" name="Text 12"/>
          <p:cNvSpPr/>
          <p:nvPr/>
        </p:nvSpPr>
        <p:spPr>
          <a:xfrm>
            <a:off x="868680" y="4946904"/>
            <a:ext cx="4572000" cy="411480"/>
          </a:xfrm>
          <a:prstGeom prst="rect">
            <a:avLst/>
          </a:prstGeom>
          <a:noFill/>
          <a:ln/>
        </p:spPr>
        <p:txBody>
          <a:bodyPr wrap="square" rtlCol="0" anchor="ctr"/>
          <a:lstStyle/>
          <a:p>
            <a:pPr marL="0" indent="0">
              <a:buNone/>
            </a:pPr>
            <a:r>
              <a:rPr lang="en-US" sz="1250" dirty="0">
                <a:solidFill>
                  <a:srgbClr val="39302A"/>
                </a:solidFill>
                <a:latin typeface="Arial" pitchFamily="34" charset="0"/>
                <a:ea typeface="Arial" pitchFamily="34" charset="-122"/>
                <a:cs typeface="Arial" pitchFamily="34" charset="-120"/>
              </a:rPr>
              <a:t>not modeled explicitly</a:t>
            </a:r>
            <a:endParaRPr lang="en-US" sz="1250" dirty="0"/>
          </a:p>
        </p:txBody>
      </p:sp>
      <p:sp>
        <p:nvSpPr>
          <p:cNvPr id="15" name="Text 13"/>
          <p:cNvSpPr/>
          <p:nvPr/>
        </p:nvSpPr>
        <p:spPr>
          <a:xfrm>
            <a:off x="868680" y="5394960"/>
            <a:ext cx="4572000" cy="256032"/>
          </a:xfrm>
          <a:prstGeom prst="rect">
            <a:avLst/>
          </a:prstGeom>
          <a:noFill/>
          <a:ln/>
        </p:spPr>
        <p:txBody>
          <a:bodyPr wrap="square" rtlCol="0" anchor="ctr"/>
          <a:lstStyle/>
          <a:p>
            <a:pPr marL="0" indent="0">
              <a:buNone/>
            </a:pPr>
            <a:r>
              <a:rPr lang="en-US" sz="950" b="1" kern="0" spc="100" dirty="0">
                <a:solidFill>
                  <a:srgbClr val="F8931D"/>
                </a:solidFill>
                <a:latin typeface="Arial" pitchFamily="34" charset="0"/>
                <a:ea typeface="Arial" pitchFamily="34" charset="-122"/>
                <a:cs typeface="Arial" pitchFamily="34" charset="-120"/>
              </a:rPr>
              <a:t>JOHNSON'S ORDER</a:t>
            </a:r>
            <a:endParaRPr lang="en-US" sz="950" dirty="0"/>
          </a:p>
        </p:txBody>
      </p:sp>
      <p:sp>
        <p:nvSpPr>
          <p:cNvPr id="16" name="Text 14"/>
          <p:cNvSpPr/>
          <p:nvPr/>
        </p:nvSpPr>
        <p:spPr>
          <a:xfrm>
            <a:off x="868680" y="5632704"/>
            <a:ext cx="4572000" cy="411480"/>
          </a:xfrm>
          <a:prstGeom prst="rect">
            <a:avLst/>
          </a:prstGeom>
          <a:noFill/>
          <a:ln/>
        </p:spPr>
        <p:txBody>
          <a:bodyPr wrap="square" rtlCol="0" anchor="ctr"/>
          <a:lstStyle/>
          <a:p>
            <a:pPr marL="0" indent="0">
              <a:buNone/>
            </a:pPr>
            <a:r>
              <a:rPr lang="en-US" sz="1250" dirty="0">
                <a:solidFill>
                  <a:srgbClr val="39302A"/>
                </a:solidFill>
                <a:latin typeface="Arial" pitchFamily="34" charset="0"/>
                <a:ea typeface="Arial" pitchFamily="34" charset="-122"/>
                <a:cs typeface="Arial" pitchFamily="34" charset="-120"/>
              </a:rPr>
              <a:t>typically 2nd–3rd</a:t>
            </a:r>
            <a:endParaRPr lang="en-US" sz="1250" dirty="0"/>
          </a:p>
        </p:txBody>
      </p:sp>
      <p:sp>
        <p:nvSpPr>
          <p:cNvPr id="17" name="Shape 15"/>
          <p:cNvSpPr/>
          <p:nvPr/>
        </p:nvSpPr>
        <p:spPr>
          <a:xfrm>
            <a:off x="6263640" y="1600200"/>
            <a:ext cx="5212080" cy="4434840"/>
          </a:xfrm>
          <a:prstGeom prst="roundRect">
            <a:avLst>
              <a:gd name="adj" fmla="val 1649"/>
            </a:avLst>
          </a:prstGeom>
          <a:solidFill>
            <a:srgbClr val="F4EFEA"/>
          </a:solidFill>
          <a:ln/>
        </p:spPr>
        <p:txBody>
          <a:bodyPr/>
          <a:lstStyle/>
          <a:p>
            <a:endParaRPr lang="en-US"/>
          </a:p>
        </p:txBody>
      </p:sp>
      <p:sp>
        <p:nvSpPr>
          <p:cNvPr id="18" name="Shape 16"/>
          <p:cNvSpPr/>
          <p:nvPr/>
        </p:nvSpPr>
        <p:spPr>
          <a:xfrm>
            <a:off x="6583680" y="1874520"/>
            <a:ext cx="1371600" cy="502920"/>
          </a:xfrm>
          <a:prstGeom prst="roundRect">
            <a:avLst>
              <a:gd name="adj" fmla="val 10909"/>
            </a:avLst>
          </a:prstGeom>
          <a:solidFill>
            <a:srgbClr val="E64823"/>
          </a:solidFill>
          <a:ln/>
        </p:spPr>
        <p:txBody>
          <a:bodyPr/>
          <a:lstStyle/>
          <a:p>
            <a:endParaRPr lang="en-US"/>
          </a:p>
        </p:txBody>
      </p:sp>
      <p:sp>
        <p:nvSpPr>
          <p:cNvPr id="19" name="Text 17"/>
          <p:cNvSpPr/>
          <p:nvPr/>
        </p:nvSpPr>
        <p:spPr>
          <a:xfrm>
            <a:off x="6583680" y="1874520"/>
            <a:ext cx="1371600" cy="50292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SSF</a:t>
            </a:r>
            <a:endParaRPr lang="en-US" sz="1800" dirty="0"/>
          </a:p>
        </p:txBody>
      </p:sp>
      <p:sp>
        <p:nvSpPr>
          <p:cNvPr id="20" name="Text 18"/>
          <p:cNvSpPr/>
          <p:nvPr/>
        </p:nvSpPr>
        <p:spPr>
          <a:xfrm>
            <a:off x="6583680" y="2651760"/>
            <a:ext cx="4572000" cy="256032"/>
          </a:xfrm>
          <a:prstGeom prst="rect">
            <a:avLst/>
          </a:prstGeom>
          <a:noFill/>
          <a:ln/>
        </p:spPr>
        <p:txBody>
          <a:bodyPr wrap="square" rtlCol="0" anchor="ctr"/>
          <a:lstStyle/>
          <a:p>
            <a:pPr marL="0" indent="0">
              <a:buNone/>
            </a:pPr>
            <a:r>
              <a:rPr lang="en-US" sz="950" b="1" kern="0" spc="100" dirty="0">
                <a:solidFill>
                  <a:srgbClr val="E64823"/>
                </a:solidFill>
                <a:latin typeface="Arial" pitchFamily="34" charset="0"/>
                <a:ea typeface="Arial" pitchFamily="34" charset="-122"/>
                <a:cs typeface="Arial" pitchFamily="34" charset="-120"/>
              </a:rPr>
              <a:t>UNIT OF ANALYSIS</a:t>
            </a:r>
            <a:endParaRPr lang="en-US" sz="950" dirty="0"/>
          </a:p>
        </p:txBody>
      </p:sp>
      <p:sp>
        <p:nvSpPr>
          <p:cNvPr id="21" name="Text 19"/>
          <p:cNvSpPr/>
          <p:nvPr/>
        </p:nvSpPr>
        <p:spPr>
          <a:xfrm>
            <a:off x="6583680" y="2889504"/>
            <a:ext cx="4572000" cy="411480"/>
          </a:xfrm>
          <a:prstGeom prst="rect">
            <a:avLst/>
          </a:prstGeom>
          <a:noFill/>
          <a:ln/>
        </p:spPr>
        <p:txBody>
          <a:bodyPr wrap="square" rtlCol="0" anchor="ctr"/>
          <a:lstStyle/>
          <a:p>
            <a:pPr marL="0" indent="0">
              <a:buNone/>
            </a:pPr>
            <a:r>
              <a:rPr lang="en-US" sz="1250" dirty="0">
                <a:solidFill>
                  <a:srgbClr val="39302A"/>
                </a:solidFill>
                <a:latin typeface="Arial" pitchFamily="34" charset="0"/>
                <a:ea typeface="Arial" pitchFamily="34" charset="-122"/>
                <a:cs typeface="Arial" pitchFamily="34" charset="-120"/>
              </a:rPr>
              <a:t>movement steps (paired locations)</a:t>
            </a:r>
            <a:endParaRPr lang="en-US" sz="1250" dirty="0"/>
          </a:p>
        </p:txBody>
      </p:sp>
      <p:sp>
        <p:nvSpPr>
          <p:cNvPr id="22" name="Text 20"/>
          <p:cNvSpPr/>
          <p:nvPr/>
        </p:nvSpPr>
        <p:spPr>
          <a:xfrm>
            <a:off x="6583680" y="3337560"/>
            <a:ext cx="4572000" cy="256032"/>
          </a:xfrm>
          <a:prstGeom prst="rect">
            <a:avLst/>
          </a:prstGeom>
          <a:noFill/>
          <a:ln/>
        </p:spPr>
        <p:txBody>
          <a:bodyPr wrap="square" rtlCol="0" anchor="ctr"/>
          <a:lstStyle/>
          <a:p>
            <a:pPr marL="0" indent="0">
              <a:buNone/>
            </a:pPr>
            <a:r>
              <a:rPr lang="en-US" sz="950" b="1" kern="0" spc="100" dirty="0">
                <a:solidFill>
                  <a:srgbClr val="E64823"/>
                </a:solidFill>
                <a:latin typeface="Arial" pitchFamily="34" charset="0"/>
                <a:ea typeface="Arial" pitchFamily="34" charset="-122"/>
                <a:cs typeface="Arial" pitchFamily="34" charset="-120"/>
              </a:rPr>
              <a:t>“AVAILABLE” DEFINED BY</a:t>
            </a:r>
            <a:endParaRPr lang="en-US" sz="950" dirty="0"/>
          </a:p>
        </p:txBody>
      </p:sp>
      <p:sp>
        <p:nvSpPr>
          <p:cNvPr id="23" name="Text 21"/>
          <p:cNvSpPr/>
          <p:nvPr/>
        </p:nvSpPr>
        <p:spPr>
          <a:xfrm>
            <a:off x="6583680" y="3575304"/>
            <a:ext cx="4572000" cy="411480"/>
          </a:xfrm>
          <a:prstGeom prst="rect">
            <a:avLst/>
          </a:prstGeom>
          <a:noFill/>
          <a:ln/>
        </p:spPr>
        <p:txBody>
          <a:bodyPr wrap="square" rtlCol="0" anchor="ctr"/>
          <a:lstStyle/>
          <a:p>
            <a:pPr marL="0" indent="0">
              <a:buNone/>
            </a:pPr>
            <a:r>
              <a:rPr lang="en-US" sz="1250" dirty="0">
                <a:solidFill>
                  <a:srgbClr val="39302A"/>
                </a:solidFill>
                <a:latin typeface="Arial" pitchFamily="34" charset="0"/>
                <a:ea typeface="Arial" pitchFamily="34" charset="-122"/>
                <a:cs typeface="Arial" pitchFamily="34" charset="-120"/>
              </a:rPr>
              <a:t>the animal's own movement kernel</a:t>
            </a:r>
            <a:endParaRPr lang="en-US" sz="1250" dirty="0"/>
          </a:p>
        </p:txBody>
      </p:sp>
      <p:sp>
        <p:nvSpPr>
          <p:cNvPr id="24" name="Text 22"/>
          <p:cNvSpPr/>
          <p:nvPr/>
        </p:nvSpPr>
        <p:spPr>
          <a:xfrm>
            <a:off x="6583680" y="4023360"/>
            <a:ext cx="4572000" cy="256032"/>
          </a:xfrm>
          <a:prstGeom prst="rect">
            <a:avLst/>
          </a:prstGeom>
          <a:noFill/>
          <a:ln/>
        </p:spPr>
        <p:txBody>
          <a:bodyPr wrap="square" rtlCol="0" anchor="ctr"/>
          <a:lstStyle/>
          <a:p>
            <a:pPr marL="0" indent="0">
              <a:buNone/>
            </a:pPr>
            <a:r>
              <a:rPr lang="en-US" sz="950" b="1" kern="0" spc="100" dirty="0">
                <a:solidFill>
                  <a:srgbClr val="E64823"/>
                </a:solidFill>
                <a:latin typeface="Arial" pitchFamily="34" charset="0"/>
                <a:ea typeface="Arial" pitchFamily="34" charset="-122"/>
                <a:cs typeface="Arial" pitchFamily="34" charset="-120"/>
              </a:rPr>
              <a:t>CORE QUESTION</a:t>
            </a:r>
            <a:endParaRPr lang="en-US" sz="950" dirty="0"/>
          </a:p>
        </p:txBody>
      </p:sp>
      <p:sp>
        <p:nvSpPr>
          <p:cNvPr id="25" name="Text 23"/>
          <p:cNvSpPr/>
          <p:nvPr/>
        </p:nvSpPr>
        <p:spPr>
          <a:xfrm>
            <a:off x="6583680" y="4261104"/>
            <a:ext cx="4572000" cy="411480"/>
          </a:xfrm>
          <a:prstGeom prst="rect">
            <a:avLst/>
          </a:prstGeom>
          <a:noFill/>
          <a:ln/>
        </p:spPr>
        <p:txBody>
          <a:bodyPr wrap="square" rtlCol="0" anchor="ctr"/>
          <a:lstStyle/>
          <a:p>
            <a:pPr marL="0" indent="0">
              <a:buNone/>
            </a:pPr>
            <a:r>
              <a:rPr lang="en-US" sz="1250" dirty="0">
                <a:solidFill>
                  <a:srgbClr val="39302A"/>
                </a:solidFill>
                <a:latin typeface="Arial" pitchFamily="34" charset="0"/>
                <a:ea typeface="Arial" pitchFamily="34" charset="-122"/>
                <a:cs typeface="Arial" pitchFamily="34" charset="-120"/>
              </a:rPr>
              <a:t>how does it move, given where it is &amp; can go?</a:t>
            </a:r>
            <a:endParaRPr lang="en-US" sz="1250" dirty="0"/>
          </a:p>
        </p:txBody>
      </p:sp>
      <p:sp>
        <p:nvSpPr>
          <p:cNvPr id="26" name="Text 24"/>
          <p:cNvSpPr/>
          <p:nvPr/>
        </p:nvSpPr>
        <p:spPr>
          <a:xfrm>
            <a:off x="6583680" y="4709160"/>
            <a:ext cx="4572000" cy="256032"/>
          </a:xfrm>
          <a:prstGeom prst="rect">
            <a:avLst/>
          </a:prstGeom>
          <a:noFill/>
          <a:ln/>
        </p:spPr>
        <p:txBody>
          <a:bodyPr wrap="square" rtlCol="0" anchor="ctr"/>
          <a:lstStyle/>
          <a:p>
            <a:pPr marL="0" indent="0">
              <a:buNone/>
            </a:pPr>
            <a:r>
              <a:rPr lang="en-US" sz="950" b="1" kern="0" spc="100" dirty="0">
                <a:solidFill>
                  <a:srgbClr val="E64823"/>
                </a:solidFill>
                <a:latin typeface="Arial" pitchFamily="34" charset="0"/>
                <a:ea typeface="Arial" pitchFamily="34" charset="-122"/>
                <a:cs typeface="Arial" pitchFamily="34" charset="-120"/>
              </a:rPr>
              <a:t>MOVEMENT PROCESS</a:t>
            </a:r>
            <a:endParaRPr lang="en-US" sz="950" dirty="0"/>
          </a:p>
        </p:txBody>
      </p:sp>
      <p:sp>
        <p:nvSpPr>
          <p:cNvPr id="27" name="Text 25"/>
          <p:cNvSpPr/>
          <p:nvPr/>
        </p:nvSpPr>
        <p:spPr>
          <a:xfrm>
            <a:off x="6583680" y="4946904"/>
            <a:ext cx="4572000" cy="411480"/>
          </a:xfrm>
          <a:prstGeom prst="rect">
            <a:avLst/>
          </a:prstGeom>
          <a:noFill/>
          <a:ln/>
        </p:spPr>
        <p:txBody>
          <a:bodyPr wrap="square" rtlCol="0" anchor="ctr"/>
          <a:lstStyle/>
          <a:p>
            <a:pPr marL="0" indent="0">
              <a:buNone/>
            </a:pPr>
            <a:r>
              <a:rPr lang="en-US" sz="1250" dirty="0">
                <a:solidFill>
                  <a:srgbClr val="39302A"/>
                </a:solidFill>
                <a:latin typeface="Arial" pitchFamily="34" charset="0"/>
                <a:ea typeface="Arial" pitchFamily="34" charset="-122"/>
                <a:cs typeface="Arial" pitchFamily="34" charset="-120"/>
              </a:rPr>
              <a:t>explicit part of the model</a:t>
            </a:r>
            <a:endParaRPr lang="en-US" sz="1250" dirty="0"/>
          </a:p>
        </p:txBody>
      </p:sp>
      <p:sp>
        <p:nvSpPr>
          <p:cNvPr id="28" name="Text 26"/>
          <p:cNvSpPr/>
          <p:nvPr/>
        </p:nvSpPr>
        <p:spPr>
          <a:xfrm>
            <a:off x="6583680" y="5394960"/>
            <a:ext cx="4572000" cy="256032"/>
          </a:xfrm>
          <a:prstGeom prst="rect">
            <a:avLst/>
          </a:prstGeom>
          <a:noFill/>
          <a:ln/>
        </p:spPr>
        <p:txBody>
          <a:bodyPr wrap="square" rtlCol="0" anchor="ctr"/>
          <a:lstStyle/>
          <a:p>
            <a:pPr marL="0" indent="0">
              <a:buNone/>
            </a:pPr>
            <a:r>
              <a:rPr lang="en-US" sz="950" b="1" kern="0" spc="100" dirty="0">
                <a:solidFill>
                  <a:srgbClr val="E64823"/>
                </a:solidFill>
                <a:latin typeface="Arial" pitchFamily="34" charset="0"/>
                <a:ea typeface="Arial" pitchFamily="34" charset="-122"/>
                <a:cs typeface="Arial" pitchFamily="34" charset="-120"/>
              </a:rPr>
              <a:t>JOHNSON'S ORDER</a:t>
            </a:r>
            <a:endParaRPr lang="en-US" sz="950" dirty="0"/>
          </a:p>
        </p:txBody>
      </p:sp>
      <p:sp>
        <p:nvSpPr>
          <p:cNvPr id="29" name="Text 27"/>
          <p:cNvSpPr/>
          <p:nvPr/>
        </p:nvSpPr>
        <p:spPr>
          <a:xfrm>
            <a:off x="6583680" y="5632704"/>
            <a:ext cx="4572000" cy="411480"/>
          </a:xfrm>
          <a:prstGeom prst="rect">
            <a:avLst/>
          </a:prstGeom>
          <a:noFill/>
          <a:ln/>
        </p:spPr>
        <p:txBody>
          <a:bodyPr wrap="square" rtlCol="0" anchor="ctr"/>
          <a:lstStyle/>
          <a:p>
            <a:pPr marL="0" indent="0">
              <a:buNone/>
            </a:pPr>
            <a:r>
              <a:rPr lang="en-US" sz="1250" dirty="0">
                <a:solidFill>
                  <a:srgbClr val="39302A"/>
                </a:solidFill>
                <a:latin typeface="Arial" pitchFamily="34" charset="0"/>
                <a:ea typeface="Arial" pitchFamily="34" charset="-122"/>
                <a:cs typeface="Arial" pitchFamily="34" charset="-120"/>
              </a:rPr>
              <a:t>typically 3rd–4th</a:t>
            </a:r>
            <a:endParaRPr lang="en-US" sz="1250" dirty="0"/>
          </a:p>
        </p:txBody>
      </p:sp>
      <p:sp>
        <p:nvSpPr>
          <p:cNvPr id="30" name="Text 28"/>
          <p:cNvSpPr/>
          <p:nvPr/>
        </p:nvSpPr>
        <p:spPr>
          <a:xfrm>
            <a:off x="548640" y="6473952"/>
            <a:ext cx="7315200" cy="274320"/>
          </a:xfrm>
          <a:prstGeom prst="rect">
            <a:avLst/>
          </a:prstGeom>
          <a:noFill/>
          <a:ln/>
        </p:spPr>
        <p:txBody>
          <a:bodyPr wrap="square" rtlCol="0" anchor="ctr"/>
          <a:lstStyle/>
          <a:p>
            <a:pPr marL="0" indent="0">
              <a:buNone/>
            </a:pPr>
            <a:r>
              <a:rPr lang="en-US" sz="1000" i="1" dirty="0">
                <a:solidFill>
                  <a:srgbClr val="A89A8C"/>
                </a:solidFill>
                <a:latin typeface="Arial" pitchFamily="34" charset="0"/>
                <a:ea typeface="Arial" pitchFamily="34" charset="-122"/>
                <a:cs typeface="Arial" pitchFamily="34" charset="-120"/>
              </a:rPr>
              <a:t>Different tools for different rungs of the same hierarchy</a:t>
            </a:r>
            <a:endParaRPr lang="en-US" sz="1000" dirty="0"/>
          </a:p>
        </p:txBody>
      </p:sp>
      <p:sp>
        <p:nvSpPr>
          <p:cNvPr id="31" name="Text 29"/>
          <p:cNvSpPr/>
          <p:nvPr/>
        </p:nvSpPr>
        <p:spPr>
          <a:xfrm>
            <a:off x="9357055" y="6473952"/>
            <a:ext cx="2286000" cy="274320"/>
          </a:xfrm>
          <a:prstGeom prst="rect">
            <a:avLst/>
          </a:prstGeom>
          <a:noFill/>
          <a:ln/>
        </p:spPr>
        <p:txBody>
          <a:bodyPr wrap="square" rtlCol="0" anchor="ctr"/>
          <a:lstStyle/>
          <a:p>
            <a:pPr marL="0" indent="0" algn="r">
              <a:buNone/>
            </a:pPr>
            <a:r>
              <a:rPr lang="en-US" sz="1000" dirty="0">
                <a:solidFill>
                  <a:srgbClr val="A89A8C"/>
                </a:solidFill>
                <a:latin typeface="Arial" pitchFamily="34" charset="0"/>
                <a:ea typeface="Arial" pitchFamily="34" charset="-122"/>
                <a:cs typeface="Arial" pitchFamily="34" charset="-120"/>
              </a:rPr>
              <a:t>RSF vs. SSF</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200" dirty="0">
                <a:solidFill>
                  <a:srgbClr val="F8931D"/>
                </a:solidFill>
                <a:latin typeface="Arial" pitchFamily="34" charset="0"/>
                <a:ea typeface="Arial" pitchFamily="34" charset="-122"/>
                <a:cs typeface="Arial" pitchFamily="34" charset="-120"/>
              </a:rPr>
              <a:t>IN PRACTICE</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2800" b="1" dirty="0">
                <a:solidFill>
                  <a:srgbClr val="39302A"/>
                </a:solidFill>
                <a:latin typeface="Arial" pitchFamily="34" charset="0"/>
                <a:ea typeface="Arial" pitchFamily="34" charset="-122"/>
                <a:cs typeface="Arial" pitchFamily="34" charset="-120"/>
              </a:rPr>
              <a:t>Two examples from the recent literature</a:t>
            </a:r>
            <a:endParaRPr lang="en-US" sz="2800" dirty="0"/>
          </a:p>
        </p:txBody>
      </p:sp>
      <p:sp>
        <p:nvSpPr>
          <p:cNvPr id="4" name="Shape 2"/>
          <p:cNvSpPr/>
          <p:nvPr/>
        </p:nvSpPr>
        <p:spPr>
          <a:xfrm>
            <a:off x="548640" y="1554480"/>
            <a:ext cx="5212080" cy="4526280"/>
          </a:xfrm>
          <a:prstGeom prst="roundRect">
            <a:avLst>
              <a:gd name="adj" fmla="val 1616"/>
            </a:avLst>
          </a:prstGeom>
          <a:solidFill>
            <a:srgbClr val="F4EFEA"/>
          </a:solidFill>
          <a:ln/>
        </p:spPr>
        <p:txBody>
          <a:bodyPr/>
          <a:lstStyle/>
          <a:p>
            <a:endParaRPr lang="en-US"/>
          </a:p>
        </p:txBody>
      </p:sp>
      <p:sp>
        <p:nvSpPr>
          <p:cNvPr id="5" name="Shape 3"/>
          <p:cNvSpPr/>
          <p:nvPr/>
        </p:nvSpPr>
        <p:spPr>
          <a:xfrm>
            <a:off x="868680" y="1828800"/>
            <a:ext cx="1417320" cy="365760"/>
          </a:xfrm>
          <a:prstGeom prst="roundRect">
            <a:avLst>
              <a:gd name="adj" fmla="val 15000"/>
            </a:avLst>
          </a:prstGeom>
          <a:solidFill>
            <a:srgbClr val="E64823"/>
          </a:solidFill>
          <a:ln/>
        </p:spPr>
        <p:txBody>
          <a:bodyPr/>
          <a:lstStyle/>
          <a:p>
            <a:endParaRPr lang="en-US"/>
          </a:p>
        </p:txBody>
      </p:sp>
      <p:sp>
        <p:nvSpPr>
          <p:cNvPr id="6" name="Text 4"/>
          <p:cNvSpPr/>
          <p:nvPr/>
        </p:nvSpPr>
        <p:spPr>
          <a:xfrm>
            <a:off x="868680" y="1828800"/>
            <a:ext cx="141732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SSF</a:t>
            </a:r>
            <a:endParaRPr lang="en-US" sz="1300" dirty="0"/>
          </a:p>
        </p:txBody>
      </p:sp>
      <p:sp>
        <p:nvSpPr>
          <p:cNvPr id="7" name="Text 5"/>
          <p:cNvSpPr/>
          <p:nvPr/>
        </p:nvSpPr>
        <p:spPr>
          <a:xfrm>
            <a:off x="868680" y="2304288"/>
            <a:ext cx="4572000" cy="320040"/>
          </a:xfrm>
          <a:prstGeom prst="rect">
            <a:avLst/>
          </a:prstGeom>
          <a:noFill/>
          <a:ln/>
        </p:spPr>
        <p:txBody>
          <a:bodyPr wrap="square" rtlCol="0" anchor="ctr"/>
          <a:lstStyle/>
          <a:p>
            <a:pPr marL="0" indent="0">
              <a:buNone/>
            </a:pPr>
            <a:r>
              <a:rPr lang="en-US" sz="1500" b="1" dirty="0">
                <a:solidFill>
                  <a:srgbClr val="39302A"/>
                </a:solidFill>
                <a:latin typeface="Arial" pitchFamily="34" charset="0"/>
                <a:ea typeface="Arial" pitchFamily="34" charset="-122"/>
                <a:cs typeface="Arial" pitchFamily="34" charset="-120"/>
              </a:rPr>
              <a:t>Merkle et al. (2019)</a:t>
            </a:r>
            <a:endParaRPr lang="en-US" sz="1500" dirty="0"/>
          </a:p>
        </p:txBody>
      </p:sp>
      <p:sp>
        <p:nvSpPr>
          <p:cNvPr id="8" name="Text 6"/>
          <p:cNvSpPr/>
          <p:nvPr/>
        </p:nvSpPr>
        <p:spPr>
          <a:xfrm>
            <a:off x="868680" y="2596896"/>
            <a:ext cx="4572000" cy="274320"/>
          </a:xfrm>
          <a:prstGeom prst="rect">
            <a:avLst/>
          </a:prstGeom>
          <a:noFill/>
          <a:ln/>
        </p:spPr>
        <p:txBody>
          <a:bodyPr wrap="square" rtlCol="0" anchor="ctr"/>
          <a:lstStyle/>
          <a:p>
            <a:pPr marL="0" indent="0">
              <a:buNone/>
            </a:pPr>
            <a:r>
              <a:rPr lang="en-US" sz="1100" i="1" dirty="0">
                <a:solidFill>
                  <a:srgbClr val="6B5A50"/>
                </a:solidFill>
                <a:latin typeface="Arial" pitchFamily="34" charset="0"/>
                <a:ea typeface="Arial" pitchFamily="34" charset="-122"/>
                <a:cs typeface="Arial" pitchFamily="34" charset="-120"/>
              </a:rPr>
              <a:t>Ecology Letters — mule deer migration</a:t>
            </a:r>
            <a:endParaRPr lang="en-US" sz="1100" dirty="0"/>
          </a:p>
        </p:txBody>
      </p:sp>
      <p:sp>
        <p:nvSpPr>
          <p:cNvPr id="9" name="Shape 7"/>
          <p:cNvSpPr/>
          <p:nvPr/>
        </p:nvSpPr>
        <p:spPr>
          <a:xfrm>
            <a:off x="868680" y="3118104"/>
            <a:ext cx="91440" cy="91440"/>
          </a:xfrm>
          <a:prstGeom prst="ellipse">
            <a:avLst/>
          </a:prstGeom>
          <a:solidFill>
            <a:srgbClr val="E64823"/>
          </a:solidFill>
          <a:ln/>
        </p:spPr>
        <p:txBody>
          <a:bodyPr/>
          <a:lstStyle/>
          <a:p>
            <a:endParaRPr lang="en-US"/>
          </a:p>
        </p:txBody>
      </p:sp>
      <p:sp>
        <p:nvSpPr>
          <p:cNvPr id="10" name="Text 8"/>
          <p:cNvSpPr/>
          <p:nvPr/>
        </p:nvSpPr>
        <p:spPr>
          <a:xfrm>
            <a:off x="1115568" y="3017520"/>
            <a:ext cx="4297680" cy="685800"/>
          </a:xfrm>
          <a:prstGeom prst="rect">
            <a:avLst/>
          </a:prstGeom>
          <a:noFill/>
          <a:ln/>
        </p:spPr>
        <p:txBody>
          <a:bodyPr wrap="square" rtlCol="0" anchor="ctr"/>
          <a:lstStyle/>
          <a:p>
            <a:pPr marL="0" indent="0">
              <a:buNone/>
            </a:pPr>
            <a:r>
              <a:rPr lang="en-US" sz="1100" dirty="0">
                <a:solidFill>
                  <a:srgbClr val="39302A"/>
                </a:solidFill>
                <a:latin typeface="Arial" pitchFamily="34" charset="0"/>
                <a:ea typeface="Arial" pitchFamily="34" charset="-122"/>
                <a:cs typeface="Arial" pitchFamily="34" charset="-120"/>
              </a:rPr>
              <a:t>Used SSFs (plus simulation) to pit spatial memory against resource tracking — green-wave surfing and snow — as drivers of migratory movement.</a:t>
            </a:r>
            <a:endParaRPr lang="en-US" sz="1100" dirty="0"/>
          </a:p>
        </p:txBody>
      </p:sp>
      <p:sp>
        <p:nvSpPr>
          <p:cNvPr id="11" name="Shape 9"/>
          <p:cNvSpPr/>
          <p:nvPr/>
        </p:nvSpPr>
        <p:spPr>
          <a:xfrm>
            <a:off x="868680" y="3867912"/>
            <a:ext cx="91440" cy="91440"/>
          </a:xfrm>
          <a:prstGeom prst="ellipse">
            <a:avLst/>
          </a:prstGeom>
          <a:solidFill>
            <a:srgbClr val="E64823"/>
          </a:solidFill>
          <a:ln/>
        </p:spPr>
        <p:txBody>
          <a:bodyPr/>
          <a:lstStyle/>
          <a:p>
            <a:endParaRPr lang="en-US"/>
          </a:p>
        </p:txBody>
      </p:sp>
      <p:sp>
        <p:nvSpPr>
          <p:cNvPr id="12" name="Text 10"/>
          <p:cNvSpPr/>
          <p:nvPr/>
        </p:nvSpPr>
        <p:spPr>
          <a:xfrm>
            <a:off x="1115568" y="3767328"/>
            <a:ext cx="4297680" cy="685800"/>
          </a:xfrm>
          <a:prstGeom prst="rect">
            <a:avLst/>
          </a:prstGeom>
          <a:noFill/>
          <a:ln/>
        </p:spPr>
        <p:txBody>
          <a:bodyPr wrap="square" rtlCol="0" anchor="ctr"/>
          <a:lstStyle/>
          <a:p>
            <a:pPr marL="0" indent="0">
              <a:buNone/>
            </a:pPr>
            <a:r>
              <a:rPr lang="en-US" sz="1100" dirty="0">
                <a:solidFill>
                  <a:srgbClr val="39302A"/>
                </a:solidFill>
                <a:latin typeface="Arial" pitchFamily="34" charset="0"/>
                <a:ea typeface="Arial" pitchFamily="34" charset="-122"/>
                <a:cs typeface="Arial" pitchFamily="34" charset="-120"/>
              </a:rPr>
              <a:t>Memory shaped movement 2–28× more strongly than resource tracking.</a:t>
            </a:r>
            <a:endParaRPr lang="en-US" sz="1100" dirty="0"/>
          </a:p>
        </p:txBody>
      </p:sp>
      <p:sp>
        <p:nvSpPr>
          <p:cNvPr id="13" name="Shape 11"/>
          <p:cNvSpPr/>
          <p:nvPr/>
        </p:nvSpPr>
        <p:spPr>
          <a:xfrm>
            <a:off x="868680" y="4617720"/>
            <a:ext cx="91440" cy="91440"/>
          </a:xfrm>
          <a:prstGeom prst="ellipse">
            <a:avLst/>
          </a:prstGeom>
          <a:solidFill>
            <a:srgbClr val="E64823"/>
          </a:solidFill>
          <a:ln/>
        </p:spPr>
        <p:txBody>
          <a:bodyPr/>
          <a:lstStyle/>
          <a:p>
            <a:endParaRPr lang="en-US"/>
          </a:p>
        </p:txBody>
      </p:sp>
      <p:sp>
        <p:nvSpPr>
          <p:cNvPr id="14" name="Text 12"/>
          <p:cNvSpPr/>
          <p:nvPr/>
        </p:nvSpPr>
        <p:spPr>
          <a:xfrm>
            <a:off x="1115568" y="4517136"/>
            <a:ext cx="4297680" cy="685800"/>
          </a:xfrm>
          <a:prstGeom prst="rect">
            <a:avLst/>
          </a:prstGeom>
          <a:noFill/>
          <a:ln/>
        </p:spPr>
        <p:txBody>
          <a:bodyPr wrap="square" rtlCol="0" anchor="ctr"/>
          <a:lstStyle/>
          <a:p>
            <a:pPr marL="0" indent="0">
              <a:buNone/>
            </a:pPr>
            <a:r>
              <a:rPr lang="en-US" sz="1100" dirty="0">
                <a:solidFill>
                  <a:srgbClr val="39302A"/>
                </a:solidFill>
                <a:latin typeface="Arial" pitchFamily="34" charset="0"/>
                <a:ea typeface="Arial" pitchFamily="34" charset="-122"/>
                <a:cs typeface="Arial" pitchFamily="34" charset="-120"/>
              </a:rPr>
              <a:t>Simulated deer with no memory couldn't reconstruct real migratory routes at all.</a:t>
            </a:r>
            <a:endParaRPr lang="en-US" sz="1100" dirty="0"/>
          </a:p>
        </p:txBody>
      </p:sp>
      <p:sp>
        <p:nvSpPr>
          <p:cNvPr id="15" name="Shape 13"/>
          <p:cNvSpPr/>
          <p:nvPr/>
        </p:nvSpPr>
        <p:spPr>
          <a:xfrm>
            <a:off x="868680" y="5367528"/>
            <a:ext cx="91440" cy="91440"/>
          </a:xfrm>
          <a:prstGeom prst="ellipse">
            <a:avLst/>
          </a:prstGeom>
          <a:solidFill>
            <a:srgbClr val="E64823"/>
          </a:solidFill>
          <a:ln/>
        </p:spPr>
        <p:txBody>
          <a:bodyPr/>
          <a:lstStyle/>
          <a:p>
            <a:endParaRPr lang="en-US"/>
          </a:p>
        </p:txBody>
      </p:sp>
      <p:sp>
        <p:nvSpPr>
          <p:cNvPr id="16" name="Text 14"/>
          <p:cNvSpPr/>
          <p:nvPr/>
        </p:nvSpPr>
        <p:spPr>
          <a:xfrm>
            <a:off x="1115568" y="5266944"/>
            <a:ext cx="4297680" cy="685800"/>
          </a:xfrm>
          <a:prstGeom prst="rect">
            <a:avLst/>
          </a:prstGeom>
          <a:noFill/>
          <a:ln/>
        </p:spPr>
        <p:txBody>
          <a:bodyPr wrap="square" rtlCol="0" anchor="ctr"/>
          <a:lstStyle/>
          <a:p>
            <a:pPr marL="0" indent="0">
              <a:buNone/>
            </a:pPr>
            <a:r>
              <a:rPr lang="en-US" sz="1100" dirty="0">
                <a:solidFill>
                  <a:srgbClr val="39302A"/>
                </a:solidFill>
                <a:latin typeface="Arial" pitchFamily="34" charset="0"/>
                <a:ea typeface="Arial" pitchFamily="34" charset="-122"/>
                <a:cs typeface="Arial" pitchFamily="34" charset="-120"/>
              </a:rPr>
              <a:t>Key idea: SSFs can test competing mechanistic hypotheses about why an animal moves — not just describe where it ends up.</a:t>
            </a:r>
            <a:endParaRPr lang="en-US" sz="1100" dirty="0"/>
          </a:p>
        </p:txBody>
      </p:sp>
      <p:sp>
        <p:nvSpPr>
          <p:cNvPr id="17" name="Shape 15"/>
          <p:cNvSpPr/>
          <p:nvPr/>
        </p:nvSpPr>
        <p:spPr>
          <a:xfrm>
            <a:off x="6263640" y="1554480"/>
            <a:ext cx="5212080" cy="4526280"/>
          </a:xfrm>
          <a:prstGeom prst="roundRect">
            <a:avLst>
              <a:gd name="adj" fmla="val 1616"/>
            </a:avLst>
          </a:prstGeom>
          <a:solidFill>
            <a:srgbClr val="F4EFEA"/>
          </a:solidFill>
          <a:ln/>
        </p:spPr>
        <p:txBody>
          <a:bodyPr/>
          <a:lstStyle/>
          <a:p>
            <a:endParaRPr lang="en-US"/>
          </a:p>
        </p:txBody>
      </p:sp>
      <p:sp>
        <p:nvSpPr>
          <p:cNvPr id="18" name="Shape 16"/>
          <p:cNvSpPr/>
          <p:nvPr/>
        </p:nvSpPr>
        <p:spPr>
          <a:xfrm>
            <a:off x="6583680" y="1828800"/>
            <a:ext cx="1417320" cy="365760"/>
          </a:xfrm>
          <a:prstGeom prst="roundRect">
            <a:avLst>
              <a:gd name="adj" fmla="val 15000"/>
            </a:avLst>
          </a:prstGeom>
          <a:solidFill>
            <a:srgbClr val="F8931D"/>
          </a:solidFill>
          <a:ln/>
        </p:spPr>
        <p:txBody>
          <a:bodyPr/>
          <a:lstStyle/>
          <a:p>
            <a:endParaRPr lang="en-US"/>
          </a:p>
        </p:txBody>
      </p:sp>
      <p:sp>
        <p:nvSpPr>
          <p:cNvPr id="19" name="Text 17"/>
          <p:cNvSpPr/>
          <p:nvPr/>
        </p:nvSpPr>
        <p:spPr>
          <a:xfrm>
            <a:off x="6583680" y="1828800"/>
            <a:ext cx="1417320" cy="36576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RSF + SSF</a:t>
            </a:r>
            <a:endParaRPr lang="en-US" sz="1200" dirty="0"/>
          </a:p>
        </p:txBody>
      </p:sp>
      <p:sp>
        <p:nvSpPr>
          <p:cNvPr id="20" name="Text 18"/>
          <p:cNvSpPr/>
          <p:nvPr/>
        </p:nvSpPr>
        <p:spPr>
          <a:xfrm>
            <a:off x="6583680" y="2304288"/>
            <a:ext cx="4572000" cy="320040"/>
          </a:xfrm>
          <a:prstGeom prst="rect">
            <a:avLst/>
          </a:prstGeom>
          <a:noFill/>
          <a:ln/>
        </p:spPr>
        <p:txBody>
          <a:bodyPr wrap="square" rtlCol="0" anchor="ctr"/>
          <a:lstStyle/>
          <a:p>
            <a:pPr marL="0" indent="0">
              <a:buNone/>
            </a:pPr>
            <a:r>
              <a:rPr lang="en-US" sz="1500" b="1" dirty="0">
                <a:solidFill>
                  <a:srgbClr val="39302A"/>
                </a:solidFill>
                <a:latin typeface="Arial" pitchFamily="34" charset="0"/>
                <a:ea typeface="Arial" pitchFamily="34" charset="-122"/>
                <a:cs typeface="Arial" pitchFamily="34" charset="-120"/>
              </a:rPr>
              <a:t>Wilkinson et al. (2025)</a:t>
            </a:r>
            <a:endParaRPr lang="en-US" sz="1500" dirty="0"/>
          </a:p>
        </p:txBody>
      </p:sp>
      <p:sp>
        <p:nvSpPr>
          <p:cNvPr id="21" name="Text 19"/>
          <p:cNvSpPr/>
          <p:nvPr/>
        </p:nvSpPr>
        <p:spPr>
          <a:xfrm>
            <a:off x="6583680" y="2596896"/>
            <a:ext cx="4572000" cy="274320"/>
          </a:xfrm>
          <a:prstGeom prst="rect">
            <a:avLst/>
          </a:prstGeom>
          <a:noFill/>
          <a:ln/>
        </p:spPr>
        <p:txBody>
          <a:bodyPr wrap="square" rtlCol="0" anchor="ctr"/>
          <a:lstStyle/>
          <a:p>
            <a:pPr marL="0" indent="0">
              <a:buNone/>
            </a:pPr>
            <a:r>
              <a:rPr lang="en-US" sz="1100" i="1" dirty="0">
                <a:solidFill>
                  <a:srgbClr val="6B5A50"/>
                </a:solidFill>
                <a:latin typeface="Arial" pitchFamily="34" charset="0"/>
                <a:ea typeface="Arial" pitchFamily="34" charset="-122"/>
                <a:cs typeface="Arial" pitchFamily="34" charset="-120"/>
              </a:rPr>
              <a:t>Ecology Letters — urban coyotes, LA</a:t>
            </a:r>
            <a:endParaRPr lang="en-US" sz="1100" dirty="0"/>
          </a:p>
        </p:txBody>
      </p:sp>
      <p:sp>
        <p:nvSpPr>
          <p:cNvPr id="22" name="Shape 20"/>
          <p:cNvSpPr/>
          <p:nvPr/>
        </p:nvSpPr>
        <p:spPr>
          <a:xfrm>
            <a:off x="6583680" y="3118104"/>
            <a:ext cx="91440" cy="91440"/>
          </a:xfrm>
          <a:prstGeom prst="ellipse">
            <a:avLst/>
          </a:prstGeom>
          <a:solidFill>
            <a:srgbClr val="F8931D"/>
          </a:solidFill>
          <a:ln/>
        </p:spPr>
        <p:txBody>
          <a:bodyPr/>
          <a:lstStyle/>
          <a:p>
            <a:endParaRPr lang="en-US"/>
          </a:p>
        </p:txBody>
      </p:sp>
      <p:sp>
        <p:nvSpPr>
          <p:cNvPr id="23" name="Text 21"/>
          <p:cNvSpPr/>
          <p:nvPr/>
        </p:nvSpPr>
        <p:spPr>
          <a:xfrm>
            <a:off x="6830568" y="3017520"/>
            <a:ext cx="4297680" cy="685800"/>
          </a:xfrm>
          <a:prstGeom prst="rect">
            <a:avLst/>
          </a:prstGeom>
          <a:noFill/>
          <a:ln/>
        </p:spPr>
        <p:txBody>
          <a:bodyPr wrap="square" rtlCol="0" anchor="ctr"/>
          <a:lstStyle/>
          <a:p>
            <a:pPr marL="0" indent="0">
              <a:buNone/>
            </a:pPr>
            <a:r>
              <a:rPr lang="en-US" sz="1100" dirty="0">
                <a:solidFill>
                  <a:srgbClr val="39302A"/>
                </a:solidFill>
                <a:latin typeface="Arial" pitchFamily="34" charset="0"/>
                <a:ea typeface="Arial" pitchFamily="34" charset="-122"/>
                <a:cs typeface="Arial" pitchFamily="34" charset="-120"/>
              </a:rPr>
              <a:t>Used RSFs at the home-range scale and SSFs at the step scale — same coyotes, both tools, two orders of selection.</a:t>
            </a:r>
            <a:endParaRPr lang="en-US" sz="1100" dirty="0"/>
          </a:p>
        </p:txBody>
      </p:sp>
      <p:sp>
        <p:nvSpPr>
          <p:cNvPr id="24" name="Shape 22"/>
          <p:cNvSpPr/>
          <p:nvPr/>
        </p:nvSpPr>
        <p:spPr>
          <a:xfrm>
            <a:off x="6583680" y="3867912"/>
            <a:ext cx="91440" cy="91440"/>
          </a:xfrm>
          <a:prstGeom prst="ellipse">
            <a:avLst/>
          </a:prstGeom>
          <a:solidFill>
            <a:srgbClr val="F8931D"/>
          </a:solidFill>
          <a:ln/>
        </p:spPr>
        <p:txBody>
          <a:bodyPr/>
          <a:lstStyle/>
          <a:p>
            <a:endParaRPr lang="en-US"/>
          </a:p>
        </p:txBody>
      </p:sp>
      <p:sp>
        <p:nvSpPr>
          <p:cNvPr id="25" name="Text 23"/>
          <p:cNvSpPr/>
          <p:nvPr/>
        </p:nvSpPr>
        <p:spPr>
          <a:xfrm>
            <a:off x="6830568" y="3767328"/>
            <a:ext cx="4297680" cy="685800"/>
          </a:xfrm>
          <a:prstGeom prst="rect">
            <a:avLst/>
          </a:prstGeom>
          <a:noFill/>
          <a:ln/>
        </p:spPr>
        <p:txBody>
          <a:bodyPr wrap="square" rtlCol="0" anchor="ctr"/>
          <a:lstStyle/>
          <a:p>
            <a:pPr marL="0" indent="0">
              <a:buNone/>
            </a:pPr>
            <a:r>
              <a:rPr lang="en-US" sz="1100" dirty="0">
                <a:solidFill>
                  <a:srgbClr val="39302A"/>
                </a:solidFill>
                <a:latin typeface="Arial" pitchFamily="34" charset="0"/>
                <a:ea typeface="Arial" pitchFamily="34" charset="-122"/>
                <a:cs typeface="Arial" pitchFamily="34" charset="-120"/>
              </a:rPr>
              <a:t>Socioeconomic and pollution covariates (income, pollution burden, development) predicted RSF-based habitat selection.</a:t>
            </a:r>
            <a:endParaRPr lang="en-US" sz="1100" dirty="0"/>
          </a:p>
        </p:txBody>
      </p:sp>
      <p:sp>
        <p:nvSpPr>
          <p:cNvPr id="26" name="Shape 24"/>
          <p:cNvSpPr/>
          <p:nvPr/>
        </p:nvSpPr>
        <p:spPr>
          <a:xfrm>
            <a:off x="6583680" y="4617720"/>
            <a:ext cx="91440" cy="91440"/>
          </a:xfrm>
          <a:prstGeom prst="ellipse">
            <a:avLst/>
          </a:prstGeom>
          <a:solidFill>
            <a:srgbClr val="F8931D"/>
          </a:solidFill>
          <a:ln/>
        </p:spPr>
        <p:txBody>
          <a:bodyPr/>
          <a:lstStyle/>
          <a:p>
            <a:endParaRPr lang="en-US"/>
          </a:p>
        </p:txBody>
      </p:sp>
      <p:sp>
        <p:nvSpPr>
          <p:cNvPr id="27" name="Text 25"/>
          <p:cNvSpPr/>
          <p:nvPr/>
        </p:nvSpPr>
        <p:spPr>
          <a:xfrm>
            <a:off x="6830568" y="4517136"/>
            <a:ext cx="4297680" cy="685800"/>
          </a:xfrm>
          <a:prstGeom prst="rect">
            <a:avLst/>
          </a:prstGeom>
          <a:noFill/>
          <a:ln/>
        </p:spPr>
        <p:txBody>
          <a:bodyPr wrap="square" rtlCol="0" anchor="ctr"/>
          <a:lstStyle/>
          <a:p>
            <a:pPr marL="0" indent="0">
              <a:buNone/>
            </a:pPr>
            <a:r>
              <a:rPr lang="en-US" sz="1100" dirty="0">
                <a:solidFill>
                  <a:srgbClr val="39302A"/>
                </a:solidFill>
                <a:latin typeface="Arial" pitchFamily="34" charset="0"/>
                <a:ea typeface="Arial" pitchFamily="34" charset="-122"/>
                <a:cs typeface="Arial" pitchFamily="34" charset="-120"/>
              </a:rPr>
              <a:t>The same social covariates also predicted SSF-based movement metrics — step length, daily displacement.</a:t>
            </a:r>
            <a:endParaRPr lang="en-US" sz="1100" dirty="0"/>
          </a:p>
        </p:txBody>
      </p:sp>
      <p:sp>
        <p:nvSpPr>
          <p:cNvPr id="28" name="Shape 26"/>
          <p:cNvSpPr/>
          <p:nvPr/>
        </p:nvSpPr>
        <p:spPr>
          <a:xfrm>
            <a:off x="6583680" y="5367528"/>
            <a:ext cx="91440" cy="91440"/>
          </a:xfrm>
          <a:prstGeom prst="ellipse">
            <a:avLst/>
          </a:prstGeom>
          <a:solidFill>
            <a:srgbClr val="F8931D"/>
          </a:solidFill>
          <a:ln/>
        </p:spPr>
        <p:txBody>
          <a:bodyPr/>
          <a:lstStyle/>
          <a:p>
            <a:endParaRPr lang="en-US"/>
          </a:p>
        </p:txBody>
      </p:sp>
      <p:sp>
        <p:nvSpPr>
          <p:cNvPr id="29" name="Text 27"/>
          <p:cNvSpPr/>
          <p:nvPr/>
        </p:nvSpPr>
        <p:spPr>
          <a:xfrm>
            <a:off x="6830568" y="5266944"/>
            <a:ext cx="4297680" cy="685800"/>
          </a:xfrm>
          <a:prstGeom prst="rect">
            <a:avLst/>
          </a:prstGeom>
          <a:noFill/>
          <a:ln/>
        </p:spPr>
        <p:txBody>
          <a:bodyPr wrap="square" rtlCol="0" anchor="ctr"/>
          <a:lstStyle/>
          <a:p>
            <a:pPr marL="0" indent="0">
              <a:buNone/>
            </a:pPr>
            <a:r>
              <a:rPr lang="en-US" sz="1100" dirty="0">
                <a:solidFill>
                  <a:srgbClr val="39302A"/>
                </a:solidFill>
                <a:latin typeface="Arial" pitchFamily="34" charset="0"/>
                <a:ea typeface="Arial" pitchFamily="34" charset="-122"/>
                <a:cs typeface="Arial" pitchFamily="34" charset="-120"/>
              </a:rPr>
              <a:t>Key idea: RSF and SSF aren't competitors — combined, they show social factors shape space use at every scale, not just ecology.</a:t>
            </a:r>
            <a:endParaRPr lang="en-US" sz="1100" dirty="0"/>
          </a:p>
        </p:txBody>
      </p:sp>
      <p:sp>
        <p:nvSpPr>
          <p:cNvPr id="30" name="Text 28"/>
          <p:cNvSpPr/>
          <p:nvPr/>
        </p:nvSpPr>
        <p:spPr>
          <a:xfrm>
            <a:off x="548640" y="6473952"/>
            <a:ext cx="7315200" cy="274320"/>
          </a:xfrm>
          <a:prstGeom prst="rect">
            <a:avLst/>
          </a:prstGeom>
          <a:noFill/>
          <a:ln/>
        </p:spPr>
        <p:txBody>
          <a:bodyPr wrap="square" rtlCol="0" anchor="ctr"/>
          <a:lstStyle/>
          <a:p>
            <a:pPr marL="0" indent="0">
              <a:buNone/>
            </a:pPr>
            <a:r>
              <a:rPr lang="en-US" sz="1000" i="1" dirty="0">
                <a:solidFill>
                  <a:srgbClr val="A89A8C"/>
                </a:solidFill>
                <a:latin typeface="Arial" pitchFamily="34" charset="0"/>
                <a:ea typeface="Arial" pitchFamily="34" charset="-122"/>
                <a:cs typeface="Arial" pitchFamily="34" charset="-120"/>
              </a:rPr>
              <a:t>Full methods and citations in the course reading</a:t>
            </a:r>
            <a:endParaRPr lang="en-US" sz="1000" dirty="0"/>
          </a:p>
        </p:txBody>
      </p:sp>
      <p:sp>
        <p:nvSpPr>
          <p:cNvPr id="31" name="Text 29"/>
          <p:cNvSpPr/>
          <p:nvPr/>
        </p:nvSpPr>
        <p:spPr>
          <a:xfrm>
            <a:off x="9357055" y="6473952"/>
            <a:ext cx="2286000" cy="274320"/>
          </a:xfrm>
          <a:prstGeom prst="rect">
            <a:avLst/>
          </a:prstGeom>
          <a:noFill/>
          <a:ln/>
        </p:spPr>
        <p:txBody>
          <a:bodyPr wrap="square" rtlCol="0" anchor="ctr"/>
          <a:lstStyle/>
          <a:p>
            <a:pPr marL="0" indent="0" algn="r">
              <a:buNone/>
            </a:pPr>
            <a:r>
              <a:rPr lang="en-US" sz="1000" dirty="0">
                <a:solidFill>
                  <a:srgbClr val="A89A8C"/>
                </a:solidFill>
                <a:latin typeface="Arial" pitchFamily="34" charset="0"/>
                <a:ea typeface="Arial" pitchFamily="34" charset="-122"/>
                <a:cs typeface="Arial" pitchFamily="34" charset="-120"/>
              </a:rPr>
              <a:t>RSF vs. SSF</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1625</Words>
  <Application>Microsoft Macintosh PowerPoint</Application>
  <PresentationFormat>Widescreen</PresentationFormat>
  <Paragraphs>114</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Wenjing Xu</cp:lastModifiedBy>
  <cp:revision>2</cp:revision>
  <dcterms:created xsi:type="dcterms:W3CDTF">2026-07-17T21:44:40Z</dcterms:created>
  <dcterms:modified xsi:type="dcterms:W3CDTF">2026-07-18T00:02:48Z</dcterms:modified>
</cp:coreProperties>
</file>