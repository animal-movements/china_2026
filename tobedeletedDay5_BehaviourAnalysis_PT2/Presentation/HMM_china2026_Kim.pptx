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cf1f338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cf1f338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can be applied to different ecological </a:t>
            </a:r>
            <a:r>
              <a:rPr lang="en"/>
              <a:t>datasets</a:t>
            </a:r>
            <a:r>
              <a:rPr lang="en"/>
              <a:t> - mainly animal movement, occupancy, and mark-recapture data – but here I am only providing animal movement focused HMM applications.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cf1f3380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cf1f3380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application of HMMs in animal movement essentially aim to use the data we collect to inform some main ecological or behavioral </a:t>
            </a:r>
            <a:r>
              <a:rPr lang="en"/>
              <a:t>processes</a:t>
            </a:r>
            <a:r>
              <a:rPr lang="en"/>
              <a:t> that we cannot observe.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HMM (a doubly stochastic process) is composed of (1) observation process (animal movement) and (2) latent state process (behaviors we want to infer) – taken to be a Markivan chain mathematically – which means, rely sorely on the t-1 state-dependent process).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3eeb9e6e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3eeb9e6e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f1f3380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f1f3380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idea of HMMs in animal movement is that different behaviors (states) lead to different movement patterns…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cf1f3380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cf1f3380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if we are interested in identifying exploring and resting behaviors given our movement dataset (colored blue) at time t…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cf1f3380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cf1f3380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Markov chain (set transitoinal probabilities) between exploring and resting states - given at time t if the animal is in exploring mode, the next time t+1, it has the chance to transition from exploring to resting (0.4).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cf1f3380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cf1f3380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cf1f3380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cf1f3380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have some of the building blocks to understand how HMMs would work using animal movement data → let’s go back to the overall modeling </a:t>
            </a:r>
            <a:r>
              <a:rPr lang="en"/>
              <a:t>framework. We set a number of states of interests (exploring/resting) that each time seuqnece - the transition between the states is governed by Markov chain via transitional probabilities. Now we use movement metrics such step lengths and turn angles to model them by state-dependent distributions (step lengths with gamma and turn angle with von mises based on the unique state). – denoted with brown colored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cf1f3380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cf1f3380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cf1f33805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cf1f3380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Ecological data: Animal movement 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Types</a:t>
            </a:r>
            <a:r>
              <a:rPr lang="en">
                <a:solidFill>
                  <a:schemeClr val="dk1"/>
                </a:solidFill>
              </a:rPr>
              <a:t>: GPS data, </a:t>
            </a:r>
            <a:r>
              <a:rPr lang="en">
                <a:solidFill>
                  <a:schemeClr val="dk1"/>
                </a:solidFill>
              </a:rPr>
              <a:t>accelerometer</a:t>
            </a:r>
            <a:r>
              <a:rPr lang="en">
                <a:solidFill>
                  <a:schemeClr val="dk1"/>
                </a:solidFill>
              </a:rPr>
              <a:t> data, and dive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Structures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GPS</a:t>
            </a:r>
            <a:r>
              <a:rPr lang="en">
                <a:solidFill>
                  <a:schemeClr val="dk1"/>
                </a:solidFill>
              </a:rPr>
              <a:t>: Typically collected their locations over time at </a:t>
            </a:r>
            <a:r>
              <a:rPr lang="en" u="sng">
                <a:solidFill>
                  <a:schemeClr val="dk1"/>
                </a:solidFill>
              </a:rPr>
              <a:t>regular intervals</a:t>
            </a:r>
            <a:r>
              <a:rPr lang="en">
                <a:solidFill>
                  <a:schemeClr val="dk1"/>
                </a:solidFill>
              </a:rPr>
              <a:t> like 5 mins or 10 mins (if there are missing data between some intervals, can be filled).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Accelerometer</a:t>
            </a:r>
            <a:r>
              <a:rPr lang="en">
                <a:solidFill>
                  <a:schemeClr val="dk1"/>
                </a:solidFill>
              </a:rPr>
              <a:t>: fine scale data  such as collecting data at 20 Hertz → summarize them in terms of one second intervals or every few </a:t>
            </a:r>
            <a:r>
              <a:rPr lang="en">
                <a:solidFill>
                  <a:schemeClr val="dk1"/>
                </a:solidFill>
              </a:rPr>
              <a:t>seconds</a:t>
            </a:r>
            <a:r>
              <a:rPr lang="en">
                <a:solidFill>
                  <a:schemeClr val="dk1"/>
                </a:solidFill>
              </a:rPr>
              <a:t> → having some metrics as a proxy of energy expenditure or activity levels.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 Markov models (HMMs)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168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Motivation</a:t>
            </a:r>
            <a:r>
              <a:rPr b="1" lang="en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u="sng">
                <a:solidFill>
                  <a:schemeClr val="dk1"/>
                </a:solidFill>
              </a:rPr>
              <a:t>Behavior segmentation</a:t>
            </a:r>
            <a:r>
              <a:rPr lang="en">
                <a:solidFill>
                  <a:schemeClr val="dk1"/>
                </a:solidFill>
              </a:rPr>
              <a:t> (R packages: moveHMM and momentuHMM)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(1) Using trajectories of animals → (2) quantifying what behavior the animal was in at aech time step through time series by applying hidden Markov models (HMMs).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Structures: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753712" y="2715536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baseline="-25000" lang="en"/>
              <a:t>t-1</a:t>
            </a:r>
            <a:endParaRPr baseline="-25000"/>
          </a:p>
        </p:txBody>
      </p:sp>
      <p:sp>
        <p:nvSpPr>
          <p:cNvPr id="64" name="Google Shape;64;p14"/>
          <p:cNvSpPr/>
          <p:nvPr/>
        </p:nvSpPr>
        <p:spPr>
          <a:xfrm>
            <a:off x="5139073" y="2715433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510673" y="2722314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t+1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767473" y="3949319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t-1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5152834" y="3949216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6524434" y="3956097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t+1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9" name="Google Shape;69;p14"/>
          <p:cNvCxnSpPr>
            <a:endCxn id="63" idx="4"/>
          </p:cNvCxnSpPr>
          <p:nvPr/>
        </p:nvCxnSpPr>
        <p:spPr>
          <a:xfrm rot="10800000">
            <a:off x="4191862" y="3591836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/>
          <p:nvPr/>
        </p:nvCxnSpPr>
        <p:spPr>
          <a:xfrm rot="10800000">
            <a:off x="5578987" y="3591836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6979862" y="3591836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/>
          <p:nvPr/>
        </p:nvCxnSpPr>
        <p:spPr>
          <a:xfrm>
            <a:off x="4690837" y="4344861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/>
          <p:nvPr/>
        </p:nvCxnSpPr>
        <p:spPr>
          <a:xfrm>
            <a:off x="6069312" y="4344861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/>
          <p:nvPr/>
        </p:nvCxnSpPr>
        <p:spPr>
          <a:xfrm>
            <a:off x="3232619" y="4344861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/>
          <p:nvPr/>
        </p:nvCxnSpPr>
        <p:spPr>
          <a:xfrm>
            <a:off x="7466812" y="4344861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6" name="Google Shape;76;p14"/>
          <p:cNvSpPr txBox="1"/>
          <p:nvPr/>
        </p:nvSpPr>
        <p:spPr>
          <a:xfrm>
            <a:off x="179950" y="2968936"/>
            <a:ext cx="33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Observation process (e.g., animal movement)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4160200"/>
            <a:ext cx="26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Latent state process</a:t>
            </a:r>
            <a:r>
              <a:rPr lang="en" sz="1200">
                <a:solidFill>
                  <a:schemeClr val="dk1"/>
                </a:solidFill>
              </a:rPr>
              <a:t> (e.g., behavior)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HMMs in R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[include the original slide…]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movement (discrete time)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573762" y="2714923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baseline="-25000" lang="en"/>
              <a:t>t-1</a:t>
            </a:r>
            <a:endParaRPr baseline="-25000"/>
          </a:p>
        </p:txBody>
      </p:sp>
      <p:sp>
        <p:nvSpPr>
          <p:cNvPr id="92" name="Google Shape;92;p16"/>
          <p:cNvSpPr/>
          <p:nvPr/>
        </p:nvSpPr>
        <p:spPr>
          <a:xfrm>
            <a:off x="4959123" y="2714821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6330723" y="2721701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t+1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587523" y="3948706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t-1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972884" y="3948604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344484" y="3955484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baseline="-25000" lang="en">
                <a:solidFill>
                  <a:schemeClr val="dk1"/>
                </a:solidFill>
              </a:rPr>
              <a:t>t+1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7" name="Google Shape;97;p16"/>
          <p:cNvCxnSpPr>
            <a:endCxn id="91" idx="4"/>
          </p:cNvCxnSpPr>
          <p:nvPr/>
        </p:nvCxnSpPr>
        <p:spPr>
          <a:xfrm rot="10800000">
            <a:off x="4011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6"/>
          <p:cNvCxnSpPr/>
          <p:nvPr/>
        </p:nvCxnSpPr>
        <p:spPr>
          <a:xfrm rot="10800000">
            <a:off x="5399037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/>
          <p:nvPr/>
        </p:nvCxnSpPr>
        <p:spPr>
          <a:xfrm rot="10800000">
            <a:off x="6799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4510887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58893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3052669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72868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 txBox="1"/>
          <p:nvPr/>
        </p:nvSpPr>
        <p:spPr>
          <a:xfrm>
            <a:off x="0" y="2968323"/>
            <a:ext cx="33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Observation process (e.g., animal movement)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31750" y="4159588"/>
            <a:ext cx="26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Latent state process (e.g., behavior)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movement (discrete time)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573762" y="2714923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baseline="-25000" lang="en"/>
              <a:t>t-1</a:t>
            </a:r>
            <a:endParaRPr baseline="-25000"/>
          </a:p>
        </p:txBody>
      </p:sp>
      <p:sp>
        <p:nvSpPr>
          <p:cNvPr id="114" name="Google Shape;114;p17"/>
          <p:cNvSpPr/>
          <p:nvPr/>
        </p:nvSpPr>
        <p:spPr>
          <a:xfrm>
            <a:off x="4959123" y="2714821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330723" y="2721701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</a:t>
            </a:r>
            <a:r>
              <a:rPr baseline="-25000" lang="en">
                <a:solidFill>
                  <a:schemeClr val="dk1"/>
                </a:solidFill>
              </a:rPr>
              <a:t>t+1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587523" y="3948706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t-1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972884" y="394860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344484" y="395548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t+1</a:t>
            </a:r>
            <a:endParaRPr>
              <a:solidFill>
                <a:srgbClr val="1155CC"/>
              </a:solidFill>
            </a:endParaRPr>
          </a:p>
        </p:txBody>
      </p:sp>
      <p:cxnSp>
        <p:nvCxnSpPr>
          <p:cNvPr id="119" name="Google Shape;119;p17"/>
          <p:cNvCxnSpPr>
            <a:endCxn id="113" idx="4"/>
          </p:cNvCxnSpPr>
          <p:nvPr/>
        </p:nvCxnSpPr>
        <p:spPr>
          <a:xfrm rot="10800000">
            <a:off x="4011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/>
          <p:nvPr/>
        </p:nvCxnSpPr>
        <p:spPr>
          <a:xfrm rot="10800000">
            <a:off x="5399037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7"/>
          <p:cNvCxnSpPr/>
          <p:nvPr/>
        </p:nvCxnSpPr>
        <p:spPr>
          <a:xfrm rot="10800000">
            <a:off x="6799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7"/>
          <p:cNvCxnSpPr/>
          <p:nvPr/>
        </p:nvCxnSpPr>
        <p:spPr>
          <a:xfrm>
            <a:off x="4510887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7"/>
          <p:cNvCxnSpPr/>
          <p:nvPr/>
        </p:nvCxnSpPr>
        <p:spPr>
          <a:xfrm>
            <a:off x="58893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/>
          <p:nvPr/>
        </p:nvCxnSpPr>
        <p:spPr>
          <a:xfrm>
            <a:off x="3052669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72868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0" y="2968323"/>
            <a:ext cx="33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Observation process (e.g., animal movement)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31750" y="4159588"/>
            <a:ext cx="26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Latent state process (e.g., behavior)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34700" y="4511753"/>
            <a:ext cx="24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A number of states of interests </a:t>
            </a:r>
            <a:endParaRPr sz="12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(e.g., exploring/resting)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movement (discrete time)</a:t>
            </a:r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Example: </a:t>
            </a:r>
            <a:r>
              <a:rPr lang="en">
                <a:solidFill>
                  <a:srgbClr val="1155CC"/>
                </a:solidFill>
              </a:rPr>
              <a:t>if S can be either an</a:t>
            </a:r>
            <a:r>
              <a:rPr lang="en">
                <a:solidFill>
                  <a:srgbClr val="1155CC"/>
                </a:solidFill>
              </a:rPr>
              <a:t> </a:t>
            </a:r>
            <a:r>
              <a:rPr lang="en">
                <a:solidFill>
                  <a:srgbClr val="9900FF"/>
                </a:solidFill>
              </a:rPr>
              <a:t>exploring (“E”)</a:t>
            </a:r>
            <a:r>
              <a:rPr lang="en">
                <a:solidFill>
                  <a:srgbClr val="1155CC"/>
                </a:solidFill>
              </a:rPr>
              <a:t> or </a:t>
            </a:r>
            <a:r>
              <a:rPr lang="en">
                <a:solidFill>
                  <a:srgbClr val="9900FF"/>
                </a:solidFill>
              </a:rPr>
              <a:t>resting (“R”) state</a:t>
            </a:r>
            <a:r>
              <a:rPr lang="en">
                <a:solidFill>
                  <a:srgbClr val="1155CC"/>
                </a:solidFill>
              </a:rPr>
              <a:t> at time </a:t>
            </a:r>
            <a:r>
              <a:rPr i="1" lang="en">
                <a:solidFill>
                  <a:srgbClr val="1155CC"/>
                </a:solidFill>
              </a:rPr>
              <a:t>t</a:t>
            </a:r>
            <a:r>
              <a:rPr lang="en">
                <a:solidFill>
                  <a:srgbClr val="1155CC"/>
                </a:solidFill>
              </a:rPr>
              <a:t>, the transition between </a:t>
            </a:r>
            <a:r>
              <a:rPr lang="en">
                <a:solidFill>
                  <a:srgbClr val="9900FF"/>
                </a:solidFill>
              </a:rPr>
              <a:t>E</a:t>
            </a:r>
            <a:r>
              <a:rPr lang="en">
                <a:solidFill>
                  <a:srgbClr val="1155CC"/>
                </a:solidFill>
              </a:rPr>
              <a:t> and </a:t>
            </a:r>
            <a:r>
              <a:rPr lang="en">
                <a:solidFill>
                  <a:srgbClr val="9900FF"/>
                </a:solidFill>
              </a:rPr>
              <a:t>R</a:t>
            </a:r>
            <a:r>
              <a:rPr lang="en">
                <a:solidFill>
                  <a:srgbClr val="1155CC"/>
                </a:solidFill>
              </a:rPr>
              <a:t> at each time sequence can be modelled using the </a:t>
            </a:r>
            <a:r>
              <a:rPr lang="en" u="sng">
                <a:solidFill>
                  <a:srgbClr val="9900FF"/>
                </a:solidFill>
              </a:rPr>
              <a:t>Markov chain</a:t>
            </a:r>
            <a:r>
              <a:rPr lang="en">
                <a:solidFill>
                  <a:srgbClr val="9900FF"/>
                </a:solidFill>
              </a:rPr>
              <a:t>. → </a:t>
            </a:r>
            <a:r>
              <a:rPr lang="en" u="sng">
                <a:solidFill>
                  <a:srgbClr val="9900FF"/>
                </a:solidFill>
              </a:rPr>
              <a:t>transitional probabilities</a:t>
            </a:r>
            <a:r>
              <a:rPr lang="en">
                <a:solidFill>
                  <a:srgbClr val="99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909495" y="3262928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/>
              <a:t>Y</a:t>
            </a:r>
            <a:r>
              <a:rPr baseline="-25000" lang="en" sz="1060"/>
              <a:t>t-1</a:t>
            </a:r>
            <a:endParaRPr baseline="-25000" sz="1060"/>
          </a:p>
        </p:txBody>
      </p:sp>
      <p:sp>
        <p:nvSpPr>
          <p:cNvPr id="137" name="Google Shape;137;p18"/>
          <p:cNvSpPr/>
          <p:nvPr/>
        </p:nvSpPr>
        <p:spPr>
          <a:xfrm>
            <a:off x="3958100" y="3262850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1"/>
                </a:solidFill>
              </a:rPr>
              <a:t>Y</a:t>
            </a:r>
            <a:r>
              <a:rPr baseline="-25000" lang="en" sz="1060">
                <a:solidFill>
                  <a:schemeClr val="dk1"/>
                </a:solidFill>
              </a:rPr>
              <a:t>t</a:t>
            </a:r>
            <a:endParaRPr sz="1060"/>
          </a:p>
        </p:txBody>
      </p:sp>
      <p:sp>
        <p:nvSpPr>
          <p:cNvPr id="138" name="Google Shape;138;p18"/>
          <p:cNvSpPr/>
          <p:nvPr/>
        </p:nvSpPr>
        <p:spPr>
          <a:xfrm>
            <a:off x="4996288" y="3268058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1"/>
                </a:solidFill>
              </a:rPr>
              <a:t>Y</a:t>
            </a:r>
            <a:r>
              <a:rPr baseline="-25000" lang="en" sz="1060">
                <a:solidFill>
                  <a:schemeClr val="dk1"/>
                </a:solidFill>
              </a:rPr>
              <a:t>t+1</a:t>
            </a:r>
            <a:endParaRPr sz="1060"/>
          </a:p>
        </p:txBody>
      </p:sp>
      <p:sp>
        <p:nvSpPr>
          <p:cNvPr id="139" name="Google Shape;139;p18"/>
          <p:cNvSpPr/>
          <p:nvPr/>
        </p:nvSpPr>
        <p:spPr>
          <a:xfrm>
            <a:off x="2919911" y="4196793"/>
            <a:ext cx="663300" cy="663300"/>
          </a:xfrm>
          <a:prstGeom prst="ellipse">
            <a:avLst/>
          </a:prstGeom>
          <a:noFill/>
          <a:ln cap="flat" cmpd="sng" w="7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rgbClr val="1155CC"/>
                </a:solidFill>
              </a:rPr>
              <a:t>S</a:t>
            </a:r>
            <a:r>
              <a:rPr baseline="-25000" lang="en" sz="1060">
                <a:solidFill>
                  <a:srgbClr val="1155CC"/>
                </a:solidFill>
              </a:rPr>
              <a:t>t-1</a:t>
            </a:r>
            <a:endParaRPr sz="1060">
              <a:solidFill>
                <a:srgbClr val="1155CC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968516" y="419671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rgbClr val="9900FF"/>
                </a:solidFill>
              </a:rPr>
              <a:t>S</a:t>
            </a:r>
            <a:r>
              <a:rPr b="1" baseline="-25000" lang="en" sz="1060">
                <a:solidFill>
                  <a:srgbClr val="9900FF"/>
                </a:solidFill>
              </a:rPr>
              <a:t>t</a:t>
            </a:r>
            <a:endParaRPr b="1" sz="1060">
              <a:solidFill>
                <a:srgbClr val="9900FF"/>
              </a:solidFill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006704" y="4201923"/>
            <a:ext cx="663300" cy="663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rgbClr val="1155CC"/>
                </a:solidFill>
              </a:rPr>
              <a:t>S</a:t>
            </a:r>
            <a:r>
              <a:rPr baseline="-25000" lang="en" sz="1060">
                <a:solidFill>
                  <a:srgbClr val="1155CC"/>
                </a:solidFill>
              </a:rPr>
              <a:t>t+1</a:t>
            </a:r>
            <a:endParaRPr sz="1060">
              <a:solidFill>
                <a:srgbClr val="1155CC"/>
              </a:solidFill>
            </a:endParaRPr>
          </a:p>
        </p:txBody>
      </p:sp>
      <p:cxnSp>
        <p:nvCxnSpPr>
          <p:cNvPr id="142" name="Google Shape;142;p18"/>
          <p:cNvCxnSpPr>
            <a:endCxn id="136" idx="4"/>
          </p:cNvCxnSpPr>
          <p:nvPr/>
        </p:nvCxnSpPr>
        <p:spPr>
          <a:xfrm rot="10800000">
            <a:off x="3241145" y="3926228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8"/>
          <p:cNvCxnSpPr/>
          <p:nvPr/>
        </p:nvCxnSpPr>
        <p:spPr>
          <a:xfrm rot="10800000">
            <a:off x="4290999" y="3926275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8"/>
          <p:cNvCxnSpPr/>
          <p:nvPr/>
        </p:nvCxnSpPr>
        <p:spPr>
          <a:xfrm rot="10800000">
            <a:off x="5351346" y="3926275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8"/>
          <p:cNvCxnSpPr/>
          <p:nvPr/>
        </p:nvCxnSpPr>
        <p:spPr>
          <a:xfrm>
            <a:off x="3618822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8"/>
          <p:cNvCxnSpPr/>
          <p:nvPr/>
        </p:nvCxnSpPr>
        <p:spPr>
          <a:xfrm>
            <a:off x="4662214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8"/>
          <p:cNvCxnSpPr/>
          <p:nvPr/>
        </p:nvCxnSpPr>
        <p:spPr>
          <a:xfrm>
            <a:off x="2515070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8"/>
          <p:cNvCxnSpPr/>
          <p:nvPr/>
        </p:nvCxnSpPr>
        <p:spPr>
          <a:xfrm>
            <a:off x="5720006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49" name="Google Shape;149;p18"/>
          <p:cNvSpPr txBox="1"/>
          <p:nvPr/>
        </p:nvSpPr>
        <p:spPr>
          <a:xfrm>
            <a:off x="304175" y="4356411"/>
            <a:ext cx="2005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chemeClr val="dk1"/>
                </a:solidFill>
              </a:rPr>
              <a:t>Latent state process (e.g., behavior)</a:t>
            </a:r>
            <a:endParaRPr sz="908">
              <a:solidFill>
                <a:schemeClr val="dk1"/>
              </a:solidFill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204451" y="3454729"/>
            <a:ext cx="2507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chemeClr val="dk1"/>
                </a:solidFill>
              </a:rPr>
              <a:t>Observation process (e.g., animal movement)</a:t>
            </a:r>
            <a:endParaRPr sz="908">
              <a:solidFill>
                <a:schemeClr val="dk1"/>
              </a:solidFill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33484" y="4622970"/>
            <a:ext cx="184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rgbClr val="1155CC"/>
                </a:solidFill>
              </a:rPr>
              <a:t>A number of states of interests </a:t>
            </a:r>
            <a:endParaRPr sz="908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rgbClr val="1155CC"/>
                </a:solidFill>
              </a:rPr>
              <a:t>(e.g., exploring/resting)</a:t>
            </a:r>
            <a:endParaRPr sz="1060">
              <a:solidFill>
                <a:srgbClr val="1155CC"/>
              </a:solidFill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682402" y="2963542"/>
            <a:ext cx="558000" cy="558000"/>
          </a:xfrm>
          <a:prstGeom prst="ellipse">
            <a:avLst/>
          </a:prstGeom>
          <a:noFill/>
          <a:ln cap="flat" cmpd="sng" w="160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875" lIns="76875" spcFirstLastPara="1" rIns="76875" wrap="square" tIns="7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7">
                <a:solidFill>
                  <a:srgbClr val="9900FF"/>
                </a:solidFill>
              </a:rPr>
              <a:t>E</a:t>
            </a:r>
            <a:endParaRPr sz="1177">
              <a:solidFill>
                <a:srgbClr val="9900FF"/>
              </a:solidFill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847566" y="2963458"/>
            <a:ext cx="558000" cy="558000"/>
          </a:xfrm>
          <a:prstGeom prst="ellipse">
            <a:avLst/>
          </a:prstGeom>
          <a:noFill/>
          <a:ln cap="flat" cmpd="sng" w="160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875" lIns="76875" spcFirstLastPara="1" rIns="76875" wrap="square" tIns="7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7">
                <a:solidFill>
                  <a:srgbClr val="9900FF"/>
                </a:solidFill>
              </a:rPr>
              <a:t>R</a:t>
            </a:r>
            <a:endParaRPr sz="1177">
              <a:solidFill>
                <a:srgbClr val="9900FF"/>
              </a:solidFill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129149" y="2867214"/>
            <a:ext cx="840764" cy="96348"/>
          </a:xfrm>
          <a:custGeom>
            <a:rect b="b" l="l" r="r" t="t"/>
            <a:pathLst>
              <a:path extrusionOk="0" h="4582" w="39984">
                <a:moveTo>
                  <a:pt x="0" y="4582"/>
                </a:moveTo>
                <a:cubicBezTo>
                  <a:pt x="3175" y="3819"/>
                  <a:pt x="12386" y="115"/>
                  <a:pt x="19050" y="3"/>
                </a:cubicBezTo>
                <a:cubicBezTo>
                  <a:pt x="25714" y="-109"/>
                  <a:pt x="36495" y="3260"/>
                  <a:pt x="39984" y="3911"/>
                </a:cubicBezTo>
              </a:path>
            </a:pathLst>
          </a:custGeom>
          <a:noFill/>
          <a:ln cap="flat" cmpd="sng" w="16025">
            <a:solidFill>
              <a:srgbClr val="9900FF"/>
            </a:solidFill>
            <a:prstDash val="solid"/>
            <a:round/>
            <a:headEnd len="med" w="med" type="stealth"/>
            <a:tailEnd len="med" w="med" type="none"/>
          </a:ln>
        </p:spPr>
      </p:sp>
      <p:sp>
        <p:nvSpPr>
          <p:cNvPr id="156" name="Google Shape;156;p18"/>
          <p:cNvSpPr/>
          <p:nvPr/>
        </p:nvSpPr>
        <p:spPr>
          <a:xfrm>
            <a:off x="7129149" y="3530953"/>
            <a:ext cx="840764" cy="103224"/>
          </a:xfrm>
          <a:custGeom>
            <a:rect b="b" l="l" r="r" t="t"/>
            <a:pathLst>
              <a:path extrusionOk="0" h="4909" w="39984">
                <a:moveTo>
                  <a:pt x="0" y="671"/>
                </a:moveTo>
                <a:cubicBezTo>
                  <a:pt x="3358" y="1377"/>
                  <a:pt x="13485" y="5018"/>
                  <a:pt x="20149" y="4906"/>
                </a:cubicBezTo>
                <a:cubicBezTo>
                  <a:pt x="26813" y="4794"/>
                  <a:pt x="36678" y="818"/>
                  <a:pt x="39984" y="0"/>
                </a:cubicBezTo>
              </a:path>
            </a:pathLst>
          </a:custGeom>
          <a:noFill/>
          <a:ln cap="flat" cmpd="sng" w="16025">
            <a:solidFill>
              <a:srgbClr val="9900F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57" name="Google Shape;157;p18"/>
          <p:cNvSpPr/>
          <p:nvPr/>
        </p:nvSpPr>
        <p:spPr>
          <a:xfrm>
            <a:off x="6317804" y="3074512"/>
            <a:ext cx="369285" cy="362115"/>
          </a:xfrm>
          <a:custGeom>
            <a:rect b="b" l="l" r="r" t="t"/>
            <a:pathLst>
              <a:path extrusionOk="0" h="17221" w="17562">
                <a:moveTo>
                  <a:pt x="17181" y="44"/>
                </a:moveTo>
                <a:cubicBezTo>
                  <a:pt x="14747" y="326"/>
                  <a:pt x="5201" y="-894"/>
                  <a:pt x="2576" y="1738"/>
                </a:cubicBezTo>
                <a:cubicBezTo>
                  <a:pt x="-49" y="4370"/>
                  <a:pt x="-1065" y="13323"/>
                  <a:pt x="1433" y="15835"/>
                </a:cubicBezTo>
                <a:cubicBezTo>
                  <a:pt x="3931" y="18347"/>
                  <a:pt x="14874" y="16646"/>
                  <a:pt x="17562" y="16808"/>
                </a:cubicBezTo>
              </a:path>
            </a:pathLst>
          </a:custGeom>
          <a:noFill/>
          <a:ln cap="flat" cmpd="sng" w="16025">
            <a:solidFill>
              <a:srgbClr val="9900F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58" name="Google Shape;158;p18"/>
          <p:cNvSpPr/>
          <p:nvPr/>
        </p:nvSpPr>
        <p:spPr>
          <a:xfrm rot="10800000">
            <a:off x="8405406" y="3061343"/>
            <a:ext cx="369285" cy="362115"/>
          </a:xfrm>
          <a:custGeom>
            <a:rect b="b" l="l" r="r" t="t"/>
            <a:pathLst>
              <a:path extrusionOk="0" h="17221" w="17562">
                <a:moveTo>
                  <a:pt x="17181" y="44"/>
                </a:moveTo>
                <a:cubicBezTo>
                  <a:pt x="14747" y="326"/>
                  <a:pt x="5201" y="-894"/>
                  <a:pt x="2576" y="1738"/>
                </a:cubicBezTo>
                <a:cubicBezTo>
                  <a:pt x="-49" y="4370"/>
                  <a:pt x="-1065" y="13323"/>
                  <a:pt x="1433" y="15835"/>
                </a:cubicBezTo>
                <a:cubicBezTo>
                  <a:pt x="3931" y="18347"/>
                  <a:pt x="14874" y="16646"/>
                  <a:pt x="17562" y="16808"/>
                </a:cubicBezTo>
              </a:path>
            </a:pathLst>
          </a:custGeom>
          <a:noFill/>
          <a:ln cap="flat" cmpd="sng" w="16025">
            <a:solidFill>
              <a:srgbClr val="9900F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59" name="Google Shape;159;p18"/>
          <p:cNvSpPr txBox="1"/>
          <p:nvPr/>
        </p:nvSpPr>
        <p:spPr>
          <a:xfrm>
            <a:off x="7364902" y="2571775"/>
            <a:ext cx="369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6">
                <a:solidFill>
                  <a:srgbClr val="9900FF"/>
                </a:solidFill>
              </a:rPr>
              <a:t>0.8</a:t>
            </a:r>
            <a:endParaRPr sz="1076">
              <a:solidFill>
                <a:srgbClr val="9900FF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370896" y="3560622"/>
            <a:ext cx="452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6">
                <a:solidFill>
                  <a:srgbClr val="9900FF"/>
                </a:solidFill>
              </a:rPr>
              <a:t>0.4</a:t>
            </a:r>
            <a:endParaRPr sz="1076">
              <a:solidFill>
                <a:srgbClr val="9900FF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8774689" y="3009604"/>
            <a:ext cx="369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6">
                <a:solidFill>
                  <a:srgbClr val="9900FF"/>
                </a:solidFill>
              </a:rPr>
              <a:t>0.2</a:t>
            </a:r>
            <a:endParaRPr sz="1076">
              <a:solidFill>
                <a:srgbClr val="9900FF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977601" y="3090031"/>
            <a:ext cx="452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6">
                <a:solidFill>
                  <a:srgbClr val="9900FF"/>
                </a:solidFill>
              </a:rPr>
              <a:t>0.6</a:t>
            </a:r>
            <a:endParaRPr sz="1076">
              <a:solidFill>
                <a:srgbClr val="9900FF"/>
              </a:solidFill>
            </a:endParaRPr>
          </a:p>
        </p:txBody>
      </p:sp>
      <p:cxnSp>
        <p:nvCxnSpPr>
          <p:cNvPr id="163" name="Google Shape;163;p18"/>
          <p:cNvCxnSpPr/>
          <p:nvPr/>
        </p:nvCxnSpPr>
        <p:spPr>
          <a:xfrm flipH="1" rot="10800000">
            <a:off x="4549925" y="3700625"/>
            <a:ext cx="2061000" cy="582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movement (discrete time)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2909495" y="3262928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/>
              <a:t>Y</a:t>
            </a:r>
            <a:r>
              <a:rPr baseline="-25000" lang="en" sz="1060"/>
              <a:t>t-1</a:t>
            </a:r>
            <a:endParaRPr baseline="-25000" sz="1060"/>
          </a:p>
        </p:txBody>
      </p:sp>
      <p:sp>
        <p:nvSpPr>
          <p:cNvPr id="170" name="Google Shape;170;p19"/>
          <p:cNvSpPr/>
          <p:nvPr/>
        </p:nvSpPr>
        <p:spPr>
          <a:xfrm>
            <a:off x="3958100" y="3262850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1"/>
                </a:solidFill>
              </a:rPr>
              <a:t>Y</a:t>
            </a:r>
            <a:r>
              <a:rPr baseline="-25000" lang="en" sz="1060">
                <a:solidFill>
                  <a:schemeClr val="dk1"/>
                </a:solidFill>
              </a:rPr>
              <a:t>t</a:t>
            </a:r>
            <a:endParaRPr sz="1060"/>
          </a:p>
        </p:txBody>
      </p:sp>
      <p:sp>
        <p:nvSpPr>
          <p:cNvPr id="171" name="Google Shape;171;p19"/>
          <p:cNvSpPr/>
          <p:nvPr/>
        </p:nvSpPr>
        <p:spPr>
          <a:xfrm>
            <a:off x="4996288" y="3268058"/>
            <a:ext cx="663300" cy="663300"/>
          </a:xfrm>
          <a:prstGeom prst="ellipse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1"/>
                </a:solidFill>
              </a:rPr>
              <a:t>Y</a:t>
            </a:r>
            <a:r>
              <a:rPr baseline="-25000" lang="en" sz="1060">
                <a:solidFill>
                  <a:schemeClr val="dk1"/>
                </a:solidFill>
              </a:rPr>
              <a:t>t+1</a:t>
            </a:r>
            <a:endParaRPr sz="1060"/>
          </a:p>
        </p:txBody>
      </p:sp>
      <p:sp>
        <p:nvSpPr>
          <p:cNvPr id="172" name="Google Shape;172;p19"/>
          <p:cNvSpPr/>
          <p:nvPr/>
        </p:nvSpPr>
        <p:spPr>
          <a:xfrm>
            <a:off x="2919911" y="4196793"/>
            <a:ext cx="663300" cy="663300"/>
          </a:xfrm>
          <a:prstGeom prst="ellipse">
            <a:avLst/>
          </a:prstGeom>
          <a:noFill/>
          <a:ln cap="flat" cmpd="sng" w="72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rgbClr val="1155CC"/>
                </a:solidFill>
              </a:rPr>
              <a:t>S</a:t>
            </a:r>
            <a:r>
              <a:rPr baseline="-25000" lang="en" sz="1060">
                <a:solidFill>
                  <a:srgbClr val="1155CC"/>
                </a:solidFill>
              </a:rPr>
              <a:t>t-1</a:t>
            </a:r>
            <a:endParaRPr sz="1060">
              <a:solidFill>
                <a:srgbClr val="1155CC"/>
              </a:solidFill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968516" y="4196715"/>
            <a:ext cx="663300" cy="6633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rgbClr val="9900FF"/>
                </a:solidFill>
              </a:rPr>
              <a:t>S</a:t>
            </a:r>
            <a:r>
              <a:rPr b="1" baseline="-25000" lang="en" sz="1060">
                <a:solidFill>
                  <a:srgbClr val="9900FF"/>
                </a:solidFill>
              </a:rPr>
              <a:t>t</a:t>
            </a:r>
            <a:endParaRPr b="1" sz="1060">
              <a:solidFill>
                <a:srgbClr val="9900FF"/>
              </a:solidFill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006704" y="4201923"/>
            <a:ext cx="663300" cy="663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rgbClr val="1155CC"/>
                </a:solidFill>
              </a:rPr>
              <a:t>S</a:t>
            </a:r>
            <a:r>
              <a:rPr baseline="-25000" lang="en" sz="1060">
                <a:solidFill>
                  <a:srgbClr val="1155CC"/>
                </a:solidFill>
              </a:rPr>
              <a:t>t+1</a:t>
            </a:r>
            <a:endParaRPr sz="1060">
              <a:solidFill>
                <a:srgbClr val="1155CC"/>
              </a:solidFill>
            </a:endParaRPr>
          </a:p>
        </p:txBody>
      </p:sp>
      <p:cxnSp>
        <p:nvCxnSpPr>
          <p:cNvPr id="175" name="Google Shape;175;p19"/>
          <p:cNvCxnSpPr>
            <a:endCxn id="169" idx="4"/>
          </p:cNvCxnSpPr>
          <p:nvPr/>
        </p:nvCxnSpPr>
        <p:spPr>
          <a:xfrm rot="10800000">
            <a:off x="3241145" y="3926228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9"/>
          <p:cNvCxnSpPr/>
          <p:nvPr/>
        </p:nvCxnSpPr>
        <p:spPr>
          <a:xfrm rot="10800000">
            <a:off x="4290999" y="3926275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9"/>
          <p:cNvCxnSpPr/>
          <p:nvPr/>
        </p:nvCxnSpPr>
        <p:spPr>
          <a:xfrm rot="10800000">
            <a:off x="5351346" y="3926275"/>
            <a:ext cx="7800" cy="27810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9"/>
          <p:cNvCxnSpPr/>
          <p:nvPr/>
        </p:nvCxnSpPr>
        <p:spPr>
          <a:xfrm>
            <a:off x="3618822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9"/>
          <p:cNvCxnSpPr/>
          <p:nvPr/>
        </p:nvCxnSpPr>
        <p:spPr>
          <a:xfrm>
            <a:off x="4662214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9"/>
          <p:cNvCxnSpPr/>
          <p:nvPr/>
        </p:nvCxnSpPr>
        <p:spPr>
          <a:xfrm>
            <a:off x="2515070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9"/>
          <p:cNvCxnSpPr/>
          <p:nvPr/>
        </p:nvCxnSpPr>
        <p:spPr>
          <a:xfrm>
            <a:off x="5720006" y="4496183"/>
            <a:ext cx="314100" cy="0"/>
          </a:xfrm>
          <a:prstGeom prst="straightConnector1">
            <a:avLst/>
          </a:prstGeom>
          <a:noFill/>
          <a:ln cap="flat" cmpd="sng" w="72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82" name="Google Shape;182;p19"/>
          <p:cNvSpPr txBox="1"/>
          <p:nvPr/>
        </p:nvSpPr>
        <p:spPr>
          <a:xfrm>
            <a:off x="304175" y="4356411"/>
            <a:ext cx="2005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chemeClr val="dk1"/>
                </a:solidFill>
              </a:rPr>
              <a:t>Latent state process (e.g., behavior)</a:t>
            </a:r>
            <a:endParaRPr sz="908">
              <a:solidFill>
                <a:schemeClr val="dk1"/>
              </a:solidFill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204451" y="3454729"/>
            <a:ext cx="2507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chemeClr val="dk1"/>
                </a:solidFill>
              </a:rPr>
              <a:t>Observation process (e.g., animal movement)</a:t>
            </a:r>
            <a:endParaRPr sz="908">
              <a:solidFill>
                <a:schemeClr val="dk1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33484" y="4622970"/>
            <a:ext cx="1849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rgbClr val="1155CC"/>
                </a:solidFill>
              </a:rPr>
              <a:t>A number of states of interests </a:t>
            </a:r>
            <a:endParaRPr sz="908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8">
                <a:solidFill>
                  <a:srgbClr val="1155CC"/>
                </a:solidFill>
              </a:rPr>
              <a:t>(e.g., exploring/resting)</a:t>
            </a:r>
            <a:endParaRPr sz="1060">
              <a:solidFill>
                <a:srgbClr val="1155CC"/>
              </a:solidFill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6720275" y="2375746"/>
            <a:ext cx="2882006" cy="1555597"/>
            <a:chOff x="6262075" y="2398146"/>
            <a:chExt cx="2882006" cy="1555597"/>
          </a:xfrm>
        </p:grpSpPr>
        <p:sp>
          <p:nvSpPr>
            <p:cNvPr id="187" name="Google Shape;187;p19"/>
            <p:cNvSpPr txBox="1"/>
            <p:nvPr/>
          </p:nvSpPr>
          <p:spPr>
            <a:xfrm>
              <a:off x="6600981" y="2591143"/>
              <a:ext cx="2543100" cy="13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0550" lIns="130550" spcFirstLastPara="1" rIns="130550" wrap="square" tIns="1305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140">
                  <a:solidFill>
                    <a:srgbClr val="9900FF"/>
                  </a:solidFill>
                </a:rPr>
                <a:t>(    )</a:t>
              </a:r>
              <a:endParaRPr sz="7140">
                <a:solidFill>
                  <a:srgbClr val="9900FF"/>
                </a:solidFill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6262075" y="2842047"/>
              <a:ext cx="501600" cy="10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0550" lIns="130550" spcFirstLastPara="1" rIns="130550" wrap="square" tIns="1305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70">
                  <a:solidFill>
                    <a:srgbClr val="9900FF"/>
                  </a:solidFill>
                </a:rPr>
                <a:t>E</a:t>
              </a:r>
              <a:endParaRPr sz="2570">
                <a:solidFill>
                  <a:srgbClr val="99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70">
                  <a:solidFill>
                    <a:srgbClr val="9900FF"/>
                  </a:solidFill>
                </a:rPr>
                <a:t>R</a:t>
              </a:r>
              <a:endParaRPr sz="2570">
                <a:solidFill>
                  <a:srgbClr val="9900FF"/>
                </a:solidFill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6998469" y="2398146"/>
              <a:ext cx="1294500" cy="6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0550" lIns="130550" spcFirstLastPara="1" rIns="130550" wrap="square" tIns="1305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70">
                  <a:solidFill>
                    <a:srgbClr val="9900FF"/>
                  </a:solidFill>
                </a:rPr>
                <a:t>E    R</a:t>
              </a:r>
              <a:endParaRPr sz="2570">
                <a:solidFill>
                  <a:srgbClr val="9900FF"/>
                </a:solidFill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6998469" y="2965642"/>
              <a:ext cx="1630500" cy="8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7025" lIns="117025" spcFirstLastPara="1" rIns="117025" wrap="square" tIns="1170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6">
                  <a:solidFill>
                    <a:srgbClr val="9900FF"/>
                  </a:solidFill>
                </a:rPr>
                <a:t>0.6   0.4</a:t>
              </a:r>
              <a:endParaRPr sz="1856">
                <a:solidFill>
                  <a:srgbClr val="99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6">
                  <a:solidFill>
                    <a:srgbClr val="9900FF"/>
                  </a:solidFill>
                </a:rPr>
                <a:t>0.2   0.8</a:t>
              </a:r>
              <a:r>
                <a:rPr lang="en" sz="1536">
                  <a:solidFill>
                    <a:srgbClr val="9900FF"/>
                  </a:solidFill>
                </a:rPr>
                <a:t>	</a:t>
              </a:r>
              <a:endParaRPr sz="1536">
                <a:solidFill>
                  <a:srgbClr val="9900FF"/>
                </a:solidFill>
              </a:endParaRPr>
            </a:p>
          </p:txBody>
        </p:sp>
      </p:grp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Example: </a:t>
            </a:r>
            <a:r>
              <a:rPr lang="en">
                <a:solidFill>
                  <a:srgbClr val="1155CC"/>
                </a:solidFill>
              </a:rPr>
              <a:t>if S can be either an </a:t>
            </a:r>
            <a:r>
              <a:rPr lang="en">
                <a:solidFill>
                  <a:srgbClr val="9900FF"/>
                </a:solidFill>
              </a:rPr>
              <a:t>exploring (“E”)</a:t>
            </a:r>
            <a:r>
              <a:rPr lang="en">
                <a:solidFill>
                  <a:srgbClr val="1155CC"/>
                </a:solidFill>
              </a:rPr>
              <a:t> or </a:t>
            </a:r>
            <a:r>
              <a:rPr lang="en">
                <a:solidFill>
                  <a:srgbClr val="9900FF"/>
                </a:solidFill>
              </a:rPr>
              <a:t>resting (“R”) state</a:t>
            </a:r>
            <a:r>
              <a:rPr lang="en">
                <a:solidFill>
                  <a:srgbClr val="1155CC"/>
                </a:solidFill>
              </a:rPr>
              <a:t> at time </a:t>
            </a:r>
            <a:r>
              <a:rPr i="1" lang="en">
                <a:solidFill>
                  <a:srgbClr val="1155CC"/>
                </a:solidFill>
              </a:rPr>
              <a:t>t</a:t>
            </a:r>
            <a:r>
              <a:rPr lang="en">
                <a:solidFill>
                  <a:srgbClr val="1155CC"/>
                </a:solidFill>
              </a:rPr>
              <a:t>, the transition between </a:t>
            </a:r>
            <a:r>
              <a:rPr lang="en">
                <a:solidFill>
                  <a:srgbClr val="9900FF"/>
                </a:solidFill>
              </a:rPr>
              <a:t>E</a:t>
            </a:r>
            <a:r>
              <a:rPr lang="en">
                <a:solidFill>
                  <a:srgbClr val="1155CC"/>
                </a:solidFill>
              </a:rPr>
              <a:t> and </a:t>
            </a:r>
            <a:r>
              <a:rPr lang="en">
                <a:solidFill>
                  <a:srgbClr val="9900FF"/>
                </a:solidFill>
              </a:rPr>
              <a:t>R</a:t>
            </a:r>
            <a:r>
              <a:rPr lang="en">
                <a:solidFill>
                  <a:srgbClr val="1155CC"/>
                </a:solidFill>
              </a:rPr>
              <a:t> at each time sequence can be modelled using the </a:t>
            </a:r>
            <a:r>
              <a:rPr lang="en" u="sng">
                <a:solidFill>
                  <a:srgbClr val="9900FF"/>
                </a:solidFill>
              </a:rPr>
              <a:t>Markov chain</a:t>
            </a:r>
            <a:r>
              <a:rPr lang="en">
                <a:solidFill>
                  <a:srgbClr val="9900FF"/>
                </a:solidFill>
              </a:rPr>
              <a:t>. → </a:t>
            </a:r>
            <a:r>
              <a:rPr lang="en" u="sng">
                <a:solidFill>
                  <a:srgbClr val="9900FF"/>
                </a:solidFill>
              </a:rPr>
              <a:t>transitional probabilities</a:t>
            </a:r>
            <a:r>
              <a:rPr lang="en">
                <a:solidFill>
                  <a:srgbClr val="99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2" name="Google Shape;192;p19"/>
          <p:cNvCxnSpPr/>
          <p:nvPr/>
        </p:nvCxnSpPr>
        <p:spPr>
          <a:xfrm flipH="1" rot="10800000">
            <a:off x="4549925" y="3700625"/>
            <a:ext cx="2061000" cy="5829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</a:t>
            </a:r>
            <a:r>
              <a:rPr lang="en"/>
              <a:t>movement (discrete time)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573762" y="2714923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t-1</a:t>
            </a:r>
            <a:endParaRPr baseline="-25000">
              <a:solidFill>
                <a:srgbClr val="980000"/>
              </a:solidFill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959123" y="2714821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330723" y="2721701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t+1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587523" y="3948706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t-</a:t>
            </a:r>
            <a:r>
              <a:rPr baseline="-25000" lang="en">
                <a:solidFill>
                  <a:srgbClr val="1155CC"/>
                </a:solidFill>
              </a:rPr>
              <a:t>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972884" y="394860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344484" y="395548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t+1</a:t>
            </a:r>
            <a:endParaRPr>
              <a:solidFill>
                <a:srgbClr val="1155CC"/>
              </a:solidFill>
            </a:endParaRPr>
          </a:p>
        </p:txBody>
      </p:sp>
      <p:cxnSp>
        <p:nvCxnSpPr>
          <p:cNvPr id="205" name="Google Shape;205;p20"/>
          <p:cNvCxnSpPr>
            <a:endCxn id="199" idx="4"/>
          </p:cNvCxnSpPr>
          <p:nvPr/>
        </p:nvCxnSpPr>
        <p:spPr>
          <a:xfrm rot="10800000">
            <a:off x="4011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0"/>
          <p:cNvCxnSpPr/>
          <p:nvPr/>
        </p:nvCxnSpPr>
        <p:spPr>
          <a:xfrm rot="10800000">
            <a:off x="5399037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0"/>
          <p:cNvCxnSpPr/>
          <p:nvPr/>
        </p:nvCxnSpPr>
        <p:spPr>
          <a:xfrm rot="10800000">
            <a:off x="6799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4510887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58893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3052669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72868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12" name="Google Shape;212;p20"/>
          <p:cNvSpPr txBox="1"/>
          <p:nvPr/>
        </p:nvSpPr>
        <p:spPr>
          <a:xfrm>
            <a:off x="0" y="2968323"/>
            <a:ext cx="33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Observation process (e.g., </a:t>
            </a:r>
            <a:r>
              <a:rPr lang="en" sz="1200">
                <a:solidFill>
                  <a:schemeClr val="dk1"/>
                </a:solidFill>
              </a:rPr>
              <a:t>animal movement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31750" y="4159588"/>
            <a:ext cx="26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Latent state process (e.g., behavior)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16" y="1725175"/>
            <a:ext cx="2639467" cy="1100075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0"/>
          <p:cNvSpPr/>
          <p:nvPr/>
        </p:nvSpPr>
        <p:spPr>
          <a:xfrm>
            <a:off x="3208750" y="1925325"/>
            <a:ext cx="2029218" cy="572711"/>
          </a:xfrm>
          <a:custGeom>
            <a:rect b="b" l="l" r="r" t="t"/>
            <a:pathLst>
              <a:path extrusionOk="0" h="17347" w="83930">
                <a:moveTo>
                  <a:pt x="0" y="11826"/>
                </a:moveTo>
                <a:cubicBezTo>
                  <a:pt x="8835" y="9893"/>
                  <a:pt x="39021" y="-690"/>
                  <a:pt x="53009" y="230"/>
                </a:cubicBezTo>
                <a:cubicBezTo>
                  <a:pt x="66997" y="1150"/>
                  <a:pt x="78777" y="14494"/>
                  <a:pt x="83930" y="17347"/>
                </a:cubicBezTo>
              </a:path>
            </a:pathLst>
          </a:cu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17" name="Google Shape;217;p20"/>
          <p:cNvSpPr txBox="1"/>
          <p:nvPr/>
        </p:nvSpPr>
        <p:spPr>
          <a:xfrm>
            <a:off x="4959125" y="1525988"/>
            <a:ext cx="440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61C00"/>
                </a:solidFill>
              </a:rPr>
              <a:t>Use modelled movement metrics (Step lengths, turn angles) by </a:t>
            </a:r>
            <a:r>
              <a:rPr lang="en" sz="1200">
                <a:solidFill>
                  <a:srgbClr val="1155CC"/>
                </a:solidFill>
              </a:rPr>
              <a:t>state-dependent distributions</a:t>
            </a:r>
            <a:r>
              <a:rPr lang="en" sz="1200">
                <a:solidFill>
                  <a:srgbClr val="A61C00"/>
                </a:solidFill>
              </a:rPr>
              <a:t>.</a:t>
            </a:r>
            <a:endParaRPr>
              <a:solidFill>
                <a:srgbClr val="A61C00"/>
              </a:solidFill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184825" y="1927775"/>
            <a:ext cx="277825" cy="641625"/>
          </a:xfrm>
          <a:custGeom>
            <a:rect b="b" l="l" r="r" t="t"/>
            <a:pathLst>
              <a:path extrusionOk="0" h="25665" w="11113">
                <a:moveTo>
                  <a:pt x="11113" y="0"/>
                </a:moveTo>
                <a:lnTo>
                  <a:pt x="0" y="25665"/>
                </a:lnTo>
              </a:path>
            </a:pathLst>
          </a:cu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19" name="Google Shape;219;p20"/>
          <p:cNvSpPr/>
          <p:nvPr/>
        </p:nvSpPr>
        <p:spPr>
          <a:xfrm>
            <a:off x="4734575" y="2013775"/>
            <a:ext cx="1706494" cy="484255"/>
          </a:xfrm>
          <a:custGeom>
            <a:rect b="b" l="l" r="r" t="t"/>
            <a:pathLst>
              <a:path extrusionOk="0" h="21696" w="68527">
                <a:moveTo>
                  <a:pt x="0" y="0"/>
                </a:moveTo>
                <a:cubicBezTo>
                  <a:pt x="8555" y="926"/>
                  <a:pt x="39908" y="1940"/>
                  <a:pt x="51329" y="5556"/>
                </a:cubicBezTo>
                <a:cubicBezTo>
                  <a:pt x="62750" y="9172"/>
                  <a:pt x="65661" y="19006"/>
                  <a:pt x="68527" y="21696"/>
                </a:cubicBezTo>
              </a:path>
            </a:pathLst>
          </a:cu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20" name="Google Shape;220;p20"/>
          <p:cNvSpPr txBox="1"/>
          <p:nvPr/>
        </p:nvSpPr>
        <p:spPr>
          <a:xfrm>
            <a:off x="434700" y="4511753"/>
            <a:ext cx="24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A number of states of interests </a:t>
            </a:r>
            <a:endParaRPr sz="12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(e.g., exploring/resting)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HMMs for animal movement (discrete time)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3573762" y="2714923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t-1</a:t>
            </a:r>
            <a:endParaRPr baseline="-25000">
              <a:solidFill>
                <a:srgbClr val="980000"/>
              </a:solidFill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959123" y="2714821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330723" y="2721701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Y</a:t>
            </a:r>
            <a:r>
              <a:rPr baseline="-25000" lang="en">
                <a:solidFill>
                  <a:srgbClr val="980000"/>
                </a:solidFill>
              </a:rPr>
              <a:t>t+1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587523" y="3948706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t-1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972884" y="394860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344484" y="3955484"/>
            <a:ext cx="876300" cy="876300"/>
          </a:xfrm>
          <a:prstGeom prst="ellipse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</a:t>
            </a:r>
            <a:r>
              <a:rPr baseline="-25000" lang="en">
                <a:solidFill>
                  <a:srgbClr val="1155CC"/>
                </a:solidFill>
              </a:rPr>
              <a:t>t+1</a:t>
            </a:r>
            <a:endParaRPr>
              <a:solidFill>
                <a:srgbClr val="1155CC"/>
              </a:solidFill>
            </a:endParaRPr>
          </a:p>
        </p:txBody>
      </p:sp>
      <p:cxnSp>
        <p:nvCxnSpPr>
          <p:cNvPr id="232" name="Google Shape;232;p21"/>
          <p:cNvCxnSpPr>
            <a:endCxn id="226" idx="4"/>
          </p:cNvCxnSpPr>
          <p:nvPr/>
        </p:nvCxnSpPr>
        <p:spPr>
          <a:xfrm rot="10800000">
            <a:off x="4011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1"/>
          <p:cNvCxnSpPr/>
          <p:nvPr/>
        </p:nvCxnSpPr>
        <p:spPr>
          <a:xfrm rot="10800000">
            <a:off x="5399037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1"/>
          <p:cNvCxnSpPr/>
          <p:nvPr/>
        </p:nvCxnSpPr>
        <p:spPr>
          <a:xfrm rot="10800000">
            <a:off x="6799912" y="3591223"/>
            <a:ext cx="10200" cy="367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1"/>
          <p:cNvCxnSpPr/>
          <p:nvPr/>
        </p:nvCxnSpPr>
        <p:spPr>
          <a:xfrm>
            <a:off x="4510887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58893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3052669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7286862" y="4344248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9" name="Google Shape;239;p21"/>
          <p:cNvSpPr txBox="1"/>
          <p:nvPr/>
        </p:nvSpPr>
        <p:spPr>
          <a:xfrm>
            <a:off x="0" y="2968323"/>
            <a:ext cx="33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Observation process (e.g., animal movement)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31750" y="4159588"/>
            <a:ext cx="26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Latent state process (e.g., behavior)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824408" y="4860025"/>
            <a:ext cx="244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Michelot. 2022; Leos-Barajas. 2022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34700" y="4511753"/>
            <a:ext cx="24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A number of states of interests </a:t>
            </a:r>
            <a:endParaRPr sz="12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(e.g., exploring/resting)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43" name="Google Shape;243;p21"/>
          <p:cNvSpPr txBox="1"/>
          <p:nvPr>
            <p:ph idx="1" type="body"/>
          </p:nvPr>
        </p:nvSpPr>
        <p:spPr>
          <a:xfrm>
            <a:off x="311700" y="1152475"/>
            <a:ext cx="8520600" cy="15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Different behaviors lead to different movement patterns.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 other words</a:t>
            </a:r>
            <a:r>
              <a:rPr lang="en">
                <a:solidFill>
                  <a:schemeClr val="dk1"/>
                </a:solidFill>
              </a:rPr>
              <a:t>, the </a:t>
            </a:r>
            <a:r>
              <a:rPr lang="en">
                <a:solidFill>
                  <a:srgbClr val="980000"/>
                </a:solidFill>
              </a:rPr>
              <a:t>steps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980000"/>
                </a:solidFill>
              </a:rPr>
              <a:t>angles</a:t>
            </a:r>
            <a:r>
              <a:rPr lang="en">
                <a:solidFill>
                  <a:schemeClr val="dk1"/>
                </a:solidFill>
              </a:rPr>
              <a:t> are modelled by </a:t>
            </a:r>
            <a:r>
              <a:rPr lang="en">
                <a:solidFill>
                  <a:srgbClr val="1155CC"/>
                </a:solidFill>
              </a:rPr>
              <a:t>state-dependent distributions</a:t>
            </a:r>
            <a:r>
              <a:rPr lang="en">
                <a:solidFill>
                  <a:schemeClr val="dk1"/>
                </a:solidFill>
              </a:rPr>
              <a:t>. </a:t>
            </a:r>
            <a:r>
              <a:rPr b="1" lang="en">
                <a:solidFill>
                  <a:schemeClr val="dk1"/>
                </a:solidFill>
              </a:rPr>
              <a:t>(e.g., at time </a:t>
            </a:r>
            <a:r>
              <a:rPr b="1" i="1" lang="en">
                <a:solidFill>
                  <a:schemeClr val="dk1"/>
                </a:solidFill>
              </a:rPr>
              <a:t>t</a:t>
            </a:r>
            <a:r>
              <a:rPr b="1" lang="en">
                <a:solidFill>
                  <a:schemeClr val="dk1"/>
                </a:solidFill>
              </a:rPr>
              <a:t>, if the animals is in a </a:t>
            </a:r>
            <a:r>
              <a:rPr b="1" lang="en">
                <a:solidFill>
                  <a:srgbClr val="1155CC"/>
                </a:solidFill>
              </a:rPr>
              <a:t>state of exploring</a:t>
            </a:r>
            <a:r>
              <a:rPr b="1" lang="en">
                <a:solidFill>
                  <a:schemeClr val="dk1"/>
                </a:solidFill>
              </a:rPr>
              <a:t> → will affect </a:t>
            </a:r>
            <a:r>
              <a:rPr b="1" lang="en">
                <a:solidFill>
                  <a:srgbClr val="980000"/>
                </a:solidFill>
              </a:rPr>
              <a:t>distributions of step lengths and turn angles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 Parameters </a:t>
            </a:r>
            <a:endParaRPr/>
          </a:p>
        </p:txBody>
      </p:sp>
      <p:sp>
        <p:nvSpPr>
          <p:cNvPr id="249" name="Google Shape;2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[include the original slide…]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