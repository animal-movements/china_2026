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3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00">
                <a:solidFill>
                  <a:srgbClr val="FFCA08"/>
                </a:solidFill>
                <a:latin typeface="Arial"/>
              </a:rPr>
              <a:t>WHOLE-TRACK MOVEMENT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Classifying Migration Patterns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from Net-Squared Displacement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5DEDB"/>
                </a:solidFill>
                <a:latin typeface="Arial"/>
              </a:rPr>
              <a:t>Not how far an animal moves each day, but the shape of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E5DEDB"/>
                </a:solidFill>
                <a:latin typeface="Arial"/>
              </a:rPr>
              <a:t>its life on the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4434840"/>
            <a:ext cx="1737360" cy="1371600"/>
          </a:xfrm>
          <a:prstGeom prst="rect">
            <a:avLst/>
          </a:prstGeom>
          <a:solidFill>
            <a:srgbClr val="CE8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854403" y="5463540"/>
            <a:ext cx="1320393" cy="0"/>
          </a:xfrm>
          <a:custGeom>
            <a:avLst/>
            <a:gdLst/>
            <a:ahLst/>
            <a:cxnLst/>
            <a:rect l="l" t="t" r="r" b="b"/>
            <a:pathLst>
              <a:path w="1320393" h="0">
                <a:moveTo>
                  <a:pt x="0" y="0"/>
                </a:moveTo>
                <a:lnTo>
                  <a:pt x="1320393" y="0"/>
                </a:lnTo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89A8C"/>
                </a:solidFill>
                <a:latin typeface="Arial"/>
              </a:rPr>
              <a:t>flat &amp; low  →  residency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4434840"/>
            <a:ext cx="1737360" cy="1371600"/>
          </a:xfrm>
          <a:prstGeom prst="rect">
            <a:avLst/>
          </a:prstGeom>
          <a:solidFill>
            <a:srgbClr val="E64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436668" y="4736592"/>
            <a:ext cx="1459383" cy="795528"/>
          </a:xfrm>
          <a:custGeom>
            <a:avLst/>
            <a:gdLst/>
            <a:ahLst/>
            <a:cxnLst/>
            <a:rect l="l" t="t" r="r" b="b"/>
            <a:pathLst>
              <a:path w="1459383" h="795528">
                <a:moveTo>
                  <a:pt x="0" y="795528"/>
                </a:moveTo>
                <a:lnTo>
                  <a:pt x="347472" y="795528"/>
                </a:lnTo>
                <a:lnTo>
                  <a:pt x="660197" y="0"/>
                </a:lnTo>
                <a:lnTo>
                  <a:pt x="972922" y="0"/>
                </a:lnTo>
                <a:lnTo>
                  <a:pt x="1216152" y="795528"/>
                </a:lnTo>
                <a:lnTo>
                  <a:pt x="1459383" y="795528"/>
                </a:lnTo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5943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89A8C"/>
                </a:solidFill>
                <a:latin typeface="Arial"/>
              </a:rPr>
              <a:t>rises &amp; falls  → 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7C6E"/>
                </a:solidFill>
                <a:latin typeface="Arial"/>
              </a:rPr>
              <a:t>Wildlife Movement Ecology  |  Conceptual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00">
                <a:solidFill>
                  <a:srgbClr val="F8931D"/>
                </a:solidFill>
                <a:latin typeface="Arial"/>
              </a:rPr>
              <a:t>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9302A"/>
                </a:solidFill>
                <a:latin typeface="Arial"/>
              </a:rPr>
              <a:t>Not every individual moves the same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5A50"/>
                </a:solidFill>
                <a:latin typeface="Arial"/>
              </a:rPr>
              <a:t>Within a single population, individuals can be resident, migratory, dispersing, or nomadic — and that mix, not just the population average, is often the ecologically interesting part.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109728" cy="109728"/>
          </a:xfrm>
          <a:prstGeom prst="rect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302A"/>
                </a:solidFill>
                <a:latin typeface="Arial"/>
              </a:rPr>
              <a:t>Partial migration is common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44368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A50"/>
                </a:solidFill>
                <a:latin typeface="Arial"/>
              </a:rPr>
              <a:t>Many ungulate populations mix strategies within the same herd — averaging across individuals hides this entirely.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302A"/>
                </a:solidFill>
                <a:latin typeface="Arial"/>
              </a:rPr>
              <a:t>Migratory routes are disappearing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95928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A50"/>
                </a:solidFill>
                <a:latin typeface="Arial"/>
              </a:rPr>
              <a:t>Fencing, roads, and land-use change can sever the corridors that produce a classic migrant NSD curve in the first place.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46320"/>
            <a:ext cx="109728" cy="109728"/>
          </a:xfrm>
          <a:prstGeom prst="rect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302A"/>
                </a:solidFill>
                <a:latin typeface="Arial"/>
              </a:rPr>
              <a:t>Classification shapes conservation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47488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A50"/>
                </a:solidFill>
                <a:latin typeface="Arial"/>
              </a:rPr>
              <a:t>Knowing which individuals migrate, and where, is what lets you draw a corridor boundary or protect a stopover site.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651760"/>
            <a:ext cx="5120640" cy="3524760"/>
          </a:xfrm>
          <a:prstGeom prst="rect">
            <a:avLst/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9260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00">
                <a:solidFill>
                  <a:srgbClr val="A89A8C"/>
                </a:solidFill>
                <a:latin typeface="Arial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291840"/>
            <a:ext cx="45720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39302A"/>
                </a:solidFill>
                <a:latin typeface="Arial"/>
              </a:rPr>
              <a:t>“Fidelity should be favored when habitat quality is predictable, and disfavored when it is not — the same logic that makes migration corridors worth mapping and protecting.”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216400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5A50"/>
                </a:solidFill>
                <a:latin typeface="Arial"/>
              </a:rPr>
              <a:t>Kauffman, Aikens, Esmaeili et al. (2021)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5A50"/>
                </a:solidFill>
                <a:latin typeface="Arial"/>
              </a:rPr>
              <a:t>Science 372(6542):566–569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9A8C"/>
                </a:solidFill>
                <a:latin typeface="Arial"/>
              </a:rPr>
              <a:t>Individual variation in migratory tendency is the signal, not the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9A8C"/>
                </a:solidFill>
                <a:latin typeface="Arial"/>
              </a:rPr>
              <a:t>Migration Pattern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00">
                <a:solidFill>
                  <a:srgbClr val="F8931D"/>
                </a:solidFill>
                <a:latin typeface="Arial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9302A"/>
                </a:solidFill>
                <a:latin typeface="Arial"/>
              </a:rPr>
              <a:t>Net-squared displacement: distance from where you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" cy="109728"/>
          </a:xfrm>
          <a:prstGeom prst="rect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302A"/>
                </a:solidFill>
                <a:latin typeface="Arial"/>
              </a:rPr>
              <a:t>Squared distance from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01368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A50"/>
                </a:solidFill>
                <a:latin typeface="Arial"/>
              </a:rPr>
              <a:t>NSD is the squared straight-line distance between each fix and the individual's very first recorded fix, plotted against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109728" cy="109728"/>
          </a:xfrm>
          <a:prstGeom prst="rect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302A"/>
                </a:solidFill>
                <a:latin typeface="Arial"/>
              </a:rPr>
              <a:t>No resampling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52928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A50"/>
                </a:solidFill>
                <a:latin typeface="Arial"/>
              </a:rPr>
              <a:t>Because it needs only a fixed reference point, NSD can be computed directly on the raw track — no regular sampling interval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03320"/>
            <a:ext cx="109728" cy="109728"/>
          </a:xfrm>
          <a:prstGeom prst="rect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302A"/>
                </a:solidFill>
                <a:latin typeface="Arial"/>
              </a:rPr>
              <a:t>Shape, not value, is diagnostic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04488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A50"/>
                </a:solidFill>
                <a:latin typeface="Arial"/>
              </a:rPr>
              <a:t>It isn't the magnitude of NSD that classifies an individual — it's whether the curve stays flat, rises once, or cycles.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80"/>
            <a:ext cx="109728" cy="109728"/>
          </a:xfrm>
          <a:prstGeom prst="rect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302A"/>
                </a:solidFill>
                <a:latin typeface="Arial"/>
              </a:rPr>
              <a:t>Five canonical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56048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A50"/>
                </a:solidFill>
                <a:latin typeface="Arial"/>
              </a:rPr>
              <a:t>Bunnefeld et al. (2011) formalized how five NSD curve shapes map onto five broad movement strategies (right).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54480"/>
            <a:ext cx="5120640" cy="4480560"/>
          </a:xfrm>
          <a:prstGeom prst="rect">
            <a:avLst/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737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00">
                <a:solidFill>
                  <a:srgbClr val="A89A8C"/>
                </a:solidFill>
                <a:latin typeface="Arial"/>
              </a:rPr>
              <a:t>FIVE CANONICAL PATTERNS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21488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825996" y="2526030"/>
            <a:ext cx="1069848" cy="0"/>
          </a:xfrm>
          <a:custGeom>
            <a:avLst/>
            <a:gdLst/>
            <a:ahLst/>
            <a:cxnLst/>
            <a:rect l="l" t="t" r="r" b="b"/>
            <a:pathLst>
              <a:path w="1069848" h="0">
                <a:moveTo>
                  <a:pt x="0" y="0"/>
                </a:moveTo>
                <a:lnTo>
                  <a:pt x="1069848" y="0"/>
                </a:lnTo>
              </a:path>
            </a:pathLst>
          </a:custGeom>
          <a:noFill/>
          <a:ln w="28575">
            <a:solidFill>
              <a:srgbClr val="CE8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03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302A"/>
                </a:solidFill>
                <a:latin typeface="Arial"/>
              </a:rPr>
              <a:t>Resident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395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A50"/>
                </a:solidFill>
                <a:latin typeface="Arial"/>
              </a:rPr>
              <a:t>restricted to one area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9108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825996" y="3011424"/>
            <a:ext cx="1069848" cy="326898"/>
          </a:xfrm>
          <a:custGeom>
            <a:avLst/>
            <a:gdLst/>
            <a:ahLst/>
            <a:cxnLst/>
            <a:rect l="l" t="t" r="r" b="b"/>
            <a:pathLst>
              <a:path w="1069848" h="326898">
                <a:moveTo>
                  <a:pt x="0" y="326898"/>
                </a:moveTo>
                <a:lnTo>
                  <a:pt x="297180" y="326898"/>
                </a:lnTo>
                <a:lnTo>
                  <a:pt x="594360" y="0"/>
                </a:lnTo>
                <a:lnTo>
                  <a:pt x="1069848" y="0"/>
                </a:lnTo>
              </a:path>
            </a:pathLst>
          </a:custGeom>
          <a:noFill/>
          <a:ln w="28575">
            <a:solidFill>
              <a:srgbClr val="F89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865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302A"/>
                </a:solidFill>
                <a:latin typeface="Arial"/>
              </a:rPr>
              <a:t>Disperser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57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A50"/>
                </a:solidFill>
                <a:latin typeface="Arial"/>
              </a:rPr>
              <a:t>one-way move, no return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6728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6825996" y="3773424"/>
            <a:ext cx="1069848" cy="326898"/>
          </a:xfrm>
          <a:custGeom>
            <a:avLst/>
            <a:gdLst/>
            <a:ahLst/>
            <a:cxnLst/>
            <a:rect l="l" t="t" r="r" b="b"/>
            <a:pathLst>
              <a:path w="1069848" h="326898">
                <a:moveTo>
                  <a:pt x="0" y="326898"/>
                </a:moveTo>
                <a:lnTo>
                  <a:pt x="202082" y="326898"/>
                </a:lnTo>
                <a:lnTo>
                  <a:pt x="392277" y="0"/>
                </a:lnTo>
                <a:lnTo>
                  <a:pt x="594360" y="0"/>
                </a:lnTo>
                <a:lnTo>
                  <a:pt x="772668" y="326898"/>
                </a:lnTo>
                <a:lnTo>
                  <a:pt x="1069848" y="326898"/>
                </a:lnTo>
              </a:path>
            </a:pathLst>
          </a:custGeom>
          <a:noFill/>
          <a:ln w="28575">
            <a:solidFill>
              <a:srgbClr val="E648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627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302A"/>
                </a:solidFill>
                <a:latin typeface="Arial"/>
              </a:rPr>
              <a:t>Migrant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919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A50"/>
                </a:solidFill>
                <a:latin typeface="Arial"/>
              </a:rPr>
              <a:t>round trip, repeats seasonally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4348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6825996" y="4560570"/>
            <a:ext cx="1069848" cy="301752"/>
          </a:xfrm>
          <a:custGeom>
            <a:avLst/>
            <a:gdLst/>
            <a:ahLst/>
            <a:cxnLst/>
            <a:rect l="l" t="t" r="r" b="b"/>
            <a:pathLst>
              <a:path w="1069848" h="301752">
                <a:moveTo>
                  <a:pt x="0" y="301752"/>
                </a:moveTo>
                <a:lnTo>
                  <a:pt x="202082" y="301752"/>
                </a:lnTo>
                <a:lnTo>
                  <a:pt x="439826" y="0"/>
                </a:lnTo>
                <a:lnTo>
                  <a:pt x="630021" y="100584"/>
                </a:lnTo>
                <a:lnTo>
                  <a:pt x="832104" y="50292"/>
                </a:lnTo>
                <a:lnTo>
                  <a:pt x="1069848" y="150876"/>
                </a:lnTo>
              </a:path>
            </a:pathLst>
          </a:custGeom>
          <a:noFill/>
          <a:ln w="28575">
            <a:solidFill>
              <a:srgbClr val="B06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389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302A"/>
                </a:solidFill>
                <a:latin typeface="Arial"/>
              </a:rPr>
              <a:t>Mixed migrant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681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A50"/>
                </a:solidFill>
                <a:latin typeface="Arial"/>
              </a:rPr>
              <a:t>partial or irregular round trip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51968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825996" y="5272278"/>
            <a:ext cx="1069848" cy="266547"/>
          </a:xfrm>
          <a:custGeom>
            <a:avLst/>
            <a:gdLst/>
            <a:ahLst/>
            <a:cxnLst/>
            <a:rect l="l" t="t" r="r" b="b"/>
            <a:pathLst>
              <a:path w="1069848" h="266547">
                <a:moveTo>
                  <a:pt x="0" y="201168"/>
                </a:moveTo>
                <a:lnTo>
                  <a:pt x="178308" y="50292"/>
                </a:lnTo>
                <a:lnTo>
                  <a:pt x="356616" y="266547"/>
                </a:lnTo>
                <a:lnTo>
                  <a:pt x="534924" y="35204"/>
                </a:lnTo>
                <a:lnTo>
                  <a:pt x="713232" y="176022"/>
                </a:lnTo>
                <a:lnTo>
                  <a:pt x="891540" y="0"/>
                </a:lnTo>
                <a:lnTo>
                  <a:pt x="1069848" y="135788"/>
                </a:lnTo>
              </a:path>
            </a:pathLst>
          </a:custGeom>
          <a:noFill/>
          <a:ln w="28575">
            <a:solidFill>
              <a:srgbClr val="39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5151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302A"/>
                </a:solidFill>
                <a:latin typeface="Arial"/>
              </a:rPr>
              <a:t>Nomad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5443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A50"/>
                </a:solidFill>
                <a:latin typeface="Arial"/>
              </a:rPr>
              <a:t>no fixed destination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9A8C"/>
                </a:solidFill>
                <a:latin typeface="Arial"/>
              </a:rPr>
              <a:t>Curve shape — not the raw NSD value — is what classifies a movement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9A8C"/>
                </a:solidFill>
                <a:latin typeface="Arial"/>
              </a:rPr>
              <a:t>Migration Pattern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00">
                <a:solidFill>
                  <a:srgbClr val="F8931D"/>
                </a:solidFill>
                <a:latin typeface="Arial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9302A"/>
                </a:solidFill>
                <a:latin typeface="Arial"/>
              </a:rPr>
              <a:t>Two examples from the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212080" cy="4526280"/>
          </a:xfrm>
          <a:prstGeom prst="rect">
            <a:avLst/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1783080" cy="365760"/>
          </a:xfrm>
          <a:prstGeom prst="rect">
            <a:avLst/>
          </a:prstGeom>
          <a:solidFill>
            <a:srgbClr val="E64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9302A"/>
                </a:solidFill>
                <a:latin typeface="Arial"/>
              </a:rPr>
              <a:t>Gigliotti et al. (2022)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A50"/>
                </a:solidFill>
                <a:latin typeface="Arial"/>
              </a:rPr>
              <a:t>Biological Conservation — elk, Greater Yellowstone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18104"/>
            <a:ext cx="91440" cy="91440"/>
          </a:xfrm>
          <a:prstGeom prst="ellipse">
            <a:avLst/>
          </a:prstGeom>
          <a:solidFill>
            <a:srgbClr val="E64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118104"/>
            <a:ext cx="43251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9302A"/>
                </a:solidFill>
                <a:latin typeface="Arial"/>
              </a:rPr>
              <a:t>Classified migratory status for 1,088 elk across 26 herds using visual NSD review (Migration Mapper), not automated model fitting.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867912"/>
            <a:ext cx="91440" cy="91440"/>
          </a:xfrm>
          <a:prstGeom prst="ellipse">
            <a:avLst/>
          </a:prstGeom>
          <a:solidFill>
            <a:srgbClr val="E64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867912"/>
            <a:ext cx="43251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9302A"/>
                </a:solidFill>
                <a:latin typeface="Arial"/>
              </a:rPr>
              <a:t>Elk movement was too individually and herd-level variable for standardized model classification to outperform trained visual review.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617720"/>
            <a:ext cx="91440" cy="91440"/>
          </a:xfrm>
          <a:prstGeom prst="ellipse">
            <a:avLst/>
          </a:prstGeom>
          <a:solidFill>
            <a:srgbClr val="E64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617720"/>
            <a:ext cx="43251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9302A"/>
                </a:solidFill>
                <a:latin typeface="Arial"/>
              </a:rPr>
              <a:t>Key idea: classification results directly shaped land-protection priorities — both private working lands and public protected areas mattered for keeping routes intact.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5212080" cy="4526280"/>
          </a:xfrm>
          <a:prstGeom prst="rect">
            <a:avLst/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828800"/>
            <a:ext cx="1783080" cy="365760"/>
          </a:xfrm>
          <a:prstGeom prst="rect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GLOBAL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0428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9302A"/>
                </a:solidFill>
                <a:latin typeface="Arial"/>
              </a:rPr>
              <a:t>Kauffman et al. (2021)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A50"/>
                </a:solidFill>
                <a:latin typeface="Arial"/>
              </a:rPr>
              <a:t>Science — global ungulate migration atlas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3118104"/>
            <a:ext cx="91440" cy="91440"/>
          </a:xfrm>
          <a:prstGeom prst="ellipse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0568" y="3118104"/>
            <a:ext cx="43251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9302A"/>
                </a:solidFill>
                <a:latin typeface="Arial"/>
              </a:rPr>
              <a:t>Synthesized GPS tracking data across continents into the first systematic effort to map ungulate migration routes worldwide.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867912"/>
            <a:ext cx="91440" cy="91440"/>
          </a:xfrm>
          <a:prstGeom prst="ellipse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3867912"/>
            <a:ext cx="43251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9302A"/>
                </a:solidFill>
                <a:latin typeface="Arial"/>
              </a:rPr>
              <a:t>Framed migration mapping — the same individual-level classification taught here — as the evidence base behind real corridor-protection policy.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4617720"/>
            <a:ext cx="91440" cy="91440"/>
          </a:xfrm>
          <a:prstGeom prst="ellipse">
            <a:avLst/>
          </a:prstGeom>
          <a:solidFill>
            <a:srgbClr val="F8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4617720"/>
            <a:ext cx="43251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9302A"/>
                </a:solidFill>
                <a:latin typeface="Arial"/>
              </a:rPr>
              <a:t>Key idea: classifying migratory status isn't just descriptive — it's the input every downstream conservation decision about migration depends 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9A8C"/>
                </a:solidFill>
                <a:latin typeface="Arial"/>
              </a:rPr>
              <a:t>Full citations in the course reading 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70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9A8C"/>
                </a:solidFill>
                <a:latin typeface="Arial"/>
              </a:rPr>
              <a:t>Migration Pattern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