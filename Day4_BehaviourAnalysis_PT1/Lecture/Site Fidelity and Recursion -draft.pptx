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9302A"/>
        </a:solidFill>
        <a:effectLst/>
      </p:bgPr>
    </p:bg>
    <p:spTree>
      <p:nvGrpSpPr>
        <p:cNvPr id="1" name=""/>
        <p:cNvGrpSpPr/>
        <p:nvPr/>
      </p:nvGrpSpPr>
      <p:grpSpPr/>
      <p:sp>
        <p:nvSpPr>
          <p:cNvPr id="2" name="TextBox 1"/>
          <p:cNvSpPr txBox="1"/>
          <p:nvPr/>
        </p:nvSpPr>
        <p:spPr>
          <a:xfrm>
            <a:off x="822960" y="1554480"/>
            <a:ext cx="9144000" cy="274320"/>
          </a:xfrm>
          <a:prstGeom prst="rect">
            <a:avLst/>
          </a:prstGeom>
          <a:noFill/>
        </p:spPr>
        <p:txBody>
          <a:bodyPr wrap="square" anchor="t" lIns="0" rIns="0" tIns="0" bIns="0">
            <a:spAutoFit/>
          </a:bodyPr>
          <a:lstStyle/>
          <a:p>
            <a:pPr algn="l"/>
            <a:r>
              <a:rPr sz="1200" b="1" spc="200">
                <a:solidFill>
                  <a:srgbClr val="FFCA08"/>
                </a:solidFill>
                <a:latin typeface="Arial"/>
              </a:rPr>
              <a:t>RETURNING TO THE SAME PLACE</a:t>
            </a:r>
          </a:p>
        </p:txBody>
      </p:sp>
      <p:sp>
        <p:nvSpPr>
          <p:cNvPr id="3" name="TextBox 2"/>
          <p:cNvSpPr txBox="1"/>
          <p:nvPr/>
        </p:nvSpPr>
        <p:spPr>
          <a:xfrm>
            <a:off x="822960" y="1920240"/>
            <a:ext cx="10241280" cy="1737360"/>
          </a:xfrm>
          <a:prstGeom prst="rect">
            <a:avLst/>
          </a:prstGeom>
          <a:noFill/>
        </p:spPr>
        <p:txBody>
          <a:bodyPr wrap="square" anchor="t" lIns="0" rIns="0" tIns="0" bIns="0">
            <a:spAutoFit/>
          </a:bodyPr>
          <a:lstStyle/>
          <a:p>
            <a:pPr algn="l">
              <a:lnSpc>
                <a:spcPct val="105000"/>
              </a:lnSpc>
            </a:pPr>
            <a:r>
              <a:rPr sz="4000" b="1">
                <a:solidFill>
                  <a:srgbClr val="FFFFFF"/>
                </a:solidFill>
                <a:latin typeface="Arial"/>
              </a:rPr>
              <a:t>Site Fidelity &amp; Recursion:</a:t>
            </a:r>
          </a:p>
          <a:p>
            <a:pPr algn="l">
              <a:lnSpc>
                <a:spcPct val="105000"/>
              </a:lnSpc>
            </a:pPr>
            <a:r>
              <a:rPr sz="4000" b="1">
                <a:solidFill>
                  <a:srgbClr val="FFFFFF"/>
                </a:solidFill>
                <a:latin typeface="Arial"/>
              </a:rPr>
              <a:t>Why Do Animals Come Back?</a:t>
            </a:r>
          </a:p>
        </p:txBody>
      </p:sp>
      <p:sp>
        <p:nvSpPr>
          <p:cNvPr id="4" name="TextBox 3"/>
          <p:cNvSpPr txBox="1"/>
          <p:nvPr/>
        </p:nvSpPr>
        <p:spPr>
          <a:xfrm>
            <a:off x="822960" y="3703320"/>
            <a:ext cx="9144000" cy="685800"/>
          </a:xfrm>
          <a:prstGeom prst="rect">
            <a:avLst/>
          </a:prstGeom>
          <a:noFill/>
        </p:spPr>
        <p:txBody>
          <a:bodyPr wrap="square" anchor="t" lIns="0" rIns="0" tIns="0" bIns="0">
            <a:spAutoFit/>
          </a:bodyPr>
          <a:lstStyle/>
          <a:p>
            <a:pPr algn="l">
              <a:lnSpc>
                <a:spcPct val="120000"/>
              </a:lnSpc>
            </a:pPr>
            <a:r>
              <a:rPr sz="1600" b="0">
                <a:solidFill>
                  <a:srgbClr val="E5DEDB"/>
                </a:solidFill>
                <a:latin typeface="Arial"/>
              </a:rPr>
              <a:t>Not how big the range is, but which specific places</a:t>
            </a:r>
          </a:p>
          <a:p>
            <a:pPr algn="l">
              <a:lnSpc>
                <a:spcPct val="120000"/>
              </a:lnSpc>
            </a:pPr>
            <a:r>
              <a:rPr sz="1600" b="0">
                <a:solidFill>
                  <a:srgbClr val="E5DEDB"/>
                </a:solidFill>
                <a:latin typeface="Arial"/>
              </a:rPr>
              <a:t>get used again and again</a:t>
            </a:r>
          </a:p>
        </p:txBody>
      </p:sp>
      <p:sp>
        <p:nvSpPr>
          <p:cNvPr id="5" name="Rectangle 4"/>
          <p:cNvSpPr/>
          <p:nvPr/>
        </p:nvSpPr>
        <p:spPr>
          <a:xfrm>
            <a:off x="1645920" y="4434840"/>
            <a:ext cx="1737360" cy="1371600"/>
          </a:xfrm>
          <a:prstGeom prst="rect">
            <a:avLst/>
          </a:prstGeom>
          <a:solidFill>
            <a:srgbClr val="CE8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88236" y="4663440"/>
            <a:ext cx="82296" cy="82296"/>
          </a:xfrm>
          <a:prstGeom prst="ellipse">
            <a:avLst/>
          </a:prstGeom>
          <a:solidFill>
            <a:srgbClr val="E8C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034540" y="4841748"/>
            <a:ext cx="82296" cy="82296"/>
          </a:xfrm>
          <a:prstGeom prst="ellipse">
            <a:avLst/>
          </a:prstGeom>
          <a:solidFill>
            <a:srgbClr val="E8C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473452" y="4722876"/>
            <a:ext cx="82296" cy="82296"/>
          </a:xfrm>
          <a:prstGeom prst="ellipse">
            <a:avLst/>
          </a:prstGeom>
          <a:solidFill>
            <a:srgbClr val="E8C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619756" y="4901184"/>
            <a:ext cx="82296" cy="82296"/>
          </a:xfrm>
          <a:prstGeom prst="ellipse">
            <a:avLst/>
          </a:prstGeom>
          <a:solidFill>
            <a:srgbClr val="E8C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839212" y="4663440"/>
            <a:ext cx="82296" cy="82296"/>
          </a:xfrm>
          <a:prstGeom prst="ellipse">
            <a:avLst/>
          </a:prstGeom>
          <a:solidFill>
            <a:srgbClr val="E8C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985516" y="4960620"/>
            <a:ext cx="82296" cy="82296"/>
          </a:xfrm>
          <a:prstGeom prst="ellipse">
            <a:avLst/>
          </a:prstGeom>
          <a:solidFill>
            <a:srgbClr val="E8C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766060" y="5198364"/>
            <a:ext cx="82296" cy="82296"/>
          </a:xfrm>
          <a:prstGeom prst="ellipse">
            <a:avLst/>
          </a:prstGeom>
          <a:solidFill>
            <a:srgbClr val="E8C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546604" y="5376672"/>
            <a:ext cx="82296" cy="82296"/>
          </a:xfrm>
          <a:prstGeom prst="ellipse">
            <a:avLst/>
          </a:prstGeom>
          <a:solidFill>
            <a:srgbClr val="E8C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327148" y="5495544"/>
            <a:ext cx="82296" cy="82296"/>
          </a:xfrm>
          <a:prstGeom prst="ellipse">
            <a:avLst/>
          </a:prstGeom>
          <a:solidFill>
            <a:srgbClr val="E8C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961388" y="5317236"/>
            <a:ext cx="82296" cy="82296"/>
          </a:xfrm>
          <a:prstGeom prst="ellipse">
            <a:avLst/>
          </a:prstGeom>
          <a:solidFill>
            <a:srgbClr val="E8C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58668" y="5376672"/>
            <a:ext cx="82296" cy="82296"/>
          </a:xfrm>
          <a:prstGeom prst="ellipse">
            <a:avLst/>
          </a:prstGeom>
          <a:solidFill>
            <a:srgbClr val="E8C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692908" y="5495544"/>
            <a:ext cx="82296" cy="82296"/>
          </a:xfrm>
          <a:prstGeom prst="ellipse">
            <a:avLst/>
          </a:prstGeom>
          <a:solidFill>
            <a:srgbClr val="E8C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151583" y="5103266"/>
            <a:ext cx="82296" cy="822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224735" y="5174589"/>
            <a:ext cx="82296" cy="822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180844" y="5234025"/>
            <a:ext cx="82296" cy="822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268626" y="5079492"/>
            <a:ext cx="82296" cy="822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195474" y="5031943"/>
            <a:ext cx="82296" cy="822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024481" y="4967935"/>
            <a:ext cx="424281" cy="424281"/>
          </a:xfrm>
          <a:prstGeom prst="ellipse">
            <a:avLst/>
          </a:prstGeom>
          <a:noFill/>
          <a:ln w="22225">
            <a:solidFill>
              <a:srgbClr val="FFFFF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71600" y="5943600"/>
            <a:ext cx="2286000" cy="274320"/>
          </a:xfrm>
          <a:prstGeom prst="rect">
            <a:avLst/>
          </a:prstGeom>
          <a:noFill/>
        </p:spPr>
        <p:txBody>
          <a:bodyPr wrap="square" anchor="t" lIns="0" rIns="0" tIns="0" bIns="0">
            <a:spAutoFit/>
          </a:bodyPr>
          <a:lstStyle/>
          <a:p>
            <a:pPr algn="ctr"/>
            <a:r>
              <a:rPr sz="1000" b="0">
                <a:solidFill>
                  <a:srgbClr val="A89A8C"/>
                </a:solidFill>
                <a:latin typeface="Arial"/>
              </a:rPr>
              <a:t>one tight cluster  →  a site</a:t>
            </a:r>
          </a:p>
        </p:txBody>
      </p:sp>
      <p:sp>
        <p:nvSpPr>
          <p:cNvPr id="25" name="Rectangle 24"/>
          <p:cNvSpPr/>
          <p:nvPr/>
        </p:nvSpPr>
        <p:spPr>
          <a:xfrm>
            <a:off x="4297680" y="4434840"/>
            <a:ext cx="1737360" cy="1371600"/>
          </a:xfrm>
          <a:prstGeom prst="rect">
            <a:avLst/>
          </a:prstGeom>
          <a:solidFill>
            <a:srgbClr val="E64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539996" y="4663440"/>
            <a:ext cx="82296" cy="822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86300" y="4841748"/>
            <a:ext cx="82296" cy="822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125212" y="4722876"/>
            <a:ext cx="82296" cy="822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271516" y="4901184"/>
            <a:ext cx="82296" cy="822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490972" y="4663440"/>
            <a:ext cx="82296" cy="822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637276" y="4960620"/>
            <a:ext cx="82296" cy="822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417820" y="5198364"/>
            <a:ext cx="82296" cy="822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198364" y="5376672"/>
            <a:ext cx="82296" cy="822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978908" y="5495544"/>
            <a:ext cx="82296" cy="822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613148" y="5317236"/>
            <a:ext cx="82296" cy="822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710428" y="5376672"/>
            <a:ext cx="82296" cy="822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344668" y="5495544"/>
            <a:ext cx="82296" cy="822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803343" y="5103266"/>
            <a:ext cx="82296" cy="822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876495" y="5174589"/>
            <a:ext cx="82296" cy="822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832604" y="5234025"/>
            <a:ext cx="82296" cy="822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920386" y="5079492"/>
            <a:ext cx="82296" cy="822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847234" y="5031943"/>
            <a:ext cx="82296" cy="822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437126" y="4391406"/>
            <a:ext cx="1458468" cy="1458468"/>
          </a:xfrm>
          <a:prstGeom prst="ellipse">
            <a:avLst/>
          </a:prstGeom>
          <a:noFill/>
          <a:ln w="22225">
            <a:solidFill>
              <a:srgbClr val="FFFFF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023360" y="5943600"/>
            <a:ext cx="2286000" cy="274320"/>
          </a:xfrm>
          <a:prstGeom prst="rect">
            <a:avLst/>
          </a:prstGeom>
          <a:noFill/>
        </p:spPr>
        <p:txBody>
          <a:bodyPr wrap="square" anchor="t" lIns="0" rIns="0" tIns="0" bIns="0">
            <a:spAutoFit/>
          </a:bodyPr>
          <a:lstStyle/>
          <a:p>
            <a:pPr algn="ctr"/>
            <a:r>
              <a:rPr sz="1000" b="0">
                <a:solidFill>
                  <a:srgbClr val="A89A8C"/>
                </a:solidFill>
                <a:latin typeface="Arial"/>
              </a:rPr>
              <a:t>points everywhere  →  an area</a:t>
            </a:r>
          </a:p>
        </p:txBody>
      </p:sp>
      <p:sp>
        <p:nvSpPr>
          <p:cNvPr id="45" name="TextBox 44"/>
          <p:cNvSpPr txBox="1"/>
          <p:nvPr/>
        </p:nvSpPr>
        <p:spPr>
          <a:xfrm>
            <a:off x="822960" y="6355080"/>
            <a:ext cx="7315200" cy="274320"/>
          </a:xfrm>
          <a:prstGeom prst="rect">
            <a:avLst/>
          </a:prstGeom>
          <a:noFill/>
        </p:spPr>
        <p:txBody>
          <a:bodyPr wrap="square" anchor="t" lIns="0" rIns="0" tIns="0" bIns="0">
            <a:spAutoFit/>
          </a:bodyPr>
          <a:lstStyle/>
          <a:p>
            <a:pPr algn="l"/>
            <a:r>
              <a:rPr sz="1000" b="0">
                <a:solidFill>
                  <a:srgbClr val="8C7C6E"/>
                </a:solidFill>
                <a:latin typeface="Arial"/>
              </a:rPr>
              <a:t>Wildlife Movement Ecology  |  Conceptual overview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anchor="t" lIns="0" rIns="0" tIns="0" bIns="0">
            <a:spAutoFit/>
          </a:bodyPr>
          <a:lstStyle/>
          <a:p>
            <a:pPr algn="l"/>
            <a:r>
              <a:rPr sz="1200" b="1" spc="200">
                <a:solidFill>
                  <a:srgbClr val="F8931D"/>
                </a:solidFill>
                <a:latin typeface="Arial"/>
              </a:rPr>
              <a:t>FRAMING</a:t>
            </a:r>
          </a:p>
        </p:txBody>
      </p:sp>
      <p:sp>
        <p:nvSpPr>
          <p:cNvPr id="3" name="TextBox 2"/>
          <p:cNvSpPr txBox="1"/>
          <p:nvPr/>
        </p:nvSpPr>
        <p:spPr>
          <a:xfrm>
            <a:off x="548640" y="658368"/>
            <a:ext cx="11064240" cy="685800"/>
          </a:xfrm>
          <a:prstGeom prst="rect">
            <a:avLst/>
          </a:prstGeom>
          <a:noFill/>
        </p:spPr>
        <p:txBody>
          <a:bodyPr wrap="square" anchor="t" lIns="0" rIns="0" tIns="0" bIns="0">
            <a:spAutoFit/>
          </a:bodyPr>
          <a:lstStyle/>
          <a:p>
            <a:pPr algn="l">
              <a:lnSpc>
                <a:spcPct val="105000"/>
              </a:lnSpc>
            </a:pPr>
            <a:r>
              <a:rPr sz="2800" b="1">
                <a:solidFill>
                  <a:srgbClr val="39302A"/>
                </a:solidFill>
                <a:latin typeface="Arial"/>
              </a:rPr>
              <a:t>Why ask about revisitation specifically?</a:t>
            </a:r>
          </a:p>
        </p:txBody>
      </p:sp>
      <p:sp>
        <p:nvSpPr>
          <p:cNvPr id="4" name="TextBox 3"/>
          <p:cNvSpPr txBox="1"/>
          <p:nvPr/>
        </p:nvSpPr>
        <p:spPr>
          <a:xfrm>
            <a:off x="548640" y="1463040"/>
            <a:ext cx="11064240" cy="685800"/>
          </a:xfrm>
          <a:prstGeom prst="rect">
            <a:avLst/>
          </a:prstGeom>
          <a:noFill/>
        </p:spPr>
        <p:txBody>
          <a:bodyPr wrap="square" anchor="t" lIns="0" rIns="0" tIns="0" bIns="0">
            <a:spAutoFit/>
          </a:bodyPr>
          <a:lstStyle/>
          <a:p>
            <a:pPr algn="l">
              <a:lnSpc>
                <a:spcPct val="120000"/>
              </a:lnSpc>
            </a:pPr>
            <a:r>
              <a:rPr sz="1400" b="0">
                <a:solidFill>
                  <a:srgbClr val="6B5A50"/>
                </a:solidFill>
                <a:latin typeface="Arial"/>
              </a:rPr>
              <a:t>Home range tells you how much space an animal uses. Movement-pattern classification tells you whether it's resident, migratory, or nomadic. Neither tells you whether it keeps coming back to one specific place.</a:t>
            </a:r>
          </a:p>
        </p:txBody>
      </p:sp>
      <p:sp>
        <p:nvSpPr>
          <p:cNvPr id="5" name="Rectangle 4"/>
          <p:cNvSpPr/>
          <p:nvPr/>
        </p:nvSpPr>
        <p:spPr>
          <a:xfrm>
            <a:off x="548640" y="2743200"/>
            <a:ext cx="109728" cy="109728"/>
          </a:xfrm>
          <a:prstGeom prst="rect">
            <a:avLst/>
          </a:prstGeom>
          <a:solidFill>
            <a:srgbClr val="F893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651760"/>
            <a:ext cx="4846320" cy="292608"/>
          </a:xfrm>
          <a:prstGeom prst="rect">
            <a:avLst/>
          </a:prstGeom>
          <a:noFill/>
        </p:spPr>
        <p:txBody>
          <a:bodyPr wrap="square" anchor="t" lIns="0" rIns="0" tIns="0" bIns="0">
            <a:spAutoFit/>
          </a:bodyPr>
          <a:lstStyle/>
          <a:p>
            <a:pPr algn="l"/>
            <a:r>
              <a:rPr sz="1400" b="1">
                <a:solidFill>
                  <a:srgbClr val="39302A"/>
                </a:solidFill>
                <a:latin typeface="Arial"/>
              </a:rPr>
              <a:t>Site fidelity is under selection</a:t>
            </a:r>
          </a:p>
        </p:txBody>
      </p:sp>
      <p:sp>
        <p:nvSpPr>
          <p:cNvPr id="7" name="TextBox 6"/>
          <p:cNvSpPr txBox="1"/>
          <p:nvPr/>
        </p:nvSpPr>
        <p:spPr>
          <a:xfrm>
            <a:off x="822960" y="2944368"/>
            <a:ext cx="4846320" cy="685800"/>
          </a:xfrm>
          <a:prstGeom prst="rect">
            <a:avLst/>
          </a:prstGeom>
          <a:noFill/>
        </p:spPr>
        <p:txBody>
          <a:bodyPr wrap="square" anchor="t" lIns="0" rIns="0" tIns="0" bIns="0">
            <a:spAutoFit/>
          </a:bodyPr>
          <a:lstStyle/>
          <a:p>
            <a:pPr algn="l">
              <a:lnSpc>
                <a:spcPct val="115000"/>
              </a:lnSpc>
            </a:pPr>
            <a:r>
              <a:rPr sz="1150" b="0">
                <a:solidFill>
                  <a:srgbClr val="6B5A50"/>
                </a:solidFill>
                <a:latin typeface="Arial"/>
              </a:rPr>
              <a:t>Theory predicts fidelity should be favored when habitat quality is predictable and the cost of switching locations is high.</a:t>
            </a:r>
          </a:p>
        </p:txBody>
      </p:sp>
      <p:sp>
        <p:nvSpPr>
          <p:cNvPr id="8" name="Rectangle 7"/>
          <p:cNvSpPr/>
          <p:nvPr/>
        </p:nvSpPr>
        <p:spPr>
          <a:xfrm>
            <a:off x="548640" y="3794760"/>
            <a:ext cx="109728" cy="109728"/>
          </a:xfrm>
          <a:prstGeom prst="rect">
            <a:avLst/>
          </a:prstGeom>
          <a:solidFill>
            <a:srgbClr val="F893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703320"/>
            <a:ext cx="4846320" cy="292608"/>
          </a:xfrm>
          <a:prstGeom prst="rect">
            <a:avLst/>
          </a:prstGeom>
          <a:noFill/>
        </p:spPr>
        <p:txBody>
          <a:bodyPr wrap="square" anchor="t" lIns="0" rIns="0" tIns="0" bIns="0">
            <a:spAutoFit/>
          </a:bodyPr>
          <a:lstStyle/>
          <a:p>
            <a:pPr algn="l"/>
            <a:r>
              <a:rPr sz="1400" b="1">
                <a:solidFill>
                  <a:srgbClr val="39302A"/>
                </a:solidFill>
                <a:latin typeface="Arial"/>
              </a:rPr>
              <a:t>It varies a lot across species and populations</a:t>
            </a:r>
          </a:p>
        </p:txBody>
      </p:sp>
      <p:sp>
        <p:nvSpPr>
          <p:cNvPr id="10" name="TextBox 9"/>
          <p:cNvSpPr txBox="1"/>
          <p:nvPr/>
        </p:nvSpPr>
        <p:spPr>
          <a:xfrm>
            <a:off x="822960" y="3995928"/>
            <a:ext cx="4846320" cy="685800"/>
          </a:xfrm>
          <a:prstGeom prst="rect">
            <a:avLst/>
          </a:prstGeom>
          <a:noFill/>
        </p:spPr>
        <p:txBody>
          <a:bodyPr wrap="square" anchor="t" lIns="0" rIns="0" tIns="0" bIns="0">
            <a:spAutoFit/>
          </a:bodyPr>
          <a:lstStyle/>
          <a:p>
            <a:pPr algn="l">
              <a:lnSpc>
                <a:spcPct val="115000"/>
              </a:lnSpc>
            </a:pPr>
            <a:r>
              <a:rPr sz="1150" b="0">
                <a:solidFill>
                  <a:srgbClr val="6B5A50"/>
                </a:solidFill>
                <a:latin typeface="Arial"/>
              </a:rPr>
              <a:t>Some ungulates show strong site fidelity, others weak — and the difference tracks how predictable their resources are.</a:t>
            </a:r>
          </a:p>
        </p:txBody>
      </p:sp>
      <p:sp>
        <p:nvSpPr>
          <p:cNvPr id="11" name="Rectangle 10"/>
          <p:cNvSpPr/>
          <p:nvPr/>
        </p:nvSpPr>
        <p:spPr>
          <a:xfrm>
            <a:off x="548640" y="4846320"/>
            <a:ext cx="109728" cy="109728"/>
          </a:xfrm>
          <a:prstGeom prst="rect">
            <a:avLst/>
          </a:prstGeom>
          <a:solidFill>
            <a:srgbClr val="F893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754880"/>
            <a:ext cx="4846320" cy="292608"/>
          </a:xfrm>
          <a:prstGeom prst="rect">
            <a:avLst/>
          </a:prstGeom>
          <a:noFill/>
        </p:spPr>
        <p:txBody>
          <a:bodyPr wrap="square" anchor="t" lIns="0" rIns="0" tIns="0" bIns="0">
            <a:spAutoFit/>
          </a:bodyPr>
          <a:lstStyle/>
          <a:p>
            <a:pPr algn="l"/>
            <a:r>
              <a:rPr sz="1400" b="1">
                <a:solidFill>
                  <a:srgbClr val="39302A"/>
                </a:solidFill>
                <a:latin typeface="Arial"/>
              </a:rPr>
              <a:t>It's invisible to range-size and migration metrics</a:t>
            </a:r>
          </a:p>
        </p:txBody>
      </p:sp>
      <p:sp>
        <p:nvSpPr>
          <p:cNvPr id="13" name="TextBox 12"/>
          <p:cNvSpPr txBox="1"/>
          <p:nvPr/>
        </p:nvSpPr>
        <p:spPr>
          <a:xfrm>
            <a:off x="822960" y="5047488"/>
            <a:ext cx="4846320" cy="685800"/>
          </a:xfrm>
          <a:prstGeom prst="rect">
            <a:avLst/>
          </a:prstGeom>
          <a:noFill/>
        </p:spPr>
        <p:txBody>
          <a:bodyPr wrap="square" anchor="t" lIns="0" rIns="0" tIns="0" bIns="0">
            <a:spAutoFit/>
          </a:bodyPr>
          <a:lstStyle/>
          <a:p>
            <a:pPr algn="l">
              <a:lnSpc>
                <a:spcPct val="115000"/>
              </a:lnSpc>
            </a:pPr>
            <a:r>
              <a:rPr sz="1150" b="0">
                <a:solidFill>
                  <a:srgbClr val="6B5A50"/>
                </a:solidFill>
                <a:latin typeface="Arial"/>
              </a:rPr>
              <a:t>A large home range or a clear migratory NSD curve can both hide repeated use of one small, critical location.</a:t>
            </a:r>
          </a:p>
        </p:txBody>
      </p:sp>
      <p:sp>
        <p:nvSpPr>
          <p:cNvPr id="14" name="Rectangle 13"/>
          <p:cNvSpPr/>
          <p:nvPr/>
        </p:nvSpPr>
        <p:spPr>
          <a:xfrm>
            <a:off x="6492240" y="2651760"/>
            <a:ext cx="5120640" cy="3524760"/>
          </a:xfrm>
          <a:prstGeom prst="rect">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2926080"/>
            <a:ext cx="4572000" cy="274320"/>
          </a:xfrm>
          <a:prstGeom prst="rect">
            <a:avLst/>
          </a:prstGeom>
          <a:noFill/>
        </p:spPr>
        <p:txBody>
          <a:bodyPr wrap="square" anchor="t" lIns="0" rIns="0" tIns="0" bIns="0">
            <a:spAutoFit/>
          </a:bodyPr>
          <a:lstStyle/>
          <a:p>
            <a:pPr algn="l"/>
            <a:r>
              <a:rPr sz="1050" b="1" spc="100">
                <a:solidFill>
                  <a:srgbClr val="A89A8C"/>
                </a:solidFill>
                <a:latin typeface="Arial"/>
              </a:rPr>
              <a:t>THE THEORY</a:t>
            </a:r>
          </a:p>
        </p:txBody>
      </p:sp>
      <p:sp>
        <p:nvSpPr>
          <p:cNvPr id="16" name="TextBox 15"/>
          <p:cNvSpPr txBox="1"/>
          <p:nvPr/>
        </p:nvSpPr>
        <p:spPr>
          <a:xfrm>
            <a:off x="6766560" y="3291840"/>
            <a:ext cx="4572000" cy="1783080"/>
          </a:xfrm>
          <a:prstGeom prst="rect">
            <a:avLst/>
          </a:prstGeom>
          <a:noFill/>
        </p:spPr>
        <p:txBody>
          <a:bodyPr wrap="square" anchor="t" lIns="0" rIns="0" tIns="0" bIns="0">
            <a:spAutoFit/>
          </a:bodyPr>
          <a:lstStyle/>
          <a:p>
            <a:pPr algn="l">
              <a:lnSpc>
                <a:spcPct val="125000"/>
              </a:lnSpc>
            </a:pPr>
            <a:r>
              <a:rPr sz="1450" b="0">
                <a:solidFill>
                  <a:srgbClr val="39302A"/>
                </a:solidFill>
                <a:latin typeface="Arial"/>
              </a:rPr>
              <a:t>“Fidelity should be favored when habitat quality is predictable, switching costs are high, and an individual is likely to survive long enough to benefit from the local knowledge that comes with reuse.”</a:t>
            </a:r>
          </a:p>
        </p:txBody>
      </p:sp>
      <p:sp>
        <p:nvSpPr>
          <p:cNvPr id="17" name="TextBox 16"/>
          <p:cNvSpPr txBox="1"/>
          <p:nvPr/>
        </p:nvSpPr>
        <p:spPr>
          <a:xfrm>
            <a:off x="6766560" y="5216400"/>
            <a:ext cx="4572000" cy="685800"/>
          </a:xfrm>
          <a:prstGeom prst="rect">
            <a:avLst/>
          </a:prstGeom>
          <a:noFill/>
        </p:spPr>
        <p:txBody>
          <a:bodyPr wrap="square" anchor="t" lIns="0" rIns="0" tIns="0" bIns="0">
            <a:spAutoFit/>
          </a:bodyPr>
          <a:lstStyle/>
          <a:p>
            <a:pPr algn="l">
              <a:lnSpc>
                <a:spcPct val="120000"/>
              </a:lnSpc>
            </a:pPr>
            <a:r>
              <a:rPr sz="1100" b="0">
                <a:solidFill>
                  <a:srgbClr val="6B5A50"/>
                </a:solidFill>
                <a:latin typeface="Arial"/>
              </a:rPr>
              <a:t>Switzer, P.V. (1993)</a:t>
            </a:r>
          </a:p>
          <a:p>
            <a:pPr algn="l">
              <a:lnSpc>
                <a:spcPct val="120000"/>
              </a:lnSpc>
            </a:pPr>
            <a:r>
              <a:rPr sz="1100" b="0">
                <a:solidFill>
                  <a:srgbClr val="6B5A50"/>
                </a:solidFill>
                <a:latin typeface="Arial"/>
              </a:rPr>
              <a:t>Evolutionary Ecology 7:533–555</a:t>
            </a:r>
          </a:p>
        </p:txBody>
      </p:sp>
      <p:sp>
        <p:nvSpPr>
          <p:cNvPr id="18" name="TextBox 17"/>
          <p:cNvSpPr txBox="1"/>
          <p:nvPr/>
        </p:nvSpPr>
        <p:spPr>
          <a:xfrm>
            <a:off x="548640" y="6473952"/>
            <a:ext cx="7315200" cy="274320"/>
          </a:xfrm>
          <a:prstGeom prst="rect">
            <a:avLst/>
          </a:prstGeom>
          <a:noFill/>
        </p:spPr>
        <p:txBody>
          <a:bodyPr wrap="square" anchor="t" lIns="0" rIns="0" tIns="0" bIns="0">
            <a:spAutoFit/>
          </a:bodyPr>
          <a:lstStyle/>
          <a:p>
            <a:pPr algn="l"/>
            <a:r>
              <a:rPr sz="1000" b="0">
                <a:solidFill>
                  <a:srgbClr val="A89A8C"/>
                </a:solidFill>
                <a:latin typeface="Arial"/>
              </a:rPr>
              <a:t>Site fidelity is a distinct question from range size or migratory strategy</a:t>
            </a:r>
          </a:p>
        </p:txBody>
      </p:sp>
      <p:sp>
        <p:nvSpPr>
          <p:cNvPr id="19" name="TextBox 18"/>
          <p:cNvSpPr txBox="1"/>
          <p:nvPr/>
        </p:nvSpPr>
        <p:spPr>
          <a:xfrm>
            <a:off x="9357055" y="6473952"/>
            <a:ext cx="2286000" cy="274320"/>
          </a:xfrm>
          <a:prstGeom prst="rect">
            <a:avLst/>
          </a:prstGeom>
          <a:noFill/>
        </p:spPr>
        <p:txBody>
          <a:bodyPr wrap="square" anchor="t" lIns="0" rIns="0" tIns="0" bIns="0">
            <a:spAutoFit/>
          </a:bodyPr>
          <a:lstStyle/>
          <a:p>
            <a:pPr algn="r"/>
            <a:r>
              <a:rPr sz="1000" b="0">
                <a:solidFill>
                  <a:srgbClr val="A89A8C"/>
                </a:solidFill>
                <a:latin typeface="Arial"/>
              </a:rPr>
              <a:t>Site Fidelity &amp; Recursion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anchor="t" lIns="0" rIns="0" tIns="0" bIns="0">
            <a:spAutoFit/>
          </a:bodyPr>
          <a:lstStyle/>
          <a:p>
            <a:pPr algn="l"/>
            <a:r>
              <a:rPr sz="1200" b="1" spc="200">
                <a:solidFill>
                  <a:srgbClr val="F8931D"/>
                </a:solidFill>
                <a:latin typeface="Arial"/>
              </a:rPr>
              <a:t>METHOD</a:t>
            </a:r>
          </a:p>
        </p:txBody>
      </p:sp>
      <p:sp>
        <p:nvSpPr>
          <p:cNvPr id="3" name="TextBox 2"/>
          <p:cNvSpPr txBox="1"/>
          <p:nvPr/>
        </p:nvSpPr>
        <p:spPr>
          <a:xfrm>
            <a:off x="548640" y="658368"/>
            <a:ext cx="11064240" cy="685800"/>
          </a:xfrm>
          <a:prstGeom prst="rect">
            <a:avLst/>
          </a:prstGeom>
          <a:noFill/>
        </p:spPr>
        <p:txBody>
          <a:bodyPr wrap="square" anchor="t" lIns="0" rIns="0" tIns="0" bIns="0">
            <a:spAutoFit/>
          </a:bodyPr>
          <a:lstStyle/>
          <a:p>
            <a:pPr algn="l">
              <a:lnSpc>
                <a:spcPct val="105000"/>
              </a:lnSpc>
            </a:pPr>
            <a:r>
              <a:rPr sz="2800" b="1">
                <a:solidFill>
                  <a:srgbClr val="39302A"/>
                </a:solidFill>
                <a:latin typeface="Arial"/>
              </a:rPr>
              <a:t>Recursion analysis: revisits &amp; residence time</a:t>
            </a:r>
          </a:p>
        </p:txBody>
      </p:sp>
      <p:sp>
        <p:nvSpPr>
          <p:cNvPr id="4" name="Rectangle 3"/>
          <p:cNvSpPr/>
          <p:nvPr/>
        </p:nvSpPr>
        <p:spPr>
          <a:xfrm>
            <a:off x="548640" y="1600200"/>
            <a:ext cx="109728" cy="109728"/>
          </a:xfrm>
          <a:prstGeom prst="rect">
            <a:avLst/>
          </a:prstGeom>
          <a:solidFill>
            <a:srgbClr val="F893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08760"/>
            <a:ext cx="4846320" cy="292608"/>
          </a:xfrm>
          <a:prstGeom prst="rect">
            <a:avLst/>
          </a:prstGeom>
          <a:noFill/>
        </p:spPr>
        <p:txBody>
          <a:bodyPr wrap="square" anchor="t" lIns="0" rIns="0" tIns="0" bIns="0">
            <a:spAutoFit/>
          </a:bodyPr>
          <a:lstStyle/>
          <a:p>
            <a:pPr algn="l"/>
            <a:r>
              <a:rPr sz="1400" b="1">
                <a:solidFill>
                  <a:srgbClr val="39302A"/>
                </a:solidFill>
                <a:latin typeface="Arial"/>
              </a:rPr>
              <a:t>A radius, not a whole track</a:t>
            </a:r>
          </a:p>
        </p:txBody>
      </p:sp>
      <p:sp>
        <p:nvSpPr>
          <p:cNvPr id="6" name="TextBox 5"/>
          <p:cNvSpPr txBox="1"/>
          <p:nvPr/>
        </p:nvSpPr>
        <p:spPr>
          <a:xfrm>
            <a:off x="822960" y="1801368"/>
            <a:ext cx="4846320" cy="685800"/>
          </a:xfrm>
          <a:prstGeom prst="rect">
            <a:avLst/>
          </a:prstGeom>
          <a:noFill/>
        </p:spPr>
        <p:txBody>
          <a:bodyPr wrap="square" anchor="t" lIns="0" rIns="0" tIns="0" bIns="0">
            <a:spAutoFit/>
          </a:bodyPr>
          <a:lstStyle/>
          <a:p>
            <a:pPr algn="l">
              <a:lnSpc>
                <a:spcPct val="115000"/>
              </a:lnSpc>
            </a:pPr>
            <a:r>
              <a:rPr sz="1150" b="0">
                <a:solidFill>
                  <a:srgbClr val="6B5A50"/>
                </a:solidFill>
                <a:latin typeface="Arial"/>
              </a:rPr>
              <a:t>getRecursions() draws a fixed-radius circle around every point in the trajectory and counts separate passes through it.</a:t>
            </a:r>
          </a:p>
        </p:txBody>
      </p:sp>
      <p:sp>
        <p:nvSpPr>
          <p:cNvPr id="7" name="Rectangle 6"/>
          <p:cNvSpPr/>
          <p:nvPr/>
        </p:nvSpPr>
        <p:spPr>
          <a:xfrm>
            <a:off x="548640" y="2651760"/>
            <a:ext cx="109728" cy="109728"/>
          </a:xfrm>
          <a:prstGeom prst="rect">
            <a:avLst/>
          </a:prstGeom>
          <a:solidFill>
            <a:srgbClr val="F893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560320"/>
            <a:ext cx="4846320" cy="292608"/>
          </a:xfrm>
          <a:prstGeom prst="rect">
            <a:avLst/>
          </a:prstGeom>
          <a:noFill/>
        </p:spPr>
        <p:txBody>
          <a:bodyPr wrap="square" anchor="t" lIns="0" rIns="0" tIns="0" bIns="0">
            <a:spAutoFit/>
          </a:bodyPr>
          <a:lstStyle/>
          <a:p>
            <a:pPr algn="l"/>
            <a:r>
              <a:rPr sz="1400" b="1">
                <a:solidFill>
                  <a:srgbClr val="39302A"/>
                </a:solidFill>
                <a:latin typeface="Arial"/>
              </a:rPr>
              <a:t>No site needs to be known in advance</a:t>
            </a:r>
          </a:p>
        </p:txBody>
      </p:sp>
      <p:sp>
        <p:nvSpPr>
          <p:cNvPr id="9" name="TextBox 8"/>
          <p:cNvSpPr txBox="1"/>
          <p:nvPr/>
        </p:nvSpPr>
        <p:spPr>
          <a:xfrm>
            <a:off x="822960" y="2852928"/>
            <a:ext cx="4846320" cy="685800"/>
          </a:xfrm>
          <a:prstGeom prst="rect">
            <a:avLst/>
          </a:prstGeom>
          <a:noFill/>
        </p:spPr>
        <p:txBody>
          <a:bodyPr wrap="square" anchor="t" lIns="0" rIns="0" tIns="0" bIns="0">
            <a:spAutoFit/>
          </a:bodyPr>
          <a:lstStyle/>
          <a:p>
            <a:pPr algn="l">
              <a:lnSpc>
                <a:spcPct val="115000"/>
              </a:lnSpc>
            </a:pPr>
            <a:r>
              <a:rPr sz="1150" b="0">
                <a:solidFill>
                  <a:srgbClr val="6B5A50"/>
                </a:solidFill>
                <a:latin typeface="Arial"/>
              </a:rPr>
              <a:t>Recursion analysis finds repeatedly-used locations directly from GPS data — no den survey or waterhole map required.</a:t>
            </a:r>
          </a:p>
        </p:txBody>
      </p:sp>
      <p:sp>
        <p:nvSpPr>
          <p:cNvPr id="10" name="Rectangle 9"/>
          <p:cNvSpPr/>
          <p:nvPr/>
        </p:nvSpPr>
        <p:spPr>
          <a:xfrm>
            <a:off x="548640" y="3703320"/>
            <a:ext cx="109728" cy="109728"/>
          </a:xfrm>
          <a:prstGeom prst="rect">
            <a:avLst/>
          </a:prstGeom>
          <a:solidFill>
            <a:srgbClr val="F893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611880"/>
            <a:ext cx="4846320" cy="292608"/>
          </a:xfrm>
          <a:prstGeom prst="rect">
            <a:avLst/>
          </a:prstGeom>
          <a:noFill/>
        </p:spPr>
        <p:txBody>
          <a:bodyPr wrap="square" anchor="t" lIns="0" rIns="0" tIns="0" bIns="0">
            <a:spAutoFit/>
          </a:bodyPr>
          <a:lstStyle/>
          <a:p>
            <a:pPr algn="l"/>
            <a:r>
              <a:rPr sz="1400" b="1">
                <a:solidFill>
                  <a:srgbClr val="39302A"/>
                </a:solidFill>
                <a:latin typeface="Arial"/>
              </a:rPr>
              <a:t>Radius sets the question</a:t>
            </a:r>
          </a:p>
        </p:txBody>
      </p:sp>
      <p:sp>
        <p:nvSpPr>
          <p:cNvPr id="12" name="TextBox 11"/>
          <p:cNvSpPr txBox="1"/>
          <p:nvPr/>
        </p:nvSpPr>
        <p:spPr>
          <a:xfrm>
            <a:off x="822960" y="3904488"/>
            <a:ext cx="4846320" cy="685800"/>
          </a:xfrm>
          <a:prstGeom prst="rect">
            <a:avLst/>
          </a:prstGeom>
          <a:noFill/>
        </p:spPr>
        <p:txBody>
          <a:bodyPr wrap="square" anchor="t" lIns="0" rIns="0" tIns="0" bIns="0">
            <a:spAutoFit/>
          </a:bodyPr>
          <a:lstStyle/>
          <a:p>
            <a:pPr algn="l">
              <a:lnSpc>
                <a:spcPct val="115000"/>
              </a:lnSpc>
            </a:pPr>
            <a:r>
              <a:rPr sz="1150" b="0">
                <a:solidFill>
                  <a:srgbClr val="6B5A50"/>
                </a:solidFill>
                <a:latin typeface="Arial"/>
              </a:rPr>
              <a:t>A small radius (tens–hundreds of meters) targets a specific site; a larger radius (kilometers) targets a broader patch.</a:t>
            </a:r>
          </a:p>
        </p:txBody>
      </p:sp>
      <p:sp>
        <p:nvSpPr>
          <p:cNvPr id="13" name="Rectangle 12"/>
          <p:cNvSpPr/>
          <p:nvPr/>
        </p:nvSpPr>
        <p:spPr>
          <a:xfrm>
            <a:off x="548640" y="4754880"/>
            <a:ext cx="109728" cy="109728"/>
          </a:xfrm>
          <a:prstGeom prst="rect">
            <a:avLst/>
          </a:prstGeom>
          <a:solidFill>
            <a:srgbClr val="F893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663440"/>
            <a:ext cx="4846320" cy="292608"/>
          </a:xfrm>
          <a:prstGeom prst="rect">
            <a:avLst/>
          </a:prstGeom>
          <a:noFill/>
        </p:spPr>
        <p:txBody>
          <a:bodyPr wrap="square" anchor="t" lIns="0" rIns="0" tIns="0" bIns="0">
            <a:spAutoFit/>
          </a:bodyPr>
          <a:lstStyle/>
          <a:p>
            <a:pPr algn="l"/>
            <a:r>
              <a:rPr sz="1400" b="1">
                <a:solidFill>
                  <a:srgbClr val="39302A"/>
                </a:solidFill>
                <a:latin typeface="Arial"/>
              </a:rPr>
              <a:t>Revisits + residence time, together</a:t>
            </a:r>
          </a:p>
        </p:txBody>
      </p:sp>
      <p:sp>
        <p:nvSpPr>
          <p:cNvPr id="15" name="TextBox 14"/>
          <p:cNvSpPr txBox="1"/>
          <p:nvPr/>
        </p:nvSpPr>
        <p:spPr>
          <a:xfrm>
            <a:off x="822960" y="4956048"/>
            <a:ext cx="4846320" cy="685800"/>
          </a:xfrm>
          <a:prstGeom prst="rect">
            <a:avLst/>
          </a:prstGeom>
          <a:noFill/>
        </p:spPr>
        <p:txBody>
          <a:bodyPr wrap="square" anchor="t" lIns="0" rIns="0" tIns="0" bIns="0">
            <a:spAutoFit/>
          </a:bodyPr>
          <a:lstStyle/>
          <a:p>
            <a:pPr algn="l">
              <a:lnSpc>
                <a:spcPct val="115000"/>
              </a:lnSpc>
            </a:pPr>
            <a:r>
              <a:rPr sz="1150" b="0">
                <a:solidFill>
                  <a:srgbClr val="6B5A50"/>
                </a:solidFill>
                <a:latin typeface="Arial"/>
              </a:rPr>
              <a:t>How often an animal returns and how long it stays each time are both informative — together they're the strongest fidelity signal.</a:t>
            </a:r>
          </a:p>
        </p:txBody>
      </p:sp>
      <p:sp>
        <p:nvSpPr>
          <p:cNvPr id="16" name="Rectangle 15"/>
          <p:cNvSpPr/>
          <p:nvPr/>
        </p:nvSpPr>
        <p:spPr>
          <a:xfrm>
            <a:off x="6492240" y="1554480"/>
            <a:ext cx="5120640" cy="4480560"/>
          </a:xfrm>
          <a:prstGeom prst="rect">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0" y="1783080"/>
            <a:ext cx="4572000" cy="274320"/>
          </a:xfrm>
          <a:prstGeom prst="rect">
            <a:avLst/>
          </a:prstGeom>
          <a:noFill/>
        </p:spPr>
        <p:txBody>
          <a:bodyPr wrap="square" anchor="t" lIns="0" rIns="0" tIns="0" bIns="0">
            <a:spAutoFit/>
          </a:bodyPr>
          <a:lstStyle/>
          <a:p>
            <a:pPr algn="l"/>
            <a:r>
              <a:rPr sz="1050" b="1" spc="100">
                <a:solidFill>
                  <a:srgbClr val="A89A8C"/>
                </a:solidFill>
                <a:latin typeface="Arial"/>
              </a:rPr>
              <a:t>SMALL vs. LARGE RADIUS</a:t>
            </a:r>
          </a:p>
        </p:txBody>
      </p:sp>
      <p:sp>
        <p:nvSpPr>
          <p:cNvPr id="18" name="Rectangle 17"/>
          <p:cNvSpPr/>
          <p:nvPr/>
        </p:nvSpPr>
        <p:spPr>
          <a:xfrm>
            <a:off x="6766560" y="2148840"/>
            <a:ext cx="219456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054596" y="2439162"/>
            <a:ext cx="82296" cy="82296"/>
          </a:xfrm>
          <a:prstGeom prst="ellipse">
            <a:avLst/>
          </a:prstGeom>
          <a:solidFill>
            <a:srgbClr val="B7A9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246620" y="2679192"/>
            <a:ext cx="82296" cy="82296"/>
          </a:xfrm>
          <a:prstGeom prst="ellipse">
            <a:avLst/>
          </a:prstGeom>
          <a:solidFill>
            <a:srgbClr val="B7A9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822692" y="2519172"/>
            <a:ext cx="82296" cy="82296"/>
          </a:xfrm>
          <a:prstGeom prst="ellipse">
            <a:avLst/>
          </a:prstGeom>
          <a:solidFill>
            <a:srgbClr val="B7A9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014716" y="2759202"/>
            <a:ext cx="82296" cy="82296"/>
          </a:xfrm>
          <a:prstGeom prst="ellipse">
            <a:avLst/>
          </a:prstGeom>
          <a:solidFill>
            <a:srgbClr val="B7A9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302752" y="2439162"/>
            <a:ext cx="82296" cy="82296"/>
          </a:xfrm>
          <a:prstGeom prst="ellipse">
            <a:avLst/>
          </a:prstGeom>
          <a:solidFill>
            <a:srgbClr val="B7A9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494776" y="2839212"/>
            <a:ext cx="82296" cy="82296"/>
          </a:xfrm>
          <a:prstGeom prst="ellipse">
            <a:avLst/>
          </a:prstGeom>
          <a:solidFill>
            <a:srgbClr val="B7A9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206740" y="3159252"/>
            <a:ext cx="82296" cy="82296"/>
          </a:xfrm>
          <a:prstGeom prst="ellipse">
            <a:avLst/>
          </a:prstGeom>
          <a:solidFill>
            <a:srgbClr val="B7A9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18704" y="3399282"/>
            <a:ext cx="82296" cy="82296"/>
          </a:xfrm>
          <a:prstGeom prst="ellipse">
            <a:avLst/>
          </a:prstGeom>
          <a:solidFill>
            <a:srgbClr val="B7A9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30668" y="3559302"/>
            <a:ext cx="82296" cy="82296"/>
          </a:xfrm>
          <a:prstGeom prst="ellipse">
            <a:avLst/>
          </a:prstGeom>
          <a:solidFill>
            <a:srgbClr val="B7A9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150608" y="3319272"/>
            <a:ext cx="82296" cy="82296"/>
          </a:xfrm>
          <a:prstGeom prst="ellipse">
            <a:avLst/>
          </a:prstGeom>
          <a:solidFill>
            <a:srgbClr val="B7A9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590788" y="3399282"/>
            <a:ext cx="82296" cy="82296"/>
          </a:xfrm>
          <a:prstGeom prst="ellipse">
            <a:avLst/>
          </a:prstGeom>
          <a:solidFill>
            <a:srgbClr val="B7A9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10728" y="3559302"/>
            <a:ext cx="82296" cy="82296"/>
          </a:xfrm>
          <a:prstGeom prst="ellipse">
            <a:avLst/>
          </a:prstGeom>
          <a:solidFill>
            <a:srgbClr val="B7A9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400239" y="3031236"/>
            <a:ext cx="82296" cy="82296"/>
          </a:xfrm>
          <a:prstGeom prst="ellipse">
            <a:avLst/>
          </a:prstGeom>
          <a:solidFill>
            <a:srgbClr val="E64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496251" y="3127248"/>
            <a:ext cx="82296" cy="82296"/>
          </a:xfrm>
          <a:prstGeom prst="ellipse">
            <a:avLst/>
          </a:prstGeom>
          <a:solidFill>
            <a:srgbClr val="E64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438644" y="3207258"/>
            <a:ext cx="82296" cy="82296"/>
          </a:xfrm>
          <a:prstGeom prst="ellipse">
            <a:avLst/>
          </a:prstGeom>
          <a:solidFill>
            <a:srgbClr val="E64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553858" y="2999232"/>
            <a:ext cx="82296" cy="82296"/>
          </a:xfrm>
          <a:prstGeom prst="ellipse">
            <a:avLst/>
          </a:prstGeom>
          <a:solidFill>
            <a:srgbClr val="E64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457846" y="2935224"/>
            <a:ext cx="82296" cy="82296"/>
          </a:xfrm>
          <a:prstGeom prst="ellipse">
            <a:avLst/>
          </a:prstGeom>
          <a:solidFill>
            <a:srgbClr val="E64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217359" y="2838754"/>
            <a:ext cx="563270" cy="563270"/>
          </a:xfrm>
          <a:prstGeom prst="ellipse">
            <a:avLst/>
          </a:prstGeom>
          <a:noFill/>
          <a:ln w="22225">
            <a:solidFill>
              <a:srgbClr val="E6482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66560" y="4023360"/>
            <a:ext cx="2194560" cy="594360"/>
          </a:xfrm>
          <a:prstGeom prst="rect">
            <a:avLst/>
          </a:prstGeom>
          <a:noFill/>
        </p:spPr>
        <p:txBody>
          <a:bodyPr wrap="square" anchor="t" lIns="0" rIns="0" tIns="0" bIns="0">
            <a:spAutoFit/>
          </a:bodyPr>
          <a:lstStyle/>
          <a:p>
            <a:pPr algn="ctr">
              <a:lnSpc>
                <a:spcPct val="115000"/>
              </a:lnSpc>
            </a:pPr>
            <a:r>
              <a:rPr sz="1050" b="0">
                <a:solidFill>
                  <a:srgbClr val="39302A"/>
                </a:solidFill>
                <a:latin typeface="Arial"/>
              </a:rPr>
              <a:t>500 m radius:</a:t>
            </a:r>
          </a:p>
          <a:p>
            <a:pPr algn="ctr">
              <a:lnSpc>
                <a:spcPct val="115000"/>
              </a:lnSpc>
            </a:pPr>
            <a:r>
              <a:rPr sz="1050" b="0">
                <a:solidFill>
                  <a:srgbClr val="39302A"/>
                </a:solidFill>
                <a:latin typeface="Arial"/>
              </a:rPr>
              <a:t>a precise, revisited site</a:t>
            </a:r>
          </a:p>
        </p:txBody>
      </p:sp>
      <p:sp>
        <p:nvSpPr>
          <p:cNvPr id="38" name="Rectangle 37"/>
          <p:cNvSpPr/>
          <p:nvPr/>
        </p:nvSpPr>
        <p:spPr>
          <a:xfrm>
            <a:off x="9098280" y="2148840"/>
            <a:ext cx="219456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386316" y="2439162"/>
            <a:ext cx="82296" cy="82296"/>
          </a:xfrm>
          <a:prstGeom prst="ellipse">
            <a:avLst/>
          </a:prstGeom>
          <a:solidFill>
            <a:srgbClr val="E64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9578340" y="2679192"/>
            <a:ext cx="82296" cy="82296"/>
          </a:xfrm>
          <a:prstGeom prst="ellipse">
            <a:avLst/>
          </a:prstGeom>
          <a:solidFill>
            <a:srgbClr val="E64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0154412" y="2519172"/>
            <a:ext cx="82296" cy="82296"/>
          </a:xfrm>
          <a:prstGeom prst="ellipse">
            <a:avLst/>
          </a:prstGeom>
          <a:solidFill>
            <a:srgbClr val="E64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346436" y="2759202"/>
            <a:ext cx="82296" cy="82296"/>
          </a:xfrm>
          <a:prstGeom prst="ellipse">
            <a:avLst/>
          </a:prstGeom>
          <a:solidFill>
            <a:srgbClr val="E64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634472" y="2439162"/>
            <a:ext cx="82296" cy="82296"/>
          </a:xfrm>
          <a:prstGeom prst="ellipse">
            <a:avLst/>
          </a:prstGeom>
          <a:solidFill>
            <a:srgbClr val="E64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0826496" y="2839212"/>
            <a:ext cx="82296" cy="82296"/>
          </a:xfrm>
          <a:prstGeom prst="ellipse">
            <a:avLst/>
          </a:prstGeom>
          <a:solidFill>
            <a:srgbClr val="E64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0538460" y="3159252"/>
            <a:ext cx="82296" cy="82296"/>
          </a:xfrm>
          <a:prstGeom prst="ellipse">
            <a:avLst/>
          </a:prstGeom>
          <a:solidFill>
            <a:srgbClr val="E64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250424" y="3399282"/>
            <a:ext cx="82296" cy="82296"/>
          </a:xfrm>
          <a:prstGeom prst="ellipse">
            <a:avLst/>
          </a:prstGeom>
          <a:solidFill>
            <a:srgbClr val="E64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9962388" y="3559302"/>
            <a:ext cx="82296" cy="82296"/>
          </a:xfrm>
          <a:prstGeom prst="ellipse">
            <a:avLst/>
          </a:prstGeom>
          <a:solidFill>
            <a:srgbClr val="E64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9482328" y="3319272"/>
            <a:ext cx="82296" cy="82296"/>
          </a:xfrm>
          <a:prstGeom prst="ellipse">
            <a:avLst/>
          </a:prstGeom>
          <a:solidFill>
            <a:srgbClr val="E64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922508" y="3399282"/>
            <a:ext cx="82296" cy="82296"/>
          </a:xfrm>
          <a:prstGeom prst="ellipse">
            <a:avLst/>
          </a:prstGeom>
          <a:solidFill>
            <a:srgbClr val="E64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442448" y="3559302"/>
            <a:ext cx="82296" cy="82296"/>
          </a:xfrm>
          <a:prstGeom prst="ellipse">
            <a:avLst/>
          </a:prstGeom>
          <a:solidFill>
            <a:srgbClr val="E64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731959" y="3031236"/>
            <a:ext cx="82296" cy="82296"/>
          </a:xfrm>
          <a:prstGeom prst="ellipse">
            <a:avLst/>
          </a:prstGeom>
          <a:solidFill>
            <a:srgbClr val="E64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9827971" y="3127248"/>
            <a:ext cx="82296" cy="82296"/>
          </a:xfrm>
          <a:prstGeom prst="ellipse">
            <a:avLst/>
          </a:prstGeom>
          <a:solidFill>
            <a:srgbClr val="E64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9770364" y="3207258"/>
            <a:ext cx="82296" cy="82296"/>
          </a:xfrm>
          <a:prstGeom prst="ellipse">
            <a:avLst/>
          </a:prstGeom>
          <a:solidFill>
            <a:srgbClr val="E64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9885578" y="2999232"/>
            <a:ext cx="82296" cy="82296"/>
          </a:xfrm>
          <a:prstGeom prst="ellipse">
            <a:avLst/>
          </a:prstGeom>
          <a:solidFill>
            <a:srgbClr val="E64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9789566" y="2935224"/>
            <a:ext cx="82296" cy="82296"/>
          </a:xfrm>
          <a:prstGeom prst="ellipse">
            <a:avLst/>
          </a:prstGeom>
          <a:solidFill>
            <a:srgbClr val="E64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9227439" y="2072259"/>
            <a:ext cx="1936242" cy="1936242"/>
          </a:xfrm>
          <a:prstGeom prst="ellipse">
            <a:avLst/>
          </a:prstGeom>
          <a:noFill/>
          <a:ln w="22225">
            <a:solidFill>
              <a:srgbClr val="E6482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098280" y="4023360"/>
            <a:ext cx="2194560" cy="594360"/>
          </a:xfrm>
          <a:prstGeom prst="rect">
            <a:avLst/>
          </a:prstGeom>
          <a:noFill/>
        </p:spPr>
        <p:txBody>
          <a:bodyPr wrap="square" anchor="t" lIns="0" rIns="0" tIns="0" bIns="0">
            <a:spAutoFit/>
          </a:bodyPr>
          <a:lstStyle/>
          <a:p>
            <a:pPr algn="ctr">
              <a:lnSpc>
                <a:spcPct val="115000"/>
              </a:lnSpc>
            </a:pPr>
            <a:r>
              <a:rPr sz="1050" b="0">
                <a:solidFill>
                  <a:srgbClr val="39302A"/>
                </a:solidFill>
                <a:latin typeface="Arial"/>
              </a:rPr>
              <a:t>5,000 m radius:</a:t>
            </a:r>
          </a:p>
          <a:p>
            <a:pPr algn="ctr">
              <a:lnSpc>
                <a:spcPct val="115000"/>
              </a:lnSpc>
            </a:pPr>
            <a:r>
              <a:rPr sz="1050" b="0">
                <a:solidFill>
                  <a:srgbClr val="39302A"/>
                </a:solidFill>
                <a:latin typeface="Arial"/>
              </a:rPr>
              <a:t>a broader used patch</a:t>
            </a:r>
          </a:p>
        </p:txBody>
      </p:sp>
      <p:sp>
        <p:nvSpPr>
          <p:cNvPr id="58" name="TextBox 57"/>
          <p:cNvSpPr txBox="1"/>
          <p:nvPr/>
        </p:nvSpPr>
        <p:spPr>
          <a:xfrm>
            <a:off x="6766560" y="4663440"/>
            <a:ext cx="4572000" cy="685800"/>
          </a:xfrm>
          <a:prstGeom prst="rect">
            <a:avLst/>
          </a:prstGeom>
          <a:noFill/>
        </p:spPr>
        <p:txBody>
          <a:bodyPr wrap="square" anchor="t" lIns="0" rIns="0" tIns="0" bIns="0">
            <a:spAutoFit/>
          </a:bodyPr>
          <a:lstStyle/>
          <a:p>
            <a:pPr algn="l">
              <a:lnSpc>
                <a:spcPct val="120000"/>
              </a:lnSpc>
            </a:pPr>
            <a:r>
              <a:rPr sz="1000" b="0">
                <a:solidFill>
                  <a:srgbClr val="6B5A50"/>
                </a:solidFill>
                <a:latin typeface="Arial"/>
              </a:rPr>
              <a:t>Same trajectory, two radii. Bracis, Bildstein &amp; Mueller (2018), Ecography 41:1801–1811.</a:t>
            </a:r>
          </a:p>
        </p:txBody>
      </p:sp>
      <p:sp>
        <p:nvSpPr>
          <p:cNvPr id="59" name="TextBox 58"/>
          <p:cNvSpPr txBox="1"/>
          <p:nvPr/>
        </p:nvSpPr>
        <p:spPr>
          <a:xfrm>
            <a:off x="548640" y="6473952"/>
            <a:ext cx="7315200" cy="274320"/>
          </a:xfrm>
          <a:prstGeom prst="rect">
            <a:avLst/>
          </a:prstGeom>
          <a:noFill/>
        </p:spPr>
        <p:txBody>
          <a:bodyPr wrap="square" anchor="t" lIns="0" rIns="0" tIns="0" bIns="0">
            <a:spAutoFit/>
          </a:bodyPr>
          <a:lstStyle/>
          <a:p>
            <a:pPr algn="l"/>
            <a:r>
              <a:rPr sz="1000" b="0">
                <a:solidFill>
                  <a:srgbClr val="A89A8C"/>
                </a:solidFill>
                <a:latin typeface="Arial"/>
              </a:rPr>
              <a:t>Radius choice is a trade-off between precision and coverage, not a fixed setting</a:t>
            </a:r>
          </a:p>
        </p:txBody>
      </p:sp>
      <p:sp>
        <p:nvSpPr>
          <p:cNvPr id="60" name="TextBox 59"/>
          <p:cNvSpPr txBox="1"/>
          <p:nvPr/>
        </p:nvSpPr>
        <p:spPr>
          <a:xfrm>
            <a:off x="9357055" y="6473952"/>
            <a:ext cx="2286000" cy="274320"/>
          </a:xfrm>
          <a:prstGeom prst="rect">
            <a:avLst/>
          </a:prstGeom>
          <a:noFill/>
        </p:spPr>
        <p:txBody>
          <a:bodyPr wrap="square" anchor="t" lIns="0" rIns="0" tIns="0" bIns="0">
            <a:spAutoFit/>
          </a:bodyPr>
          <a:lstStyle/>
          <a:p>
            <a:pPr algn="r"/>
            <a:r>
              <a:rPr sz="1000" b="0">
                <a:solidFill>
                  <a:srgbClr val="A89A8C"/>
                </a:solidFill>
                <a:latin typeface="Arial"/>
              </a:rPr>
              <a:t>Site Fidelity &amp; Recursion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9144000" cy="274320"/>
          </a:xfrm>
          <a:prstGeom prst="rect">
            <a:avLst/>
          </a:prstGeom>
          <a:noFill/>
        </p:spPr>
        <p:txBody>
          <a:bodyPr wrap="square" anchor="t" lIns="0" rIns="0" tIns="0" bIns="0">
            <a:spAutoFit/>
          </a:bodyPr>
          <a:lstStyle/>
          <a:p>
            <a:pPr algn="l"/>
            <a:r>
              <a:rPr sz="1200" b="1" spc="200">
                <a:solidFill>
                  <a:srgbClr val="F8931D"/>
                </a:solidFill>
                <a:latin typeface="Arial"/>
              </a:rPr>
              <a:t>IN PRACTICE</a:t>
            </a:r>
          </a:p>
        </p:txBody>
      </p:sp>
      <p:sp>
        <p:nvSpPr>
          <p:cNvPr id="3" name="TextBox 2"/>
          <p:cNvSpPr txBox="1"/>
          <p:nvPr/>
        </p:nvSpPr>
        <p:spPr>
          <a:xfrm>
            <a:off x="548640" y="658368"/>
            <a:ext cx="11064240" cy="685800"/>
          </a:xfrm>
          <a:prstGeom prst="rect">
            <a:avLst/>
          </a:prstGeom>
          <a:noFill/>
        </p:spPr>
        <p:txBody>
          <a:bodyPr wrap="square" anchor="t" lIns="0" rIns="0" tIns="0" bIns="0">
            <a:spAutoFit/>
          </a:bodyPr>
          <a:lstStyle/>
          <a:p>
            <a:pPr algn="l">
              <a:lnSpc>
                <a:spcPct val="105000"/>
              </a:lnSpc>
            </a:pPr>
            <a:r>
              <a:rPr sz="2800" b="1">
                <a:solidFill>
                  <a:srgbClr val="39302A"/>
                </a:solidFill>
                <a:latin typeface="Arial"/>
              </a:rPr>
              <a:t>Two examples from the literature</a:t>
            </a:r>
          </a:p>
        </p:txBody>
      </p:sp>
      <p:sp>
        <p:nvSpPr>
          <p:cNvPr id="4" name="Rectangle 3"/>
          <p:cNvSpPr/>
          <p:nvPr/>
        </p:nvSpPr>
        <p:spPr>
          <a:xfrm>
            <a:off x="548640" y="1554480"/>
            <a:ext cx="5212080" cy="4526280"/>
          </a:xfrm>
          <a:prstGeom prst="rect">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1828800"/>
            <a:ext cx="1783080" cy="365760"/>
          </a:xfrm>
          <a:prstGeom prst="rect">
            <a:avLst/>
          </a:prstGeom>
          <a:solidFill>
            <a:srgbClr val="E6482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CASE STUDY</a:t>
            </a:r>
          </a:p>
        </p:txBody>
      </p:sp>
      <p:sp>
        <p:nvSpPr>
          <p:cNvPr id="6" name="TextBox 5"/>
          <p:cNvSpPr txBox="1"/>
          <p:nvPr/>
        </p:nvSpPr>
        <p:spPr>
          <a:xfrm>
            <a:off x="868680" y="2304288"/>
            <a:ext cx="4572000" cy="320040"/>
          </a:xfrm>
          <a:prstGeom prst="rect">
            <a:avLst/>
          </a:prstGeom>
          <a:noFill/>
        </p:spPr>
        <p:txBody>
          <a:bodyPr wrap="square" anchor="t" lIns="0" rIns="0" tIns="0" bIns="0">
            <a:spAutoFit/>
          </a:bodyPr>
          <a:lstStyle/>
          <a:p>
            <a:pPr algn="l"/>
            <a:r>
              <a:rPr sz="1500" b="1">
                <a:solidFill>
                  <a:srgbClr val="39302A"/>
                </a:solidFill>
                <a:latin typeface="Arial"/>
              </a:rPr>
              <a:t>Morrison et al. (2021)</a:t>
            </a:r>
          </a:p>
        </p:txBody>
      </p:sp>
      <p:sp>
        <p:nvSpPr>
          <p:cNvPr id="7" name="TextBox 6"/>
          <p:cNvSpPr txBox="1"/>
          <p:nvPr/>
        </p:nvSpPr>
        <p:spPr>
          <a:xfrm>
            <a:off x="868680" y="2596896"/>
            <a:ext cx="4572000" cy="274320"/>
          </a:xfrm>
          <a:prstGeom prst="rect">
            <a:avLst/>
          </a:prstGeom>
          <a:noFill/>
        </p:spPr>
        <p:txBody>
          <a:bodyPr wrap="square" anchor="t" lIns="0" rIns="0" tIns="0" bIns="0">
            <a:spAutoFit/>
          </a:bodyPr>
          <a:lstStyle/>
          <a:p>
            <a:pPr algn="l"/>
            <a:r>
              <a:rPr sz="1100" b="0">
                <a:solidFill>
                  <a:srgbClr val="6B5A50"/>
                </a:solidFill>
                <a:latin typeface="Arial"/>
              </a:rPr>
              <a:t>J. Animal Ecology — 650+ GPS-collared ungulates, 8 species</a:t>
            </a:r>
          </a:p>
        </p:txBody>
      </p:sp>
      <p:sp>
        <p:nvSpPr>
          <p:cNvPr id="8" name="Oval 7"/>
          <p:cNvSpPr/>
          <p:nvPr/>
        </p:nvSpPr>
        <p:spPr>
          <a:xfrm>
            <a:off x="868680" y="3118104"/>
            <a:ext cx="91440" cy="91440"/>
          </a:xfrm>
          <a:prstGeom prst="ellipse">
            <a:avLst/>
          </a:prstGeom>
          <a:solidFill>
            <a:srgbClr val="E64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118104"/>
            <a:ext cx="4325112" cy="685800"/>
          </a:xfrm>
          <a:prstGeom prst="rect">
            <a:avLst/>
          </a:prstGeom>
          <a:noFill/>
        </p:spPr>
        <p:txBody>
          <a:bodyPr wrap="square" anchor="t" lIns="0" rIns="0" tIns="0" bIns="0">
            <a:spAutoFit/>
          </a:bodyPr>
          <a:lstStyle/>
          <a:p>
            <a:pPr algn="l">
              <a:lnSpc>
                <a:spcPct val="115000"/>
              </a:lnSpc>
            </a:pPr>
            <a:r>
              <a:rPr sz="1100" b="0">
                <a:solidFill>
                  <a:srgbClr val="39302A"/>
                </a:solidFill>
                <a:latin typeface="Arial"/>
              </a:rPr>
              <a:t>Compared site fidelity across mule deer, moose, wildebeest, caribou, and others tracked in North America and Africa.</a:t>
            </a:r>
          </a:p>
        </p:txBody>
      </p:sp>
      <p:sp>
        <p:nvSpPr>
          <p:cNvPr id="10" name="Oval 9"/>
          <p:cNvSpPr/>
          <p:nvPr/>
        </p:nvSpPr>
        <p:spPr>
          <a:xfrm>
            <a:off x="868680" y="3867912"/>
            <a:ext cx="91440" cy="91440"/>
          </a:xfrm>
          <a:prstGeom prst="ellipse">
            <a:avLst/>
          </a:prstGeom>
          <a:solidFill>
            <a:srgbClr val="E64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3867912"/>
            <a:ext cx="4325112" cy="685800"/>
          </a:xfrm>
          <a:prstGeom prst="rect">
            <a:avLst/>
          </a:prstGeom>
          <a:noFill/>
        </p:spPr>
        <p:txBody>
          <a:bodyPr wrap="square" anchor="t" lIns="0" rIns="0" tIns="0" bIns="0">
            <a:spAutoFit/>
          </a:bodyPr>
          <a:lstStyle/>
          <a:p>
            <a:pPr algn="l">
              <a:lnSpc>
                <a:spcPct val="115000"/>
              </a:lnSpc>
            </a:pPr>
            <a:r>
              <a:rPr sz="1100" b="0">
                <a:solidFill>
                  <a:srgbClr val="39302A"/>
                </a:solidFill>
                <a:latin typeface="Arial"/>
              </a:rPr>
              <a:t>Fidelity was strongest where vegetation green-up was predictable and regular; mule deer and moose were strongly site-faithful, wildebeest and caribou weakly so.</a:t>
            </a:r>
          </a:p>
        </p:txBody>
      </p:sp>
      <p:sp>
        <p:nvSpPr>
          <p:cNvPr id="12" name="Oval 11"/>
          <p:cNvSpPr/>
          <p:nvPr/>
        </p:nvSpPr>
        <p:spPr>
          <a:xfrm>
            <a:off x="868680" y="4617720"/>
            <a:ext cx="91440" cy="91440"/>
          </a:xfrm>
          <a:prstGeom prst="ellipse">
            <a:avLst/>
          </a:prstGeom>
          <a:solidFill>
            <a:srgbClr val="E64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4617720"/>
            <a:ext cx="4325112" cy="685800"/>
          </a:xfrm>
          <a:prstGeom prst="rect">
            <a:avLst/>
          </a:prstGeom>
          <a:noFill/>
        </p:spPr>
        <p:txBody>
          <a:bodyPr wrap="square" anchor="t" lIns="0" rIns="0" tIns="0" bIns="0">
            <a:spAutoFit/>
          </a:bodyPr>
          <a:lstStyle/>
          <a:p>
            <a:pPr algn="l">
              <a:lnSpc>
                <a:spcPct val="115000"/>
              </a:lnSpc>
            </a:pPr>
            <a:r>
              <a:rPr sz="1100" b="0">
                <a:solidFill>
                  <a:srgbClr val="39302A"/>
                </a:solidFill>
                <a:latin typeface="Arial"/>
              </a:rPr>
              <a:t>Key idea: site fidelity isn't a fixed trait — it's a flexible response to how predictable an animal's environment is, testable directly from tracking data.</a:t>
            </a:r>
          </a:p>
        </p:txBody>
      </p:sp>
      <p:sp>
        <p:nvSpPr>
          <p:cNvPr id="14" name="Rectangle 13"/>
          <p:cNvSpPr/>
          <p:nvPr/>
        </p:nvSpPr>
        <p:spPr>
          <a:xfrm>
            <a:off x="6263640" y="1554480"/>
            <a:ext cx="5212080" cy="4526280"/>
          </a:xfrm>
          <a:prstGeom prst="rect">
            <a:avLst/>
          </a:prstGeom>
          <a:solidFill>
            <a:srgbClr val="F4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0" y="1828800"/>
            <a:ext cx="1783080" cy="365760"/>
          </a:xfrm>
          <a:prstGeom prst="rect">
            <a:avLst/>
          </a:prstGeom>
          <a:solidFill>
            <a:srgbClr val="F8931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CROSS-TAXA</a:t>
            </a:r>
          </a:p>
        </p:txBody>
      </p:sp>
      <p:sp>
        <p:nvSpPr>
          <p:cNvPr id="16" name="TextBox 15"/>
          <p:cNvSpPr txBox="1"/>
          <p:nvPr/>
        </p:nvSpPr>
        <p:spPr>
          <a:xfrm>
            <a:off x="6583680" y="2304288"/>
            <a:ext cx="4572000" cy="320040"/>
          </a:xfrm>
          <a:prstGeom prst="rect">
            <a:avLst/>
          </a:prstGeom>
          <a:noFill/>
        </p:spPr>
        <p:txBody>
          <a:bodyPr wrap="square" anchor="t" lIns="0" rIns="0" tIns="0" bIns="0">
            <a:spAutoFit/>
          </a:bodyPr>
          <a:lstStyle/>
          <a:p>
            <a:pPr algn="l"/>
            <a:r>
              <a:rPr sz="1500" b="1">
                <a:solidFill>
                  <a:srgbClr val="39302A"/>
                </a:solidFill>
                <a:latin typeface="Arial"/>
              </a:rPr>
              <a:t>Fagan et al. (2025)</a:t>
            </a:r>
          </a:p>
        </p:txBody>
      </p:sp>
      <p:sp>
        <p:nvSpPr>
          <p:cNvPr id="17" name="TextBox 16"/>
          <p:cNvSpPr txBox="1"/>
          <p:nvPr/>
        </p:nvSpPr>
        <p:spPr>
          <a:xfrm>
            <a:off x="6583680" y="2596896"/>
            <a:ext cx="4572000" cy="274320"/>
          </a:xfrm>
          <a:prstGeom prst="rect">
            <a:avLst/>
          </a:prstGeom>
          <a:noFill/>
        </p:spPr>
        <p:txBody>
          <a:bodyPr wrap="square" anchor="t" lIns="0" rIns="0" tIns="0" bIns="0">
            <a:spAutoFit/>
          </a:bodyPr>
          <a:lstStyle/>
          <a:p>
            <a:pPr algn="l"/>
            <a:r>
              <a:rPr sz="1100" b="0">
                <a:solidFill>
                  <a:srgbClr val="6B5A50"/>
                </a:solidFill>
                <a:latin typeface="Arial"/>
              </a:rPr>
              <a:t>PNAS — canids vs. felids, 6 continents</a:t>
            </a:r>
          </a:p>
        </p:txBody>
      </p:sp>
      <p:sp>
        <p:nvSpPr>
          <p:cNvPr id="18" name="Oval 17"/>
          <p:cNvSpPr/>
          <p:nvPr/>
        </p:nvSpPr>
        <p:spPr>
          <a:xfrm>
            <a:off x="6583680" y="3118104"/>
            <a:ext cx="91440" cy="91440"/>
          </a:xfrm>
          <a:prstGeom prst="ellipse">
            <a:avLst/>
          </a:prstGeom>
          <a:solidFill>
            <a:srgbClr val="F893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30568" y="3118104"/>
            <a:ext cx="4325112" cy="685800"/>
          </a:xfrm>
          <a:prstGeom prst="rect">
            <a:avLst/>
          </a:prstGeom>
          <a:noFill/>
        </p:spPr>
        <p:txBody>
          <a:bodyPr wrap="square" anchor="t" lIns="0" rIns="0" tIns="0" bIns="0">
            <a:spAutoFit/>
          </a:bodyPr>
          <a:lstStyle/>
          <a:p>
            <a:pPr algn="l">
              <a:lnSpc>
                <a:spcPct val="115000"/>
              </a:lnSpc>
            </a:pPr>
            <a:r>
              <a:rPr sz="1100" b="0">
                <a:solidFill>
                  <a:srgbClr val="39302A"/>
                </a:solidFill>
                <a:latin typeface="Arial"/>
              </a:rPr>
              <a:t>Compared reliance on repeatedly-used travel routes across 1,239 GPS-tracked carnivores — 16 canid and 18 felid species worldwide.</a:t>
            </a:r>
          </a:p>
        </p:txBody>
      </p:sp>
      <p:sp>
        <p:nvSpPr>
          <p:cNvPr id="20" name="Oval 19"/>
          <p:cNvSpPr/>
          <p:nvPr/>
        </p:nvSpPr>
        <p:spPr>
          <a:xfrm>
            <a:off x="6583680" y="3867912"/>
            <a:ext cx="91440" cy="91440"/>
          </a:xfrm>
          <a:prstGeom prst="ellipse">
            <a:avLst/>
          </a:prstGeom>
          <a:solidFill>
            <a:srgbClr val="F893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30568" y="3867912"/>
            <a:ext cx="4325112" cy="685800"/>
          </a:xfrm>
          <a:prstGeom prst="rect">
            <a:avLst/>
          </a:prstGeom>
          <a:noFill/>
        </p:spPr>
        <p:txBody>
          <a:bodyPr wrap="square" anchor="t" lIns="0" rIns="0" tIns="0" bIns="0">
            <a:spAutoFit/>
          </a:bodyPr>
          <a:lstStyle/>
          <a:p>
            <a:pPr algn="l">
              <a:lnSpc>
                <a:spcPct val="115000"/>
              </a:lnSpc>
            </a:pPr>
            <a:r>
              <a:rPr sz="1100" b="0">
                <a:solidFill>
                  <a:srgbClr val="39302A"/>
                </a:solidFill>
                <a:latin typeface="Arial"/>
              </a:rPr>
              <a:t>Canids showed a 15% greater density of reused routeways within their home ranges than felids — rising to 33% where the two groups shared a landscape.</a:t>
            </a:r>
          </a:p>
        </p:txBody>
      </p:sp>
      <p:sp>
        <p:nvSpPr>
          <p:cNvPr id="22" name="Oval 21"/>
          <p:cNvSpPr/>
          <p:nvPr/>
        </p:nvSpPr>
        <p:spPr>
          <a:xfrm>
            <a:off x="6583680" y="4617720"/>
            <a:ext cx="91440" cy="91440"/>
          </a:xfrm>
          <a:prstGeom prst="ellipse">
            <a:avLst/>
          </a:prstGeom>
          <a:solidFill>
            <a:srgbClr val="F893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30568" y="4617720"/>
            <a:ext cx="4325112" cy="685800"/>
          </a:xfrm>
          <a:prstGeom prst="rect">
            <a:avLst/>
          </a:prstGeom>
          <a:noFill/>
        </p:spPr>
        <p:txBody>
          <a:bodyPr wrap="square" anchor="t" lIns="0" rIns="0" tIns="0" bIns="0">
            <a:spAutoFit/>
          </a:bodyPr>
          <a:lstStyle/>
          <a:p>
            <a:pPr algn="l">
              <a:lnSpc>
                <a:spcPct val="115000"/>
              </a:lnSpc>
            </a:pPr>
            <a:r>
              <a:rPr sz="1100" b="0">
                <a:solidFill>
                  <a:srgbClr val="39302A"/>
                </a:solidFill>
                <a:latin typeface="Arial"/>
              </a:rPr>
              <a:t>Key idea: the same revisitation logic taught here scales from one individual's waterhole to a clade-level difference in how whole taxa use space.</a:t>
            </a:r>
          </a:p>
        </p:txBody>
      </p:sp>
      <p:sp>
        <p:nvSpPr>
          <p:cNvPr id="24" name="TextBox 23"/>
          <p:cNvSpPr txBox="1"/>
          <p:nvPr/>
        </p:nvSpPr>
        <p:spPr>
          <a:xfrm>
            <a:off x="548640" y="6473952"/>
            <a:ext cx="7315200" cy="274320"/>
          </a:xfrm>
          <a:prstGeom prst="rect">
            <a:avLst/>
          </a:prstGeom>
          <a:noFill/>
        </p:spPr>
        <p:txBody>
          <a:bodyPr wrap="square" anchor="t" lIns="0" rIns="0" tIns="0" bIns="0">
            <a:spAutoFit/>
          </a:bodyPr>
          <a:lstStyle/>
          <a:p>
            <a:pPr algn="l"/>
            <a:r>
              <a:rPr sz="1000" b="0">
                <a:solidFill>
                  <a:srgbClr val="A89A8C"/>
                </a:solidFill>
                <a:latin typeface="Arial"/>
              </a:rPr>
              <a:t>Full citations in the course reading list</a:t>
            </a:r>
          </a:p>
        </p:txBody>
      </p:sp>
      <p:sp>
        <p:nvSpPr>
          <p:cNvPr id="25" name="TextBox 24"/>
          <p:cNvSpPr txBox="1"/>
          <p:nvPr/>
        </p:nvSpPr>
        <p:spPr>
          <a:xfrm>
            <a:off x="9357055" y="6473952"/>
            <a:ext cx="2286000" cy="274320"/>
          </a:xfrm>
          <a:prstGeom prst="rect">
            <a:avLst/>
          </a:prstGeom>
          <a:noFill/>
        </p:spPr>
        <p:txBody>
          <a:bodyPr wrap="square" anchor="t" lIns="0" rIns="0" tIns="0" bIns="0">
            <a:spAutoFit/>
          </a:bodyPr>
          <a:lstStyle/>
          <a:p>
            <a:pPr algn="r"/>
            <a:r>
              <a:rPr sz="1000" b="0">
                <a:solidFill>
                  <a:srgbClr val="A89A8C"/>
                </a:solidFill>
                <a:latin typeface="Arial"/>
              </a:rPr>
              <a:t>Site Fidelity &amp; Recursion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