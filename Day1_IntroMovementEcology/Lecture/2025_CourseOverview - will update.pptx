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7"/>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1" r:id="rId14"/>
    <p:sldId id="269" r:id="rId15"/>
    <p:sldId id="270" r:id="rId16"/>
    <p:sldId id="271" r:id="rId17"/>
    <p:sldId id="272" r:id="rId18"/>
    <p:sldId id="280" r:id="rId19"/>
    <p:sldId id="273" r:id="rId20"/>
    <p:sldId id="274" r:id="rId21"/>
    <p:sldId id="275" r:id="rId22"/>
    <p:sldId id="276" r:id="rId23"/>
    <p:sldId id="277" r:id="rId24"/>
    <p:sldId id="278" r:id="rId25"/>
    <p:sldId id="279" r:id="rId26"/>
  </p:sldIdLst>
  <p:sldSz cx="12192000" cy="6858000"/>
  <p:notesSz cx="6858000" cy="9144000"/>
  <p:embeddedFontLst>
    <p:embeddedFont>
      <p:font typeface="Alfa Slab One" pitchFamily="2" charset="77"/>
      <p:regular r:id="rId28"/>
    </p:embeddedFont>
    <p:embeddedFont>
      <p:font typeface="Aptos Black" panose="020B0004020202020204" pitchFamily="34" charset="0"/>
      <p:bold r:id="rId29"/>
      <p:italic r:id="rId30"/>
      <p:boldItalic r:id="rId31"/>
    </p:embeddedFont>
    <p:embeddedFont>
      <p:font typeface="Corbel" panose="020B0503020204020204" pitchFamily="34" charset="0"/>
      <p:regular r:id="rId32"/>
      <p:bold r:id="rId33"/>
      <p:italic r:id="rId34"/>
      <p:boldItalic r:id="rId35"/>
    </p:embeddedFont>
    <p:embeddedFont>
      <p:font typeface="Proxima Nova" panose="02000506030000020004"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531778-2F68-415F-B23B-7F697ECEBDDE}">
  <a:tblStyle styleId="{D1531778-2F68-415F-B23B-7F697ECEBDD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86781"/>
  </p:normalViewPr>
  <p:slideViewPr>
    <p:cSldViewPr snapToGrid="0">
      <p:cViewPr>
        <p:scale>
          <a:sx n="79" d="100"/>
          <a:sy n="79" d="100"/>
        </p:scale>
        <p:origin x="840"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B8D28A-56FC-8240-B58A-E4041C9A9C9C}" type="doc">
      <dgm:prSet loTypeId="urn:microsoft.com/office/officeart/2005/8/layout/vProcess5" loCatId="" qsTypeId="urn:microsoft.com/office/officeart/2005/8/quickstyle/simple1" qsCatId="simple" csTypeId="urn:microsoft.com/office/officeart/2005/8/colors/colorful4" csCatId="colorful" phldr="1"/>
      <dgm:spPr/>
      <dgm:t>
        <a:bodyPr/>
        <a:lstStyle/>
        <a:p>
          <a:endParaRPr lang="en-US"/>
        </a:p>
      </dgm:t>
    </dgm:pt>
    <dgm:pt modelId="{C06B70E2-9C98-5F4A-8F4D-F73E71BA720E}">
      <dgm:prSet phldrT="[Text]"/>
      <dgm:spPr/>
      <dgm:t>
        <a:bodyPr/>
        <a:lstStyle/>
        <a:p>
          <a:r>
            <a:rPr lang="en-US" dirty="0"/>
            <a:t>Q &amp; A</a:t>
          </a:r>
        </a:p>
      </dgm:t>
    </dgm:pt>
    <dgm:pt modelId="{B1FB3FEF-EA7C-6D44-9F32-65064FC8CCA0}" type="parTrans" cxnId="{0593ECB0-AC5C-9B43-A5FB-0C72E9F6CABE}">
      <dgm:prSet/>
      <dgm:spPr/>
      <dgm:t>
        <a:bodyPr/>
        <a:lstStyle/>
        <a:p>
          <a:endParaRPr lang="en-US"/>
        </a:p>
      </dgm:t>
    </dgm:pt>
    <dgm:pt modelId="{B7B45C55-321D-6D43-8E2B-B7F0A6F6788E}" type="sibTrans" cxnId="{0593ECB0-AC5C-9B43-A5FB-0C72E9F6CABE}">
      <dgm:prSet/>
      <dgm:spPr/>
      <dgm:t>
        <a:bodyPr/>
        <a:lstStyle/>
        <a:p>
          <a:endParaRPr lang="en-US"/>
        </a:p>
      </dgm:t>
    </dgm:pt>
    <dgm:pt modelId="{041DA684-5116-6A4F-B348-95C3EE44F3AD}">
      <dgm:prSet phldrT="[Text]"/>
      <dgm:spPr/>
      <dgm:t>
        <a:bodyPr/>
        <a:lstStyle/>
        <a:p>
          <a:r>
            <a:rPr lang="en-US" dirty="0"/>
            <a:t>Mini-lectures + exercise</a:t>
          </a:r>
        </a:p>
      </dgm:t>
    </dgm:pt>
    <dgm:pt modelId="{D6E670F6-DE66-5A41-BBB2-81036663B726}" type="parTrans" cxnId="{09A6617E-EF44-5B43-AB8C-8B54822C74DF}">
      <dgm:prSet/>
      <dgm:spPr/>
      <dgm:t>
        <a:bodyPr/>
        <a:lstStyle/>
        <a:p>
          <a:endParaRPr lang="en-US"/>
        </a:p>
      </dgm:t>
    </dgm:pt>
    <dgm:pt modelId="{B8416935-3DF5-4B46-A2E1-CADBF1BCCCBE}" type="sibTrans" cxnId="{09A6617E-EF44-5B43-AB8C-8B54822C74DF}">
      <dgm:prSet/>
      <dgm:spPr/>
      <dgm:t>
        <a:bodyPr/>
        <a:lstStyle/>
        <a:p>
          <a:endParaRPr lang="en-US"/>
        </a:p>
      </dgm:t>
    </dgm:pt>
    <dgm:pt modelId="{86638451-322D-274C-953B-7B0EB957F50D}">
      <dgm:prSet phldrT="[Text]"/>
      <dgm:spPr/>
      <dgm:t>
        <a:bodyPr/>
        <a:lstStyle/>
        <a:p>
          <a:r>
            <a:rPr lang="en-US" dirty="0"/>
            <a:t>Practice with your own dataset with your group </a:t>
          </a:r>
        </a:p>
      </dgm:t>
    </dgm:pt>
    <dgm:pt modelId="{6C7B7D75-B149-8A44-8AC5-65381BF65485}" type="parTrans" cxnId="{C14D4167-AE40-5949-811B-2CC033D74E08}">
      <dgm:prSet/>
      <dgm:spPr/>
      <dgm:t>
        <a:bodyPr/>
        <a:lstStyle/>
        <a:p>
          <a:endParaRPr lang="en-US"/>
        </a:p>
      </dgm:t>
    </dgm:pt>
    <dgm:pt modelId="{968368F9-1507-0E47-9EE8-6E8CDF3706DF}" type="sibTrans" cxnId="{C14D4167-AE40-5949-811B-2CC033D74E08}">
      <dgm:prSet/>
      <dgm:spPr/>
      <dgm:t>
        <a:bodyPr/>
        <a:lstStyle/>
        <a:p>
          <a:endParaRPr lang="en-US"/>
        </a:p>
      </dgm:t>
    </dgm:pt>
    <dgm:pt modelId="{CCE66EFB-D8F7-BF44-9708-F3553522B478}" type="pres">
      <dgm:prSet presAssocID="{18B8D28A-56FC-8240-B58A-E4041C9A9C9C}" presName="outerComposite" presStyleCnt="0">
        <dgm:presLayoutVars>
          <dgm:chMax val="5"/>
          <dgm:dir/>
          <dgm:resizeHandles val="exact"/>
        </dgm:presLayoutVars>
      </dgm:prSet>
      <dgm:spPr/>
    </dgm:pt>
    <dgm:pt modelId="{108D71A9-FF4B-0940-A4F8-3CA6E920C101}" type="pres">
      <dgm:prSet presAssocID="{18B8D28A-56FC-8240-B58A-E4041C9A9C9C}" presName="dummyMaxCanvas" presStyleCnt="0">
        <dgm:presLayoutVars/>
      </dgm:prSet>
      <dgm:spPr/>
    </dgm:pt>
    <dgm:pt modelId="{8543AA9C-9DB0-6F49-B8B3-4E59A2E21F6E}" type="pres">
      <dgm:prSet presAssocID="{18B8D28A-56FC-8240-B58A-E4041C9A9C9C}" presName="ThreeNodes_1" presStyleLbl="node1" presStyleIdx="0" presStyleCnt="3">
        <dgm:presLayoutVars>
          <dgm:bulletEnabled val="1"/>
        </dgm:presLayoutVars>
      </dgm:prSet>
      <dgm:spPr/>
    </dgm:pt>
    <dgm:pt modelId="{3E70AE4B-8E71-C243-BCC3-A24EB1DED31A}" type="pres">
      <dgm:prSet presAssocID="{18B8D28A-56FC-8240-B58A-E4041C9A9C9C}" presName="ThreeNodes_2" presStyleLbl="node1" presStyleIdx="1" presStyleCnt="3">
        <dgm:presLayoutVars>
          <dgm:bulletEnabled val="1"/>
        </dgm:presLayoutVars>
      </dgm:prSet>
      <dgm:spPr/>
    </dgm:pt>
    <dgm:pt modelId="{35AB77C0-F9BD-6A49-87F8-F5E1371573CC}" type="pres">
      <dgm:prSet presAssocID="{18B8D28A-56FC-8240-B58A-E4041C9A9C9C}" presName="ThreeNodes_3" presStyleLbl="node1" presStyleIdx="2" presStyleCnt="3">
        <dgm:presLayoutVars>
          <dgm:bulletEnabled val="1"/>
        </dgm:presLayoutVars>
      </dgm:prSet>
      <dgm:spPr/>
    </dgm:pt>
    <dgm:pt modelId="{15B9F3DE-3846-B04D-910B-28798AF218F9}" type="pres">
      <dgm:prSet presAssocID="{18B8D28A-56FC-8240-B58A-E4041C9A9C9C}" presName="ThreeConn_1-2" presStyleLbl="fgAccFollowNode1" presStyleIdx="0" presStyleCnt="2">
        <dgm:presLayoutVars>
          <dgm:bulletEnabled val="1"/>
        </dgm:presLayoutVars>
      </dgm:prSet>
      <dgm:spPr/>
    </dgm:pt>
    <dgm:pt modelId="{0088C864-F8C9-9C40-9EDF-68D5E73A7FDA}" type="pres">
      <dgm:prSet presAssocID="{18B8D28A-56FC-8240-B58A-E4041C9A9C9C}" presName="ThreeConn_2-3" presStyleLbl="fgAccFollowNode1" presStyleIdx="1" presStyleCnt="2">
        <dgm:presLayoutVars>
          <dgm:bulletEnabled val="1"/>
        </dgm:presLayoutVars>
      </dgm:prSet>
      <dgm:spPr/>
    </dgm:pt>
    <dgm:pt modelId="{E5C4F0A5-09F5-CC4F-ADC5-47D5511A9ABD}" type="pres">
      <dgm:prSet presAssocID="{18B8D28A-56FC-8240-B58A-E4041C9A9C9C}" presName="ThreeNodes_1_text" presStyleLbl="node1" presStyleIdx="2" presStyleCnt="3">
        <dgm:presLayoutVars>
          <dgm:bulletEnabled val="1"/>
        </dgm:presLayoutVars>
      </dgm:prSet>
      <dgm:spPr/>
    </dgm:pt>
    <dgm:pt modelId="{F9F43C88-832F-394F-B180-7182F5712194}" type="pres">
      <dgm:prSet presAssocID="{18B8D28A-56FC-8240-B58A-E4041C9A9C9C}" presName="ThreeNodes_2_text" presStyleLbl="node1" presStyleIdx="2" presStyleCnt="3">
        <dgm:presLayoutVars>
          <dgm:bulletEnabled val="1"/>
        </dgm:presLayoutVars>
      </dgm:prSet>
      <dgm:spPr/>
    </dgm:pt>
    <dgm:pt modelId="{83E5CD59-F972-A541-B00E-1D1CCA89B3B3}" type="pres">
      <dgm:prSet presAssocID="{18B8D28A-56FC-8240-B58A-E4041C9A9C9C}" presName="ThreeNodes_3_text" presStyleLbl="node1" presStyleIdx="2" presStyleCnt="3">
        <dgm:presLayoutVars>
          <dgm:bulletEnabled val="1"/>
        </dgm:presLayoutVars>
      </dgm:prSet>
      <dgm:spPr/>
    </dgm:pt>
  </dgm:ptLst>
  <dgm:cxnLst>
    <dgm:cxn modelId="{557DC409-0833-7E4B-A64A-06A5D3373A69}" type="presOf" srcId="{B8416935-3DF5-4B46-A2E1-CADBF1BCCCBE}" destId="{0088C864-F8C9-9C40-9EDF-68D5E73A7FDA}" srcOrd="0" destOrd="0" presId="urn:microsoft.com/office/officeart/2005/8/layout/vProcess5"/>
    <dgm:cxn modelId="{96322F17-913E-7C4F-AAA9-39D31ABF8B06}" type="presOf" srcId="{C06B70E2-9C98-5F4A-8F4D-F73E71BA720E}" destId="{E5C4F0A5-09F5-CC4F-ADC5-47D5511A9ABD}" srcOrd="1" destOrd="0" presId="urn:microsoft.com/office/officeart/2005/8/layout/vProcess5"/>
    <dgm:cxn modelId="{62475A61-7071-E641-B709-7E0C68EC4F33}" type="presOf" srcId="{C06B70E2-9C98-5F4A-8F4D-F73E71BA720E}" destId="{8543AA9C-9DB0-6F49-B8B3-4E59A2E21F6E}" srcOrd="0" destOrd="0" presId="urn:microsoft.com/office/officeart/2005/8/layout/vProcess5"/>
    <dgm:cxn modelId="{C14D4167-AE40-5949-811B-2CC033D74E08}" srcId="{18B8D28A-56FC-8240-B58A-E4041C9A9C9C}" destId="{86638451-322D-274C-953B-7B0EB957F50D}" srcOrd="2" destOrd="0" parTransId="{6C7B7D75-B149-8A44-8AC5-65381BF65485}" sibTransId="{968368F9-1507-0E47-9EE8-6E8CDF3706DF}"/>
    <dgm:cxn modelId="{09A6617E-EF44-5B43-AB8C-8B54822C74DF}" srcId="{18B8D28A-56FC-8240-B58A-E4041C9A9C9C}" destId="{041DA684-5116-6A4F-B348-95C3EE44F3AD}" srcOrd="1" destOrd="0" parTransId="{D6E670F6-DE66-5A41-BBB2-81036663B726}" sibTransId="{B8416935-3DF5-4B46-A2E1-CADBF1BCCCBE}"/>
    <dgm:cxn modelId="{16A6738A-B1EF-3E4A-9DF6-66DFB6075AA8}" type="presOf" srcId="{86638451-322D-274C-953B-7B0EB957F50D}" destId="{35AB77C0-F9BD-6A49-87F8-F5E1371573CC}" srcOrd="0" destOrd="0" presId="urn:microsoft.com/office/officeart/2005/8/layout/vProcess5"/>
    <dgm:cxn modelId="{06693099-51B2-624C-B2E4-8E2532B90A82}" type="presOf" srcId="{86638451-322D-274C-953B-7B0EB957F50D}" destId="{83E5CD59-F972-A541-B00E-1D1CCA89B3B3}" srcOrd="1" destOrd="0" presId="urn:microsoft.com/office/officeart/2005/8/layout/vProcess5"/>
    <dgm:cxn modelId="{0593ECB0-AC5C-9B43-A5FB-0C72E9F6CABE}" srcId="{18B8D28A-56FC-8240-B58A-E4041C9A9C9C}" destId="{C06B70E2-9C98-5F4A-8F4D-F73E71BA720E}" srcOrd="0" destOrd="0" parTransId="{B1FB3FEF-EA7C-6D44-9F32-65064FC8CCA0}" sibTransId="{B7B45C55-321D-6D43-8E2B-B7F0A6F6788E}"/>
    <dgm:cxn modelId="{247FC0CC-1CF1-6B4C-A5B5-8F0C93F8C9E6}" type="presOf" srcId="{041DA684-5116-6A4F-B348-95C3EE44F3AD}" destId="{3E70AE4B-8E71-C243-BCC3-A24EB1DED31A}" srcOrd="0" destOrd="0" presId="urn:microsoft.com/office/officeart/2005/8/layout/vProcess5"/>
    <dgm:cxn modelId="{EA9377D8-FE39-DF47-AD24-BC82F87B3E05}" type="presOf" srcId="{18B8D28A-56FC-8240-B58A-E4041C9A9C9C}" destId="{CCE66EFB-D8F7-BF44-9708-F3553522B478}" srcOrd="0" destOrd="0" presId="urn:microsoft.com/office/officeart/2005/8/layout/vProcess5"/>
    <dgm:cxn modelId="{F18EBFE6-ED8D-7A47-9275-E55D3399AB75}" type="presOf" srcId="{041DA684-5116-6A4F-B348-95C3EE44F3AD}" destId="{F9F43C88-832F-394F-B180-7182F5712194}" srcOrd="1" destOrd="0" presId="urn:microsoft.com/office/officeart/2005/8/layout/vProcess5"/>
    <dgm:cxn modelId="{27B6D7EA-FD55-AC45-8D10-CC1C12F2702A}" type="presOf" srcId="{B7B45C55-321D-6D43-8E2B-B7F0A6F6788E}" destId="{15B9F3DE-3846-B04D-910B-28798AF218F9}" srcOrd="0" destOrd="0" presId="urn:microsoft.com/office/officeart/2005/8/layout/vProcess5"/>
    <dgm:cxn modelId="{95B60FEB-407F-B348-83C5-96AF691D84C9}" type="presParOf" srcId="{CCE66EFB-D8F7-BF44-9708-F3553522B478}" destId="{108D71A9-FF4B-0940-A4F8-3CA6E920C101}" srcOrd="0" destOrd="0" presId="urn:microsoft.com/office/officeart/2005/8/layout/vProcess5"/>
    <dgm:cxn modelId="{660EC421-72F1-824A-8AFC-8F499FDED20E}" type="presParOf" srcId="{CCE66EFB-D8F7-BF44-9708-F3553522B478}" destId="{8543AA9C-9DB0-6F49-B8B3-4E59A2E21F6E}" srcOrd="1" destOrd="0" presId="urn:microsoft.com/office/officeart/2005/8/layout/vProcess5"/>
    <dgm:cxn modelId="{6D5D7F0A-EE4A-0142-862A-620062DFD83E}" type="presParOf" srcId="{CCE66EFB-D8F7-BF44-9708-F3553522B478}" destId="{3E70AE4B-8E71-C243-BCC3-A24EB1DED31A}" srcOrd="2" destOrd="0" presId="urn:microsoft.com/office/officeart/2005/8/layout/vProcess5"/>
    <dgm:cxn modelId="{F4580366-74EC-1D4B-87EF-BEA01CE65560}" type="presParOf" srcId="{CCE66EFB-D8F7-BF44-9708-F3553522B478}" destId="{35AB77C0-F9BD-6A49-87F8-F5E1371573CC}" srcOrd="3" destOrd="0" presId="urn:microsoft.com/office/officeart/2005/8/layout/vProcess5"/>
    <dgm:cxn modelId="{D82D2B4C-38F2-7842-AAA1-BE8DDBC12B69}" type="presParOf" srcId="{CCE66EFB-D8F7-BF44-9708-F3553522B478}" destId="{15B9F3DE-3846-B04D-910B-28798AF218F9}" srcOrd="4" destOrd="0" presId="urn:microsoft.com/office/officeart/2005/8/layout/vProcess5"/>
    <dgm:cxn modelId="{2529FDF9-2952-474A-B027-CED0BA014025}" type="presParOf" srcId="{CCE66EFB-D8F7-BF44-9708-F3553522B478}" destId="{0088C864-F8C9-9C40-9EDF-68D5E73A7FDA}" srcOrd="5" destOrd="0" presId="urn:microsoft.com/office/officeart/2005/8/layout/vProcess5"/>
    <dgm:cxn modelId="{C9558485-8359-624B-A7D6-0D2AD356F1D4}" type="presParOf" srcId="{CCE66EFB-D8F7-BF44-9708-F3553522B478}" destId="{E5C4F0A5-09F5-CC4F-ADC5-47D5511A9ABD}" srcOrd="6" destOrd="0" presId="urn:microsoft.com/office/officeart/2005/8/layout/vProcess5"/>
    <dgm:cxn modelId="{9A0F3714-19B2-6740-8ACF-72F0B7C1DD73}" type="presParOf" srcId="{CCE66EFB-D8F7-BF44-9708-F3553522B478}" destId="{F9F43C88-832F-394F-B180-7182F5712194}" srcOrd="7" destOrd="0" presId="urn:microsoft.com/office/officeart/2005/8/layout/vProcess5"/>
    <dgm:cxn modelId="{E6567C9F-46BC-3E44-8408-CAA81B30FE87}" type="presParOf" srcId="{CCE66EFB-D8F7-BF44-9708-F3553522B478}" destId="{83E5CD59-F972-A541-B00E-1D1CCA89B3B3}"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43AA9C-9DB0-6F49-B8B3-4E59A2E21F6E}">
      <dsp:nvSpPr>
        <dsp:cNvPr id="0" name=""/>
        <dsp:cNvSpPr/>
      </dsp:nvSpPr>
      <dsp:spPr>
        <a:xfrm>
          <a:off x="0" y="0"/>
          <a:ext cx="6908800" cy="1160598"/>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Q &amp; A</a:t>
          </a:r>
        </a:p>
      </dsp:txBody>
      <dsp:txXfrm>
        <a:off x="33993" y="33993"/>
        <a:ext cx="5656422" cy="1092612"/>
      </dsp:txXfrm>
    </dsp:sp>
    <dsp:sp modelId="{3E70AE4B-8E71-C243-BCC3-A24EB1DED31A}">
      <dsp:nvSpPr>
        <dsp:cNvPr id="0" name=""/>
        <dsp:cNvSpPr/>
      </dsp:nvSpPr>
      <dsp:spPr>
        <a:xfrm>
          <a:off x="609599" y="1354032"/>
          <a:ext cx="6908800" cy="1160598"/>
        </a:xfrm>
        <a:prstGeom prst="roundRect">
          <a:avLst>
            <a:gd name="adj" fmla="val 10000"/>
          </a:avLst>
        </a:prstGeom>
        <a:solidFill>
          <a:schemeClr val="accent4">
            <a:hueOff val="575011"/>
            <a:satOff val="0"/>
            <a:lumOff val="-8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Mini-lectures + exercise</a:t>
          </a:r>
        </a:p>
      </dsp:txBody>
      <dsp:txXfrm>
        <a:off x="643592" y="1388025"/>
        <a:ext cx="5476824" cy="1092612"/>
      </dsp:txXfrm>
    </dsp:sp>
    <dsp:sp modelId="{35AB77C0-F9BD-6A49-87F8-F5E1371573CC}">
      <dsp:nvSpPr>
        <dsp:cNvPr id="0" name=""/>
        <dsp:cNvSpPr/>
      </dsp:nvSpPr>
      <dsp:spPr>
        <a:xfrm>
          <a:off x="1219199" y="2708064"/>
          <a:ext cx="6908800" cy="1160598"/>
        </a:xfrm>
        <a:prstGeom prst="roundRect">
          <a:avLst>
            <a:gd name="adj" fmla="val 10000"/>
          </a:avLst>
        </a:prstGeom>
        <a:solidFill>
          <a:schemeClr val="accent4">
            <a:hueOff val="1150022"/>
            <a:satOff val="0"/>
            <a:lumOff val="-17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Practice with your own dataset with your group </a:t>
          </a:r>
        </a:p>
      </dsp:txBody>
      <dsp:txXfrm>
        <a:off x="1253192" y="2742057"/>
        <a:ext cx="5476824" cy="1092612"/>
      </dsp:txXfrm>
    </dsp:sp>
    <dsp:sp modelId="{15B9F3DE-3846-B04D-910B-28798AF218F9}">
      <dsp:nvSpPr>
        <dsp:cNvPr id="0" name=""/>
        <dsp:cNvSpPr/>
      </dsp:nvSpPr>
      <dsp:spPr>
        <a:xfrm>
          <a:off x="6154410" y="880120"/>
          <a:ext cx="754389" cy="754389"/>
        </a:xfrm>
        <a:prstGeom prst="downArrow">
          <a:avLst>
            <a:gd name="adj1" fmla="val 55000"/>
            <a:gd name="adj2" fmla="val 45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6324148" y="880120"/>
        <a:ext cx="414913" cy="567678"/>
      </dsp:txXfrm>
    </dsp:sp>
    <dsp:sp modelId="{0088C864-F8C9-9C40-9EDF-68D5E73A7FDA}">
      <dsp:nvSpPr>
        <dsp:cNvPr id="0" name=""/>
        <dsp:cNvSpPr/>
      </dsp:nvSpPr>
      <dsp:spPr>
        <a:xfrm>
          <a:off x="6764010" y="2226415"/>
          <a:ext cx="754389" cy="754389"/>
        </a:xfrm>
        <a:prstGeom prst="downArrow">
          <a:avLst>
            <a:gd name="adj1" fmla="val 55000"/>
            <a:gd name="adj2" fmla="val 45000"/>
          </a:avLst>
        </a:prstGeom>
        <a:solidFill>
          <a:schemeClr val="accent4">
            <a:tint val="40000"/>
            <a:alpha val="90000"/>
            <a:hueOff val="1119209"/>
            <a:satOff val="-53137"/>
            <a:lumOff val="-3898"/>
            <a:alphaOff val="0"/>
          </a:schemeClr>
        </a:solidFill>
        <a:ln w="25400" cap="flat" cmpd="sng" algn="ctr">
          <a:solidFill>
            <a:schemeClr val="accent4">
              <a:tint val="40000"/>
              <a:alpha val="90000"/>
              <a:hueOff val="1119209"/>
              <a:satOff val="-53137"/>
              <a:lumOff val="-38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6933748" y="2226415"/>
        <a:ext cx="414913" cy="56767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0ad8ace32_0_3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g370ad8ace32_0_3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dirty="0"/>
              <a:t>ADD UMASS LOGO</a:t>
            </a:r>
            <a:endParaRPr b="1" dirty="0"/>
          </a:p>
        </p:txBody>
      </p:sp>
      <p:sp>
        <p:nvSpPr>
          <p:cNvPr id="66" name="Google Shape;66;g370ad8ace32_0_3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70ad8ace32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70ad8ace32_0_4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Goal: </a:t>
            </a:r>
            <a:endParaRPr/>
          </a:p>
          <a:p>
            <a:pPr marL="457200" lvl="0" indent="-317500" algn="l" rtl="0">
              <a:spcBef>
                <a:spcPts val="0"/>
              </a:spcBef>
              <a:spcAft>
                <a:spcPts val="0"/>
              </a:spcAft>
              <a:buSzPts val="1400"/>
              <a:buChar char="-"/>
            </a:pPr>
            <a:r>
              <a:rPr lang="en-US"/>
              <a:t>understand why and what we are doing, and the technical part is secondary </a:t>
            </a:r>
            <a:endParaRPr/>
          </a:p>
          <a:p>
            <a:pPr marL="457200" lvl="0" indent="-317500" algn="l" rtl="0">
              <a:spcBef>
                <a:spcPts val="0"/>
              </a:spcBef>
              <a:spcAft>
                <a:spcPts val="0"/>
              </a:spcAft>
              <a:buSzPts val="1400"/>
              <a:buChar char="-"/>
            </a:pPr>
            <a:r>
              <a:rPr lang="en-US"/>
              <a:t>homework </a:t>
            </a:r>
            <a:endParaRPr/>
          </a:p>
          <a:p>
            <a:pPr marL="457200" lvl="0" indent="-317500" algn="l" rtl="0">
              <a:spcBef>
                <a:spcPts val="0"/>
              </a:spcBef>
              <a:spcAft>
                <a:spcPts val="0"/>
              </a:spcAft>
              <a:buSzPts val="1400"/>
              <a:buChar char="-"/>
            </a:pPr>
            <a:r>
              <a:rPr lang="en-US"/>
              <a:t>leave the class with clear direction, and already have the building blocks in hand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0ad8ace32_0_3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0ad8ace32_0_3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g370ad8ace32_0_3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0"/>
              </a:spcBef>
              <a:spcAft>
                <a:spcPts val="0"/>
              </a:spcAft>
              <a:buSzPts val="1400"/>
              <a:buAutoNum type="arabicPeriod"/>
            </a:pPr>
            <a:r>
              <a:rPr lang="en-US"/>
              <a:t>a technology driven field </a:t>
            </a:r>
            <a:endParaRPr/>
          </a:p>
          <a:p>
            <a:pPr marL="0" lvl="0" indent="0" algn="l" rtl="0">
              <a:lnSpc>
                <a:spcPct val="100000"/>
              </a:lnSpc>
              <a:spcBef>
                <a:spcPts val="0"/>
              </a:spcBef>
              <a:spcAft>
                <a:spcPts val="0"/>
              </a:spcAft>
              <a:buSzPts val="1400"/>
              <a:buNone/>
            </a:pPr>
            <a:r>
              <a:rPr lang="en-US"/>
              <a:t>added spatial temporal details from traditional nature observations </a:t>
            </a:r>
            <a:endParaRPr/>
          </a:p>
          <a:p>
            <a:pPr marL="0" lvl="0" indent="0" algn="l" rtl="0">
              <a:lnSpc>
                <a:spcPct val="100000"/>
              </a:lnSpc>
              <a:spcBef>
                <a:spcPts val="0"/>
              </a:spcBef>
              <a:spcAft>
                <a:spcPts val="0"/>
              </a:spcAft>
              <a:buSzPts val="1400"/>
              <a:buNone/>
            </a:pPr>
            <a:endParaRPr/>
          </a:p>
          <a:p>
            <a:pPr marL="457200" lvl="0" indent="-298450" algn="l" rtl="0">
              <a:spcBef>
                <a:spcPts val="0"/>
              </a:spcBef>
              <a:spcAft>
                <a:spcPts val="0"/>
              </a:spcAft>
              <a:buSzPts val="1100"/>
              <a:buAutoNum type="arabicPeriod"/>
            </a:pPr>
            <a:r>
              <a:rPr lang="en-US" sz="1100"/>
              <a:t>fundamental to life on earth </a:t>
            </a:r>
            <a:endParaRPr sz="1100"/>
          </a:p>
          <a:p>
            <a:pPr marL="914400" lvl="1" indent="-298450" algn="l" rtl="0">
              <a:spcBef>
                <a:spcPts val="0"/>
              </a:spcBef>
              <a:spcAft>
                <a:spcPts val="0"/>
              </a:spcAft>
              <a:buSzPts val="1100"/>
              <a:buAutoNum type="alphaLcPeriod"/>
            </a:pPr>
            <a:r>
              <a:rPr lang="en-US" sz="1100"/>
              <a:t>It dictates how individuals acquire resources, evade predators, exchange genetic material, and respond to stressful environments.</a:t>
            </a:r>
            <a:endParaRPr sz="1100"/>
          </a:p>
          <a:p>
            <a:pPr marL="0" lvl="0" indent="0" algn="l" rtl="0">
              <a:lnSpc>
                <a:spcPct val="100000"/>
              </a:lnSpc>
              <a:spcBef>
                <a:spcPts val="0"/>
              </a:spcBef>
              <a:spcAft>
                <a:spcPts val="0"/>
              </a:spcAft>
              <a:buSzPts val="1400"/>
              <a:buNone/>
            </a:pPr>
            <a:endParaRPr sz="300"/>
          </a:p>
        </p:txBody>
      </p:sp>
      <p:sp>
        <p:nvSpPr>
          <p:cNvPr id="98" name="Google Shape;9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7299c28b6b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7299c28b6b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g37299c28b6b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7299c28b6b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7299c28b6b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8" name="Google Shape;118;g37299c28b6b_0_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7299c28b6b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299c28b6b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100">
                <a:latin typeface="Arial"/>
                <a:ea typeface="Arial"/>
                <a:cs typeface="Arial"/>
                <a:sym typeface="Arial"/>
              </a:rPr>
              <a:t>A collaborative network of VHF radio towers tracking nanotags on small flying animals.</a:t>
            </a:r>
            <a:endParaRPr sz="1100">
              <a:latin typeface="Arial"/>
              <a:ea typeface="Arial"/>
              <a:cs typeface="Arial"/>
              <a:sym typeface="Arial"/>
            </a:endParaRPr>
          </a:p>
          <a:p>
            <a:pPr marL="0" lvl="0" indent="0" algn="l" rtl="0">
              <a:spcBef>
                <a:spcPts val="0"/>
              </a:spcBef>
              <a:spcAft>
                <a:spcPts val="0"/>
              </a:spcAft>
              <a:buNone/>
            </a:pPr>
            <a:r>
              <a:rPr lang="en-US" sz="1100" b="1">
                <a:latin typeface="Arial"/>
                <a:ea typeface="Arial"/>
                <a:cs typeface="Arial"/>
                <a:sym typeface="Arial"/>
              </a:rPr>
              <a:t>Design</a:t>
            </a:r>
            <a:r>
              <a:rPr lang="en-US" sz="1100">
                <a:latin typeface="Arial"/>
                <a:ea typeface="Arial"/>
                <a:cs typeface="Arial"/>
                <a:sym typeface="Arial"/>
              </a:rPr>
              <a:t>: Semi-Eulerian, as the tags are active, and stations passively log signals from passing animals.</a:t>
            </a: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r>
              <a:rPr lang="en-US" sz="1100">
                <a:latin typeface="Arial"/>
                <a:ea typeface="Arial"/>
                <a:cs typeface="Arial"/>
                <a:sym typeface="Arial"/>
              </a:rPr>
              <a:t>nanotag weights as little as 0.3g</a:t>
            </a:r>
            <a:endParaRPr sz="1100">
              <a:latin typeface="Arial"/>
              <a:ea typeface="Arial"/>
              <a:cs typeface="Arial"/>
              <a:sym typeface="Arial"/>
            </a:endParaRPr>
          </a:p>
          <a:p>
            <a:pPr marL="0" lvl="0" indent="0" algn="l" rtl="0">
              <a:spcBef>
                <a:spcPts val="0"/>
              </a:spcBef>
              <a:spcAft>
                <a:spcPts val="0"/>
              </a:spcAft>
              <a:buNone/>
            </a:pPr>
            <a:endParaRPr/>
          </a:p>
        </p:txBody>
      </p:sp>
      <p:sp>
        <p:nvSpPr>
          <p:cNvPr id="127" name="Google Shape;127;g37299c28b6b_0_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70a9edac05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70a9edac05_0_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endParaRPr/>
          </a:p>
        </p:txBody>
      </p:sp>
      <p:sp>
        <p:nvSpPr>
          <p:cNvPr id="136" name="Google Shape;136;g370a9edac05_0_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70a9edac05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g370a9edac05_0_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85357" lvl="0" indent="-285357" algn="l" rtl="0">
              <a:lnSpc>
                <a:spcPct val="150000"/>
              </a:lnSpc>
              <a:spcBef>
                <a:spcPts val="0"/>
              </a:spcBef>
              <a:spcAft>
                <a:spcPts val="0"/>
              </a:spcAft>
              <a:buClr>
                <a:srgbClr val="000000"/>
              </a:buClr>
              <a:buSzPts val="1200"/>
              <a:buFont typeface="Arial"/>
              <a:buChar char="•"/>
            </a:pPr>
            <a:endParaRPr/>
          </a:p>
        </p:txBody>
      </p:sp>
      <p:sp>
        <p:nvSpPr>
          <p:cNvPr id="156" name="Google Shape;156;g370a9edac05_0_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9</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85358" lvl="0" indent="-285358" algn="l" rtl="0">
              <a:lnSpc>
                <a:spcPct val="150000"/>
              </a:lnSpc>
              <a:spcBef>
                <a:spcPts val="0"/>
              </a:spcBef>
              <a:spcAft>
                <a:spcPts val="0"/>
              </a:spcAft>
              <a:buClr>
                <a:srgbClr val="000000"/>
              </a:buClr>
              <a:buSzPts val="1200"/>
              <a:buFont typeface="Arial"/>
              <a:buChar char="•"/>
            </a:pPr>
            <a:endParaRPr/>
          </a:p>
        </p:txBody>
      </p:sp>
      <p:sp>
        <p:nvSpPr>
          <p:cNvPr id="165" name="Google Shape;16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10</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85358" lvl="0" indent="-285358" algn="l" rtl="0">
              <a:lnSpc>
                <a:spcPct val="150000"/>
              </a:lnSpc>
              <a:spcBef>
                <a:spcPts val="0"/>
              </a:spcBef>
              <a:spcAft>
                <a:spcPts val="0"/>
              </a:spcAft>
              <a:buClr>
                <a:srgbClr val="000000"/>
              </a:buClr>
              <a:buSzPts val="1200"/>
              <a:buFont typeface="Arial"/>
              <a:buChar char="•"/>
            </a:pPr>
            <a:r>
              <a:rPr lang="en-US"/>
              <a:t>ecophysiology such as thermal regulation, water relations</a:t>
            </a:r>
            <a:endParaRPr/>
          </a:p>
        </p:txBody>
      </p:sp>
      <p:sp>
        <p:nvSpPr>
          <p:cNvPr id="175" name="Google Shape;17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11</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70a9edac05_0_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370a9edac05_0_1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85357" lvl="0" indent="-285357" algn="l" rtl="0">
              <a:lnSpc>
                <a:spcPct val="150000"/>
              </a:lnSpc>
              <a:spcBef>
                <a:spcPts val="0"/>
              </a:spcBef>
              <a:spcAft>
                <a:spcPts val="0"/>
              </a:spcAft>
              <a:buClr>
                <a:srgbClr val="000000"/>
              </a:buClr>
              <a:buSzPts val="1200"/>
              <a:buFont typeface="Arial"/>
              <a:buChar char="•"/>
            </a:pPr>
            <a:r>
              <a:rPr lang="en-US"/>
              <a:t>habitat connectivity </a:t>
            </a:r>
            <a:endParaRPr/>
          </a:p>
          <a:p>
            <a:pPr marL="285357" lvl="0" indent="-298057" algn="l" rtl="0">
              <a:lnSpc>
                <a:spcPct val="150000"/>
              </a:lnSpc>
              <a:spcBef>
                <a:spcPts val="0"/>
              </a:spcBef>
              <a:spcAft>
                <a:spcPts val="0"/>
              </a:spcAft>
              <a:buSzPts val="1400"/>
              <a:buChar char="•"/>
            </a:pPr>
            <a:r>
              <a:rPr lang="en-US"/>
              <a:t>impact of land use change </a:t>
            </a:r>
            <a:endParaRPr/>
          </a:p>
          <a:p>
            <a:pPr marL="285357" lvl="0" indent="-298057" algn="l" rtl="0">
              <a:lnSpc>
                <a:spcPct val="150000"/>
              </a:lnSpc>
              <a:spcBef>
                <a:spcPts val="0"/>
              </a:spcBef>
              <a:spcAft>
                <a:spcPts val="0"/>
              </a:spcAft>
              <a:buSzPts val="1400"/>
              <a:buChar char="•"/>
            </a:pPr>
            <a:r>
              <a:rPr lang="en-US"/>
              <a:t>human wildlife conflict…</a:t>
            </a:r>
            <a:endParaRPr/>
          </a:p>
        </p:txBody>
      </p:sp>
      <p:sp>
        <p:nvSpPr>
          <p:cNvPr id="186" name="Google Shape;186;g370a9edac05_0_1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12</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299c28b6b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299c28b6b_0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299c28b6b_0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70a9edac05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370a9edac05_0_1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85357" lvl="0" indent="-285357" algn="l" rtl="0">
              <a:lnSpc>
                <a:spcPct val="150000"/>
              </a:lnSpc>
              <a:spcBef>
                <a:spcPts val="0"/>
              </a:spcBef>
              <a:spcAft>
                <a:spcPts val="0"/>
              </a:spcAft>
              <a:buClr>
                <a:srgbClr val="000000"/>
              </a:buClr>
              <a:buSzPts val="1200"/>
              <a:buFont typeface="Arial"/>
              <a:buChar char="•"/>
            </a:pPr>
            <a:endParaRPr/>
          </a:p>
        </p:txBody>
      </p:sp>
      <p:sp>
        <p:nvSpPr>
          <p:cNvPr id="208" name="Google Shape;208;g370a9edac05_0_1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14</a:t>
            </a:fld>
            <a:endParaRPr>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70a9edac05_0_1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g370a9edac05_0_1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85357" lvl="0" indent="-285357" algn="l" rtl="0">
              <a:lnSpc>
                <a:spcPct val="150000"/>
              </a:lnSpc>
              <a:spcBef>
                <a:spcPts val="0"/>
              </a:spcBef>
              <a:spcAft>
                <a:spcPts val="0"/>
              </a:spcAft>
              <a:buClr>
                <a:srgbClr val="000000"/>
              </a:buClr>
              <a:buSzPts val="1200"/>
              <a:buFont typeface="Arial"/>
              <a:buChar char="•"/>
            </a:pPr>
            <a:r>
              <a:rPr lang="en-US" sz="2000" i="1" dirty="0">
                <a:solidFill>
                  <a:srgbClr val="000000"/>
                </a:solidFill>
                <a:latin typeface="Corbel"/>
                <a:ea typeface="Corbel"/>
                <a:cs typeface="Corbel"/>
                <a:sym typeface="Corbel"/>
              </a:rPr>
              <a:t>Add a bit here</a:t>
            </a:r>
            <a:endParaRPr sz="2000" dirty="0"/>
          </a:p>
        </p:txBody>
      </p:sp>
      <p:sp>
        <p:nvSpPr>
          <p:cNvPr id="221" name="Google Shape;221;g370a9edac05_0_1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15</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70a9edac05_0_1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70a9edac05_0_1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370a9edac05_0_1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70a9edac05_0_2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70a9edac05_0_2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70a9edac05_0_2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4187AE8F-7547-59E4-21D4-3E008A484952}"/>
            </a:ext>
          </a:extLst>
        </p:cNvPr>
        <p:cNvGrpSpPr/>
        <p:nvPr/>
      </p:nvGrpSpPr>
      <p:grpSpPr>
        <a:xfrm>
          <a:off x="0" y="0"/>
          <a:ext cx="0" cy="0"/>
          <a:chOff x="0" y="0"/>
          <a:chExt cx="0" cy="0"/>
        </a:xfrm>
      </p:grpSpPr>
      <p:sp>
        <p:nvSpPr>
          <p:cNvPr id="242" name="Google Shape;242;g370a9edac05_0_216:notes">
            <a:extLst>
              <a:ext uri="{FF2B5EF4-FFF2-40B4-BE49-F238E27FC236}">
                <a16:creationId xmlns:a16="http://schemas.microsoft.com/office/drawing/2014/main" id="{54C40B3C-6048-F9D9-F810-B1795DB44B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70a9edac05_0_216:notes">
            <a:extLst>
              <a:ext uri="{FF2B5EF4-FFF2-40B4-BE49-F238E27FC236}">
                <a16:creationId xmlns:a16="http://schemas.microsoft.com/office/drawing/2014/main" id="{45F2D493-3608-AFFD-9A8F-CCF36421FDA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70a9edac05_0_216:notes">
            <a:extLst>
              <a:ext uri="{FF2B5EF4-FFF2-40B4-BE49-F238E27FC236}">
                <a16:creationId xmlns:a16="http://schemas.microsoft.com/office/drawing/2014/main" id="{811495E0-1907-8BFC-4657-CEFA6D09B67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975339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7103eec6df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7103eec6df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7103eec6df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70a9edac05_0_3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70a9edac05_0_3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370a9edac05_0_30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Camera traps is another type of eulerian anmal tracking </a:t>
            </a:r>
            <a:endParaRPr/>
          </a:p>
        </p:txBody>
      </p:sp>
      <p:sp>
        <p:nvSpPr>
          <p:cNvPr id="277" name="Google Shape;277;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Earlier you have heard</a:t>
            </a:r>
            <a:endParaRPr/>
          </a:p>
        </p:txBody>
      </p:sp>
      <p:sp>
        <p:nvSpPr>
          <p:cNvPr id="295" name="Google Shape;29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They bare the burden </a:t>
            </a:r>
            <a:endParaRPr/>
          </a:p>
          <a:p>
            <a:pPr marL="0" lvl="0" indent="0" algn="l" rtl="0">
              <a:lnSpc>
                <a:spcPct val="100000"/>
              </a:lnSpc>
              <a:spcBef>
                <a:spcPts val="0"/>
              </a:spcBef>
              <a:spcAft>
                <a:spcPts val="0"/>
              </a:spcAft>
              <a:buSzPts val="1400"/>
              <a:buNone/>
            </a:pPr>
            <a:r>
              <a:rPr lang="en-US"/>
              <a:t>Cannot overlook the potential negative impacts we have on animals </a:t>
            </a:r>
            <a:endParaRPr/>
          </a:p>
        </p:txBody>
      </p:sp>
      <p:sp>
        <p:nvSpPr>
          <p:cNvPr id="307" name="Google Shape;30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Many different capture methods, each has pros and cons. Different groups should come together to work out</a:t>
            </a:r>
            <a:endParaRPr/>
          </a:p>
        </p:txBody>
      </p:sp>
      <p:sp>
        <p:nvSpPr>
          <p:cNvPr id="317" name="Google Shape;31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cxnSp>
        <p:nvCxnSpPr>
          <p:cNvPr id="14" name="Google Shape;14;p2"/>
          <p:cNvCxnSpPr/>
          <p:nvPr/>
        </p:nvCxnSpPr>
        <p:spPr>
          <a:xfrm>
            <a:off x="5704400" y="3668217"/>
            <a:ext cx="783300" cy="0"/>
          </a:xfrm>
          <a:prstGeom prst="straightConnector1">
            <a:avLst/>
          </a:prstGeom>
          <a:noFill/>
          <a:ln w="76200" cap="flat" cmpd="sng">
            <a:solidFill>
              <a:schemeClr val="dk1"/>
            </a:solidFill>
            <a:prstDash val="solid"/>
            <a:round/>
            <a:headEnd type="none" w="sm" len="sm"/>
            <a:tailEnd type="none" w="sm" len="sm"/>
          </a:ln>
        </p:spPr>
      </p:cxnSp>
      <p:sp>
        <p:nvSpPr>
          <p:cNvPr id="15" name="Google Shape;15;p2"/>
          <p:cNvSpPr txBox="1">
            <a:spLocks noGrp="1"/>
          </p:cNvSpPr>
          <p:nvPr>
            <p:ph type="ctrTitle"/>
          </p:nvPr>
        </p:nvSpPr>
        <p:spPr>
          <a:xfrm>
            <a:off x="415600" y="794633"/>
            <a:ext cx="11360700" cy="26103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16" name="Google Shape;16;p2"/>
          <p:cNvSpPr txBox="1">
            <a:spLocks noGrp="1"/>
          </p:cNvSpPr>
          <p:nvPr>
            <p:ph type="subTitle" idx="1"/>
          </p:nvPr>
        </p:nvSpPr>
        <p:spPr>
          <a:xfrm>
            <a:off x="415600" y="4221097"/>
            <a:ext cx="11360700" cy="978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17" name="Google Shape;17;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415600" y="3307400"/>
            <a:ext cx="10819200" cy="3261300"/>
          </a:xfrm>
          <a:prstGeom prst="rect">
            <a:avLst/>
          </a:prstGeom>
        </p:spPr>
        <p:txBody>
          <a:bodyPr spcFirstLastPara="1" wrap="square" lIns="121900" tIns="121900" rIns="121900" bIns="121900" anchor="b" anchorCtr="0">
            <a:normAutofit/>
          </a:bodyPr>
          <a:lstStyle>
            <a:lvl1pPr lvl="0">
              <a:spcBef>
                <a:spcPts val="0"/>
              </a:spcBef>
              <a:spcAft>
                <a:spcPts val="0"/>
              </a:spcAft>
              <a:buClr>
                <a:schemeClr val="lt1"/>
              </a:buClr>
              <a:buSzPts val="9100"/>
              <a:buNone/>
              <a:defRPr sz="9100">
                <a:solidFill>
                  <a:schemeClr val="lt1"/>
                </a:solidFill>
              </a:defRPr>
            </a:lvl1pPr>
            <a:lvl2pPr lvl="1">
              <a:spcBef>
                <a:spcPts val="0"/>
              </a:spcBef>
              <a:spcAft>
                <a:spcPts val="0"/>
              </a:spcAft>
              <a:buClr>
                <a:schemeClr val="lt1"/>
              </a:buClr>
              <a:buSzPts val="9100"/>
              <a:buNone/>
              <a:defRPr sz="9100">
                <a:solidFill>
                  <a:schemeClr val="lt1"/>
                </a:solidFill>
              </a:defRPr>
            </a:lvl2pPr>
            <a:lvl3pPr lvl="2">
              <a:spcBef>
                <a:spcPts val="0"/>
              </a:spcBef>
              <a:spcAft>
                <a:spcPts val="0"/>
              </a:spcAft>
              <a:buClr>
                <a:schemeClr val="lt1"/>
              </a:buClr>
              <a:buSzPts val="9100"/>
              <a:buNone/>
              <a:defRPr sz="9100">
                <a:solidFill>
                  <a:schemeClr val="lt1"/>
                </a:solidFill>
              </a:defRPr>
            </a:lvl3pPr>
            <a:lvl4pPr lvl="3">
              <a:spcBef>
                <a:spcPts val="0"/>
              </a:spcBef>
              <a:spcAft>
                <a:spcPts val="0"/>
              </a:spcAft>
              <a:buClr>
                <a:schemeClr val="lt1"/>
              </a:buClr>
              <a:buSzPts val="9100"/>
              <a:buNone/>
              <a:defRPr sz="9100">
                <a:solidFill>
                  <a:schemeClr val="lt1"/>
                </a:solidFill>
              </a:defRPr>
            </a:lvl4pPr>
            <a:lvl5pPr lvl="4">
              <a:spcBef>
                <a:spcPts val="0"/>
              </a:spcBef>
              <a:spcAft>
                <a:spcPts val="0"/>
              </a:spcAft>
              <a:buClr>
                <a:schemeClr val="lt1"/>
              </a:buClr>
              <a:buSzPts val="9100"/>
              <a:buNone/>
              <a:defRPr sz="9100">
                <a:solidFill>
                  <a:schemeClr val="lt1"/>
                </a:solidFill>
              </a:defRPr>
            </a:lvl5pPr>
            <a:lvl6pPr lvl="5">
              <a:spcBef>
                <a:spcPts val="0"/>
              </a:spcBef>
              <a:spcAft>
                <a:spcPts val="0"/>
              </a:spcAft>
              <a:buClr>
                <a:schemeClr val="lt1"/>
              </a:buClr>
              <a:buSzPts val="9100"/>
              <a:buNone/>
              <a:defRPr sz="9100">
                <a:solidFill>
                  <a:schemeClr val="lt1"/>
                </a:solidFill>
              </a:defRPr>
            </a:lvl6pPr>
            <a:lvl7pPr lvl="6">
              <a:spcBef>
                <a:spcPts val="0"/>
              </a:spcBef>
              <a:spcAft>
                <a:spcPts val="0"/>
              </a:spcAft>
              <a:buClr>
                <a:schemeClr val="lt1"/>
              </a:buClr>
              <a:buSzPts val="9100"/>
              <a:buNone/>
              <a:defRPr sz="9100">
                <a:solidFill>
                  <a:schemeClr val="lt1"/>
                </a:solidFill>
              </a:defRPr>
            </a:lvl7pPr>
            <a:lvl8pPr lvl="7">
              <a:spcBef>
                <a:spcPts val="0"/>
              </a:spcBef>
              <a:spcAft>
                <a:spcPts val="0"/>
              </a:spcAft>
              <a:buClr>
                <a:schemeClr val="lt1"/>
              </a:buClr>
              <a:buSzPts val="9100"/>
              <a:buNone/>
              <a:defRPr sz="9100">
                <a:solidFill>
                  <a:schemeClr val="lt1"/>
                </a:solidFill>
              </a:defRPr>
            </a:lvl8pPr>
            <a:lvl9pPr lvl="8">
              <a:spcBef>
                <a:spcPts val="0"/>
              </a:spcBef>
              <a:spcAft>
                <a:spcPts val="0"/>
              </a:spcAft>
              <a:buClr>
                <a:schemeClr val="lt1"/>
              </a:buClr>
              <a:buSzPts val="9100"/>
              <a:buNone/>
              <a:defRPr sz="9100">
                <a:solidFill>
                  <a:schemeClr val="lt1"/>
                </a:solidFill>
              </a:defRPr>
            </a:lvl9pPr>
          </a:lstStyle>
          <a:p>
            <a:endParaRPr/>
          </a:p>
        </p:txBody>
      </p:sp>
      <p:sp>
        <p:nvSpPr>
          <p:cNvPr id="20" name="Google Shape;20;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3" name="Google Shape;23;p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4" name="Google Shape;24;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7" name="Google Shape;27;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8" name="Google Shape;28;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9" name="Google Shape;29;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2" name="Google Shape;32;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415600" y="8424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5" name="Google Shape;35;p7"/>
          <p:cNvSpPr txBox="1">
            <a:spLocks noGrp="1"/>
          </p:cNvSpPr>
          <p:nvPr>
            <p:ph type="body" idx="1"/>
          </p:nvPr>
        </p:nvSpPr>
        <p:spPr>
          <a:xfrm>
            <a:off x="415600" y="1987833"/>
            <a:ext cx="3744000" cy="41040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6" name="Google Shape;36;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653667" y="701800"/>
            <a:ext cx="7578300" cy="54543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a:endParaRPr/>
          </a:p>
        </p:txBody>
      </p:sp>
      <p:sp>
        <p:nvSpPr>
          <p:cNvPr id="39" name="Google Shape;39;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p9"/>
          <p:cNvSpPr/>
          <p:nvPr/>
        </p:nvSpPr>
        <p:spPr>
          <a:xfrm>
            <a:off x="6096000" y="1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42" name="Google Shape;42;p9"/>
          <p:cNvCxnSpPr/>
          <p:nvPr/>
        </p:nvCxnSpPr>
        <p:spPr>
          <a:xfrm>
            <a:off x="6706233" y="5994000"/>
            <a:ext cx="624300" cy="0"/>
          </a:xfrm>
          <a:prstGeom prst="straightConnector1">
            <a:avLst/>
          </a:prstGeom>
          <a:noFill/>
          <a:ln w="19050" cap="flat" cmpd="sng">
            <a:solidFill>
              <a:schemeClr val="lt1"/>
            </a:solidFill>
            <a:prstDash val="solid"/>
            <a:round/>
            <a:headEnd type="none" w="sm" len="sm"/>
            <a:tailEnd type="none" w="sm" len="sm"/>
          </a:ln>
        </p:spPr>
      </p:cxnSp>
      <p:sp>
        <p:nvSpPr>
          <p:cNvPr id="43" name="Google Shape;43;p9"/>
          <p:cNvSpPr txBox="1">
            <a:spLocks noGrp="1"/>
          </p:cNvSpPr>
          <p:nvPr>
            <p:ph type="title"/>
          </p:nvPr>
        </p:nvSpPr>
        <p:spPr>
          <a:xfrm>
            <a:off x="354000" y="1834132"/>
            <a:ext cx="5393700" cy="2069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a:endParaRPr/>
          </a:p>
        </p:txBody>
      </p:sp>
      <p:sp>
        <p:nvSpPr>
          <p:cNvPr id="44" name="Google Shape;44;p9"/>
          <p:cNvSpPr txBox="1">
            <a:spLocks noGrp="1"/>
          </p:cNvSpPr>
          <p:nvPr>
            <p:ph type="subTitle" idx="1"/>
          </p:nvPr>
        </p:nvSpPr>
        <p:spPr>
          <a:xfrm>
            <a:off x="354000" y="3974834"/>
            <a:ext cx="5393700" cy="1794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45" name="Google Shape;45;p9"/>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0"/>
              </a:spcBef>
              <a:spcAft>
                <a:spcPts val="0"/>
              </a:spcAft>
              <a:buClr>
                <a:schemeClr val="lt1"/>
              </a:buClr>
              <a:buSzPts val="1900"/>
              <a:buChar char="○"/>
              <a:defRPr>
                <a:solidFill>
                  <a:schemeClr val="lt1"/>
                </a:solidFill>
              </a:defRPr>
            </a:lvl2pPr>
            <a:lvl3pPr marL="1371600" lvl="2" indent="-349250">
              <a:spcBef>
                <a:spcPts val="0"/>
              </a:spcBef>
              <a:spcAft>
                <a:spcPts val="0"/>
              </a:spcAft>
              <a:buClr>
                <a:schemeClr val="lt1"/>
              </a:buClr>
              <a:buSzPts val="1900"/>
              <a:buChar char="■"/>
              <a:defRPr>
                <a:solidFill>
                  <a:schemeClr val="lt1"/>
                </a:solidFill>
              </a:defRPr>
            </a:lvl3pPr>
            <a:lvl4pPr marL="1828800" lvl="3" indent="-349250">
              <a:spcBef>
                <a:spcPts val="0"/>
              </a:spcBef>
              <a:spcAft>
                <a:spcPts val="0"/>
              </a:spcAft>
              <a:buClr>
                <a:schemeClr val="lt1"/>
              </a:buClr>
              <a:buSzPts val="1900"/>
              <a:buChar char="●"/>
              <a:defRPr>
                <a:solidFill>
                  <a:schemeClr val="lt1"/>
                </a:solidFill>
              </a:defRPr>
            </a:lvl4pPr>
            <a:lvl5pPr marL="2286000" lvl="4" indent="-349250">
              <a:spcBef>
                <a:spcPts val="0"/>
              </a:spcBef>
              <a:spcAft>
                <a:spcPts val="0"/>
              </a:spcAft>
              <a:buClr>
                <a:schemeClr val="lt1"/>
              </a:buClr>
              <a:buSzPts val="1900"/>
              <a:buChar char="○"/>
              <a:defRPr>
                <a:solidFill>
                  <a:schemeClr val="lt1"/>
                </a:solidFill>
              </a:defRPr>
            </a:lvl5pPr>
            <a:lvl6pPr marL="2743200" lvl="5" indent="-349250">
              <a:spcBef>
                <a:spcPts val="0"/>
              </a:spcBef>
              <a:spcAft>
                <a:spcPts val="0"/>
              </a:spcAft>
              <a:buClr>
                <a:schemeClr val="lt1"/>
              </a:buClr>
              <a:buSzPts val="1900"/>
              <a:buChar char="■"/>
              <a:defRPr>
                <a:solidFill>
                  <a:schemeClr val="lt1"/>
                </a:solidFill>
              </a:defRPr>
            </a:lvl6pPr>
            <a:lvl7pPr marL="3200400" lvl="6" indent="-349250">
              <a:spcBef>
                <a:spcPts val="0"/>
              </a:spcBef>
              <a:spcAft>
                <a:spcPts val="0"/>
              </a:spcAft>
              <a:buClr>
                <a:schemeClr val="lt1"/>
              </a:buClr>
              <a:buSzPts val="1900"/>
              <a:buChar char="●"/>
              <a:defRPr>
                <a:solidFill>
                  <a:schemeClr val="lt1"/>
                </a:solidFill>
              </a:defRPr>
            </a:lvl7pPr>
            <a:lvl8pPr marL="3657600" lvl="7" indent="-349250">
              <a:spcBef>
                <a:spcPts val="0"/>
              </a:spcBef>
              <a:spcAft>
                <a:spcPts val="0"/>
              </a:spcAft>
              <a:buClr>
                <a:schemeClr val="lt1"/>
              </a:buClr>
              <a:buSzPts val="1900"/>
              <a:buChar char="○"/>
              <a:defRPr>
                <a:solidFill>
                  <a:schemeClr val="lt1"/>
                </a:solidFill>
              </a:defRPr>
            </a:lvl8pPr>
            <a:lvl9pPr marL="4114800" lvl="8" indent="-349250">
              <a:spcBef>
                <a:spcPts val="0"/>
              </a:spcBef>
              <a:spcAft>
                <a:spcPts val="0"/>
              </a:spcAft>
              <a:buClr>
                <a:schemeClr val="lt1"/>
              </a:buClr>
              <a:buSzPts val="1900"/>
              <a:buChar char="■"/>
              <a:defRPr>
                <a:solidFill>
                  <a:schemeClr val="lt1"/>
                </a:solidFill>
              </a:defRPr>
            </a:lvl9pPr>
          </a:lstStyle>
          <a:p>
            <a:endParaRPr/>
          </a:p>
        </p:txBody>
      </p:sp>
      <p:sp>
        <p:nvSpPr>
          <p:cNvPr id="46" name="Google Shape;46;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txBox="1">
            <a:spLocks noGrp="1"/>
          </p:cNvSpPr>
          <p:nvPr>
            <p:ph type="body" idx="1"/>
          </p:nvPr>
        </p:nvSpPr>
        <p:spPr>
          <a:xfrm>
            <a:off x="426000" y="5644967"/>
            <a:ext cx="7998300" cy="7983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Clr>
                <a:schemeClr val="accent3"/>
              </a:buClr>
              <a:buSzPts val="2400"/>
              <a:buFont typeface="Alfa Slab One"/>
              <a:buNone/>
              <a:defRPr>
                <a:solidFill>
                  <a:schemeClr val="accent3"/>
                </a:solidFill>
                <a:latin typeface="Alfa Slab One"/>
                <a:ea typeface="Alfa Slab One"/>
                <a:cs typeface="Alfa Slab One"/>
                <a:sym typeface="Alfa Slab One"/>
              </a:defRPr>
            </a:lvl1pPr>
          </a:lstStyle>
          <a:p>
            <a:endParaRPr/>
          </a:p>
        </p:txBody>
      </p:sp>
      <p:sp>
        <p:nvSpPr>
          <p:cNvPr id="49" name="Google Shape;49;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p11"/>
          <p:cNvSpPr txBox="1">
            <a:spLocks noGrp="1"/>
          </p:cNvSpPr>
          <p:nvPr>
            <p:ph type="title" hasCustomPrompt="1"/>
          </p:nvPr>
        </p:nvSpPr>
        <p:spPr>
          <a:xfrm>
            <a:off x="415600" y="1557233"/>
            <a:ext cx="11360700" cy="26400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dk1"/>
              </a:buClr>
              <a:buSzPts val="14700"/>
              <a:buNone/>
              <a:defRPr sz="14700">
                <a:solidFill>
                  <a:schemeClr val="dk1"/>
                </a:solidFill>
              </a:defRPr>
            </a:lvl1pPr>
            <a:lvl2pPr lvl="1" algn="ctr">
              <a:spcBef>
                <a:spcPts val="0"/>
              </a:spcBef>
              <a:spcAft>
                <a:spcPts val="0"/>
              </a:spcAft>
              <a:buClr>
                <a:schemeClr val="dk1"/>
              </a:buClr>
              <a:buSzPts val="14700"/>
              <a:buNone/>
              <a:defRPr sz="14700">
                <a:solidFill>
                  <a:schemeClr val="dk1"/>
                </a:solidFill>
              </a:defRPr>
            </a:lvl2pPr>
            <a:lvl3pPr lvl="2" algn="ctr">
              <a:spcBef>
                <a:spcPts val="0"/>
              </a:spcBef>
              <a:spcAft>
                <a:spcPts val="0"/>
              </a:spcAft>
              <a:buClr>
                <a:schemeClr val="dk1"/>
              </a:buClr>
              <a:buSzPts val="14700"/>
              <a:buNone/>
              <a:defRPr sz="14700">
                <a:solidFill>
                  <a:schemeClr val="dk1"/>
                </a:solidFill>
              </a:defRPr>
            </a:lvl3pPr>
            <a:lvl4pPr lvl="3" algn="ctr">
              <a:spcBef>
                <a:spcPts val="0"/>
              </a:spcBef>
              <a:spcAft>
                <a:spcPts val="0"/>
              </a:spcAft>
              <a:buClr>
                <a:schemeClr val="dk1"/>
              </a:buClr>
              <a:buSzPts val="14700"/>
              <a:buNone/>
              <a:defRPr sz="14700">
                <a:solidFill>
                  <a:schemeClr val="dk1"/>
                </a:solidFill>
              </a:defRPr>
            </a:lvl4pPr>
            <a:lvl5pPr lvl="4" algn="ctr">
              <a:spcBef>
                <a:spcPts val="0"/>
              </a:spcBef>
              <a:spcAft>
                <a:spcPts val="0"/>
              </a:spcAft>
              <a:buClr>
                <a:schemeClr val="dk1"/>
              </a:buClr>
              <a:buSzPts val="14700"/>
              <a:buNone/>
              <a:defRPr sz="14700">
                <a:solidFill>
                  <a:schemeClr val="dk1"/>
                </a:solidFill>
              </a:defRPr>
            </a:lvl5pPr>
            <a:lvl6pPr lvl="5" algn="ctr">
              <a:spcBef>
                <a:spcPts val="0"/>
              </a:spcBef>
              <a:spcAft>
                <a:spcPts val="0"/>
              </a:spcAft>
              <a:buClr>
                <a:schemeClr val="dk1"/>
              </a:buClr>
              <a:buSzPts val="14700"/>
              <a:buNone/>
              <a:defRPr sz="14700">
                <a:solidFill>
                  <a:schemeClr val="dk1"/>
                </a:solidFill>
              </a:defRPr>
            </a:lvl6pPr>
            <a:lvl7pPr lvl="6" algn="ctr">
              <a:spcBef>
                <a:spcPts val="0"/>
              </a:spcBef>
              <a:spcAft>
                <a:spcPts val="0"/>
              </a:spcAft>
              <a:buClr>
                <a:schemeClr val="dk1"/>
              </a:buClr>
              <a:buSzPts val="14700"/>
              <a:buNone/>
              <a:defRPr sz="14700">
                <a:solidFill>
                  <a:schemeClr val="dk1"/>
                </a:solidFill>
              </a:defRPr>
            </a:lvl7pPr>
            <a:lvl8pPr lvl="7" algn="ctr">
              <a:spcBef>
                <a:spcPts val="0"/>
              </a:spcBef>
              <a:spcAft>
                <a:spcPts val="0"/>
              </a:spcAft>
              <a:buClr>
                <a:schemeClr val="dk1"/>
              </a:buClr>
              <a:buSzPts val="14700"/>
              <a:buNone/>
              <a:defRPr sz="14700">
                <a:solidFill>
                  <a:schemeClr val="dk1"/>
                </a:solidFill>
              </a:defRPr>
            </a:lvl8pPr>
            <a:lvl9pPr lvl="8" algn="ctr">
              <a:spcBef>
                <a:spcPts val="0"/>
              </a:spcBef>
              <a:spcAft>
                <a:spcPts val="0"/>
              </a:spcAft>
              <a:buClr>
                <a:schemeClr val="dk1"/>
              </a:buClr>
              <a:buSzPts val="14700"/>
              <a:buNone/>
              <a:defRPr sz="14700">
                <a:solidFill>
                  <a:schemeClr val="dk1"/>
                </a:solidFill>
              </a:defRPr>
            </a:lvl9pPr>
          </a:lstStyle>
          <a:p>
            <a:r>
              <a:t>xx%</a:t>
            </a:r>
          </a:p>
        </p:txBody>
      </p:sp>
      <p:sp>
        <p:nvSpPr>
          <p:cNvPr id="52" name="Google Shape;52;p11"/>
          <p:cNvSpPr txBox="1">
            <a:spLocks noGrp="1"/>
          </p:cNvSpPr>
          <p:nvPr>
            <p:ph type="body" idx="1"/>
          </p:nvPr>
        </p:nvSpPr>
        <p:spPr>
          <a:xfrm>
            <a:off x="415600" y="4299000"/>
            <a:ext cx="11360700" cy="14289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3" name="Google Shape;53;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56"/>
        <p:cNvGrpSpPr/>
        <p:nvPr/>
      </p:nvGrpSpPr>
      <p:grpSpPr>
        <a:xfrm>
          <a:off x="0" y="0"/>
          <a:ext cx="0" cy="0"/>
          <a:chOff x="0" y="0"/>
          <a:chExt cx="0" cy="0"/>
        </a:xfrm>
      </p:grpSpPr>
      <p:sp>
        <p:nvSpPr>
          <p:cNvPr id="57" name="Google Shape;57;p13"/>
          <p:cNvSpPr txBox="1">
            <a:spLocks noGrp="1"/>
          </p:cNvSpPr>
          <p:nvPr>
            <p:ph type="title"/>
          </p:nvPr>
        </p:nvSpPr>
        <p:spPr>
          <a:xfrm>
            <a:off x="609619"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3"/>
          <p:cNvSpPr txBox="1">
            <a:spLocks noGrp="1"/>
          </p:cNvSpPr>
          <p:nvPr>
            <p:ph type="body" idx="1"/>
          </p:nvPr>
        </p:nvSpPr>
        <p:spPr>
          <a:xfrm>
            <a:off x="609619" y="1600215"/>
            <a:ext cx="5384700" cy="45261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2"/>
          </p:nvPr>
        </p:nvSpPr>
        <p:spPr>
          <a:xfrm>
            <a:off x="6197600" y="1600215"/>
            <a:ext cx="5384700" cy="45261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9pPr>
          </a:lstStyle>
          <a:p>
            <a:endParaRPr/>
          </a:p>
        </p:txBody>
      </p:sp>
      <p:sp>
        <p:nvSpPr>
          <p:cNvPr id="11" name="Google Shape;11;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Font typeface="Proxima Nova"/>
              <a:buChar char="●"/>
              <a:defRPr sz="2400">
                <a:solidFill>
                  <a:schemeClr val="dk2"/>
                </a:solidFill>
                <a:latin typeface="Proxima Nova"/>
                <a:ea typeface="Proxima Nova"/>
                <a:cs typeface="Proxima Nova"/>
                <a:sym typeface="Proxima Nova"/>
              </a:defRPr>
            </a:lvl1pPr>
            <a:lvl2pPr marL="914400" lvl="1"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2pPr>
            <a:lvl3pPr marL="1371600" lvl="2"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3pPr>
            <a:lvl4pPr marL="1828800" lvl="3"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4pPr>
            <a:lvl5pPr marL="2286000" lvl="4"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5pPr>
            <a:lvl6pPr marL="2743200" lvl="5"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6pPr>
            <a:lvl7pPr marL="3200400" lvl="6"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7pPr>
            <a:lvl8pPr marL="3657600" lvl="7"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8pPr>
            <a:lvl9pPr marL="4114800" lvl="8" indent="-34925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9pPr>
          </a:lstStyle>
          <a:p>
            <a:endParaRPr/>
          </a:p>
        </p:txBody>
      </p:sp>
      <p:sp>
        <p:nvSpPr>
          <p:cNvPr id="12" name="Google Shape;12;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Proxima Nova"/>
                <a:ea typeface="Proxima Nova"/>
                <a:cs typeface="Proxima Nova"/>
                <a:sym typeface="Proxima Nova"/>
              </a:defRPr>
            </a:lvl1pPr>
            <a:lvl2pPr lvl="1" algn="r">
              <a:buNone/>
              <a:defRPr sz="1300">
                <a:solidFill>
                  <a:schemeClr val="dk2"/>
                </a:solidFill>
                <a:latin typeface="Proxima Nova"/>
                <a:ea typeface="Proxima Nova"/>
                <a:cs typeface="Proxima Nova"/>
                <a:sym typeface="Proxima Nova"/>
              </a:defRPr>
            </a:lvl2pPr>
            <a:lvl3pPr lvl="2" algn="r">
              <a:buNone/>
              <a:defRPr sz="1300">
                <a:solidFill>
                  <a:schemeClr val="dk2"/>
                </a:solidFill>
                <a:latin typeface="Proxima Nova"/>
                <a:ea typeface="Proxima Nova"/>
                <a:cs typeface="Proxima Nova"/>
                <a:sym typeface="Proxima Nova"/>
              </a:defRPr>
            </a:lvl3pPr>
            <a:lvl4pPr lvl="3" algn="r">
              <a:buNone/>
              <a:defRPr sz="1300">
                <a:solidFill>
                  <a:schemeClr val="dk2"/>
                </a:solidFill>
                <a:latin typeface="Proxima Nova"/>
                <a:ea typeface="Proxima Nova"/>
                <a:cs typeface="Proxima Nova"/>
                <a:sym typeface="Proxima Nova"/>
              </a:defRPr>
            </a:lvl4pPr>
            <a:lvl5pPr lvl="4" algn="r">
              <a:buNone/>
              <a:defRPr sz="1300">
                <a:solidFill>
                  <a:schemeClr val="dk2"/>
                </a:solidFill>
                <a:latin typeface="Proxima Nova"/>
                <a:ea typeface="Proxima Nova"/>
                <a:cs typeface="Proxima Nova"/>
                <a:sym typeface="Proxima Nova"/>
              </a:defRPr>
            </a:lvl5pPr>
            <a:lvl6pPr lvl="5" algn="r">
              <a:buNone/>
              <a:defRPr sz="1300">
                <a:solidFill>
                  <a:schemeClr val="dk2"/>
                </a:solidFill>
                <a:latin typeface="Proxima Nova"/>
                <a:ea typeface="Proxima Nova"/>
                <a:cs typeface="Proxima Nova"/>
                <a:sym typeface="Proxima Nova"/>
              </a:defRPr>
            </a:lvl6pPr>
            <a:lvl7pPr lvl="6" algn="r">
              <a:buNone/>
              <a:defRPr sz="1300">
                <a:solidFill>
                  <a:schemeClr val="dk2"/>
                </a:solidFill>
                <a:latin typeface="Proxima Nova"/>
                <a:ea typeface="Proxima Nova"/>
                <a:cs typeface="Proxima Nova"/>
                <a:sym typeface="Proxima Nova"/>
              </a:defRPr>
            </a:lvl7pPr>
            <a:lvl8pPr lvl="7" algn="r">
              <a:buNone/>
              <a:defRPr sz="1300">
                <a:solidFill>
                  <a:schemeClr val="dk2"/>
                </a:solidFill>
                <a:latin typeface="Proxima Nova"/>
                <a:ea typeface="Proxima Nova"/>
                <a:cs typeface="Proxima Nova"/>
                <a:sym typeface="Proxima Nova"/>
              </a:defRPr>
            </a:lvl8pPr>
            <a:lvl9pPr lvl="8" algn="r">
              <a:buNone/>
              <a:defRPr sz="13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p14:dur="1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bmls6E8sLEE"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4.jpg"/><Relationship Id="rId7"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7.jpg"/><Relationship Id="rId5" Type="http://schemas.openxmlformats.org/officeDocument/2006/relationships/image" Target="../media/image16.jpg"/><Relationship Id="rId10" Type="http://schemas.openxmlformats.org/officeDocument/2006/relationships/image" Target="../media/image21.jpg"/><Relationship Id="rId4" Type="http://schemas.openxmlformats.org/officeDocument/2006/relationships/image" Target="../media/image15.jpg"/><Relationship Id="rId9" Type="http://schemas.openxmlformats.org/officeDocument/2006/relationships/image" Target="../media/image20.jpg"/></Relationships>
</file>

<file path=ppt/slides/_rels/slide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hyperlink" Target="https://datarepository.movebank.org/entities/datapackage/5b6706c8-e7e5-46e4-82ba-da5a82324298"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35.png"/><Relationship Id="rId5" Type="http://schemas.openxmlformats.org/officeDocument/2006/relationships/image" Target="../media/image34.jp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38.jpg"/><Relationship Id="rId4" Type="http://schemas.openxmlformats.org/officeDocument/2006/relationships/image" Target="../media/image37.jpg"/></Relationships>
</file>

<file path=ppt/slides/_rels/slide2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4.xml"/><Relationship Id="rId1" Type="http://schemas.openxmlformats.org/officeDocument/2006/relationships/slideLayout" Target="../slideLayouts/slideLayout11.xml"/><Relationship Id="rId5" Type="http://schemas.openxmlformats.org/officeDocument/2006/relationships/image" Target="../media/image41.jpg"/><Relationship Id="rId4" Type="http://schemas.openxmlformats.org/officeDocument/2006/relationships/image" Target="../media/image40.jpg"/></Relationships>
</file>

<file path=ppt/slides/_rels/slide2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5.xml"/><Relationship Id="rId1" Type="http://schemas.openxmlformats.org/officeDocument/2006/relationships/slideLayout" Target="../slideLayouts/slideLayout11.xml"/><Relationship Id="rId5" Type="http://schemas.openxmlformats.org/officeDocument/2006/relationships/image" Target="../media/image44.png"/><Relationship Id="rId4" Type="http://schemas.openxmlformats.org/officeDocument/2006/relationships/image" Target="../media/image4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4" descr="Hoofed Migration: New Science Study Chronicles World's Great Overland  Mammal Migrations &gt; Newsroom"/>
          <p:cNvPicPr preferRelativeResize="0"/>
          <p:nvPr/>
        </p:nvPicPr>
        <p:blipFill rotWithShape="1">
          <a:blip r:embed="rId3">
            <a:alphaModFix/>
          </a:blip>
          <a:srcRect t="9173" b="26273"/>
          <a:stretch/>
        </p:blipFill>
        <p:spPr>
          <a:xfrm>
            <a:off x="20" y="9"/>
            <a:ext cx="7323632" cy="3013844"/>
          </a:xfrm>
          <a:custGeom>
            <a:avLst/>
            <a:gdLst/>
            <a:ahLst/>
            <a:cxnLst/>
            <a:rect l="l" t="t" r="r" b="b"/>
            <a:pathLst>
              <a:path w="7215401" h="2969304" extrusionOk="0">
                <a:moveTo>
                  <a:pt x="0" y="0"/>
                </a:moveTo>
                <a:lnTo>
                  <a:pt x="677334" y="0"/>
                </a:lnTo>
                <a:lnTo>
                  <a:pt x="1168036" y="0"/>
                </a:lnTo>
                <a:lnTo>
                  <a:pt x="1205499" y="0"/>
                </a:lnTo>
                <a:lnTo>
                  <a:pt x="1647632" y="0"/>
                </a:lnTo>
                <a:lnTo>
                  <a:pt x="7215401" y="0"/>
                </a:lnTo>
                <a:lnTo>
                  <a:pt x="5840224" y="2969304"/>
                </a:lnTo>
                <a:lnTo>
                  <a:pt x="0" y="2969304"/>
                </a:lnTo>
                <a:close/>
              </a:path>
            </a:pathLst>
          </a:custGeom>
          <a:noFill/>
          <a:ln>
            <a:noFill/>
          </a:ln>
        </p:spPr>
      </p:pic>
      <p:pic>
        <p:nvPicPr>
          <p:cNvPr id="69" name="Google Shape;69;p14" descr="The Monarch Butterfly – A Migration in Peril – REP Provisions"/>
          <p:cNvPicPr preferRelativeResize="0"/>
          <p:nvPr/>
        </p:nvPicPr>
        <p:blipFill rotWithShape="1">
          <a:blip r:embed="rId4">
            <a:alphaModFix/>
          </a:blip>
          <a:srcRect r="1468"/>
          <a:stretch/>
        </p:blipFill>
        <p:spPr>
          <a:xfrm>
            <a:off x="5460850" y="0"/>
            <a:ext cx="6734013" cy="4060170"/>
          </a:xfrm>
          <a:custGeom>
            <a:avLst/>
            <a:gdLst/>
            <a:ahLst/>
            <a:cxnLst/>
            <a:rect l="l" t="t" r="r" b="b"/>
            <a:pathLst>
              <a:path w="6569769" h="3750734" extrusionOk="0">
                <a:moveTo>
                  <a:pt x="1738471" y="0"/>
                </a:moveTo>
                <a:lnTo>
                  <a:pt x="6569769" y="0"/>
                </a:lnTo>
                <a:lnTo>
                  <a:pt x="6569769" y="3750734"/>
                </a:lnTo>
                <a:lnTo>
                  <a:pt x="0" y="3750734"/>
                </a:lnTo>
                <a:close/>
              </a:path>
            </a:pathLst>
          </a:custGeom>
          <a:noFill/>
          <a:ln>
            <a:noFill/>
          </a:ln>
        </p:spPr>
      </p:pic>
      <p:pic>
        <p:nvPicPr>
          <p:cNvPr id="70" name="Google Shape;70;p14" descr="Whales on the move - mapping threats and solutions for our ocean giants —  WWF Protecting Whales &amp; Dolphins Initiative"/>
          <p:cNvPicPr preferRelativeResize="0"/>
          <p:nvPr/>
        </p:nvPicPr>
        <p:blipFill rotWithShape="1">
          <a:blip r:embed="rId5">
            <a:alphaModFix/>
          </a:blip>
          <a:srcRect t="21934" b="25840"/>
          <a:stretch/>
        </p:blipFill>
        <p:spPr>
          <a:xfrm>
            <a:off x="4060575" y="3109448"/>
            <a:ext cx="8130141" cy="3742334"/>
          </a:xfrm>
          <a:custGeom>
            <a:avLst/>
            <a:gdLst/>
            <a:ahLst/>
            <a:cxnLst/>
            <a:rect l="l" t="t" r="r" b="b"/>
            <a:pathLst>
              <a:path w="8009991" h="2970106" extrusionOk="0">
                <a:moveTo>
                  <a:pt x="1376648" y="0"/>
                </a:moveTo>
                <a:lnTo>
                  <a:pt x="8009991" y="0"/>
                </a:lnTo>
                <a:lnTo>
                  <a:pt x="8009991" y="2970106"/>
                </a:lnTo>
                <a:lnTo>
                  <a:pt x="0" y="2970106"/>
                </a:lnTo>
                <a:close/>
              </a:path>
            </a:pathLst>
          </a:custGeom>
          <a:noFill/>
          <a:ln>
            <a:noFill/>
          </a:ln>
        </p:spPr>
      </p:pic>
      <p:pic>
        <p:nvPicPr>
          <p:cNvPr id="71" name="Google Shape;71;p14" title="istockphoto-172196536-612x612.jpg"/>
          <p:cNvPicPr preferRelativeResize="0"/>
          <p:nvPr/>
        </p:nvPicPr>
        <p:blipFill rotWithShape="1">
          <a:blip r:embed="rId6">
            <a:alphaModFix/>
          </a:blip>
          <a:srcRect t="4685" b="4694"/>
          <a:stretch/>
        </p:blipFill>
        <p:spPr>
          <a:xfrm>
            <a:off x="1" y="3011900"/>
            <a:ext cx="6364792" cy="3845324"/>
          </a:xfrm>
          <a:custGeom>
            <a:avLst/>
            <a:gdLst/>
            <a:ahLst/>
            <a:cxnLst/>
            <a:rect l="l" t="t" r="r" b="b"/>
            <a:pathLst>
              <a:path w="6209553" h="3751536" extrusionOk="0">
                <a:moveTo>
                  <a:pt x="0" y="0"/>
                </a:moveTo>
                <a:lnTo>
                  <a:pt x="5776701" y="0"/>
                </a:lnTo>
                <a:lnTo>
                  <a:pt x="4041567" y="3746529"/>
                </a:lnTo>
                <a:lnTo>
                  <a:pt x="6209553" y="3746529"/>
                </a:lnTo>
                <a:lnTo>
                  <a:pt x="6209553" y="3746530"/>
                </a:lnTo>
                <a:lnTo>
                  <a:pt x="1647632" y="3746530"/>
                </a:lnTo>
                <a:lnTo>
                  <a:pt x="1647632" y="3751536"/>
                </a:lnTo>
                <a:lnTo>
                  <a:pt x="0" y="3751536"/>
                </a:lnTo>
                <a:close/>
              </a:path>
            </a:pathLst>
          </a:custGeom>
          <a:noFill/>
          <a:ln>
            <a:noFill/>
          </a:ln>
        </p:spPr>
      </p:pic>
      <p:sp>
        <p:nvSpPr>
          <p:cNvPr id="72" name="Google Shape;72;p14"/>
          <p:cNvSpPr txBox="1"/>
          <p:nvPr/>
        </p:nvSpPr>
        <p:spPr>
          <a:xfrm>
            <a:off x="7151914" y="6284350"/>
            <a:ext cx="4892514" cy="428472"/>
          </a:xfrm>
          <a:prstGeom prst="rect">
            <a:avLst/>
          </a:prstGeom>
          <a:solidFill>
            <a:schemeClr val="dk1">
              <a:alpha val="0"/>
            </a:schemeClr>
          </a:solidFill>
          <a:ln>
            <a:noFill/>
          </a:ln>
        </p:spPr>
        <p:txBody>
          <a:bodyPr spcFirstLastPara="1" wrap="square" lIns="91425" tIns="45700" rIns="91425" bIns="45700" anchor="t" anchorCtr="0">
            <a:noAutofit/>
          </a:bodyPr>
          <a:lstStyle/>
          <a:p>
            <a:pPr marL="0" marR="0" lvl="0" indent="0" algn="r" rtl="0">
              <a:lnSpc>
                <a:spcPct val="90000"/>
              </a:lnSpc>
              <a:spcBef>
                <a:spcPts val="1000"/>
              </a:spcBef>
              <a:spcAft>
                <a:spcPts val="0"/>
              </a:spcAft>
              <a:buClr>
                <a:schemeClr val="lt2"/>
              </a:buClr>
              <a:buSzPts val="1800"/>
              <a:buFont typeface="Arial"/>
              <a:buNone/>
            </a:pPr>
            <a:r>
              <a:rPr lang="en-US" sz="1800" b="0" i="0" u="none" strike="noStrike" cap="none" dirty="0">
                <a:solidFill>
                  <a:schemeClr val="lt2"/>
                </a:solidFill>
                <a:latin typeface="Helvetica Neue"/>
                <a:ea typeface="Helvetica Neue"/>
                <a:cs typeface="Helvetica Neue"/>
                <a:sym typeface="Helvetica Neue"/>
              </a:rPr>
              <a:t>@ Sun Yat Sen University | 2026</a:t>
            </a:r>
            <a:endParaRPr sz="1400" b="0" i="0" u="none" strike="noStrike" cap="none" dirty="0">
              <a:solidFill>
                <a:srgbClr val="000000"/>
              </a:solidFill>
              <a:latin typeface="Arial"/>
              <a:ea typeface="Arial"/>
              <a:cs typeface="Arial"/>
              <a:sym typeface="Arial"/>
            </a:endParaRPr>
          </a:p>
        </p:txBody>
      </p:sp>
      <p:sp>
        <p:nvSpPr>
          <p:cNvPr id="73" name="Google Shape;73;p14"/>
          <p:cNvSpPr/>
          <p:nvPr/>
        </p:nvSpPr>
        <p:spPr>
          <a:xfrm flipH="1">
            <a:off x="125" y="0"/>
            <a:ext cx="8603100" cy="6858000"/>
          </a:xfrm>
          <a:prstGeom prst="rect">
            <a:avLst/>
          </a:prstGeom>
          <a:gradFill>
            <a:gsLst>
              <a:gs pos="0">
                <a:schemeClr val="lt1"/>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74" name="Google Shape;74;p14"/>
          <p:cNvSpPr/>
          <p:nvPr/>
        </p:nvSpPr>
        <p:spPr>
          <a:xfrm flipH="1">
            <a:off x="125" y="3325"/>
            <a:ext cx="8603100" cy="6858000"/>
          </a:xfrm>
          <a:prstGeom prst="rect">
            <a:avLst/>
          </a:prstGeom>
          <a:gradFill>
            <a:gsLst>
              <a:gs pos="0">
                <a:schemeClr val="lt1"/>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75" name="Google Shape;75;p14"/>
          <p:cNvSpPr txBox="1"/>
          <p:nvPr/>
        </p:nvSpPr>
        <p:spPr>
          <a:xfrm>
            <a:off x="0" y="2375950"/>
            <a:ext cx="12192000" cy="7335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4400"/>
              <a:buFont typeface="Helvetica Neue"/>
              <a:buNone/>
            </a:pPr>
            <a:r>
              <a:rPr lang="en-US" sz="4000" b="1" dirty="0">
                <a:solidFill>
                  <a:schemeClr val="accent1"/>
                </a:solidFill>
                <a:latin typeface="Helvetica Neue"/>
                <a:ea typeface="Helvetica Neue"/>
                <a:cs typeface="Helvetica Neue"/>
                <a:sym typeface="Helvetica Neue"/>
              </a:rPr>
              <a:t>Animal Movement Analyses for Ecologists</a:t>
            </a:r>
            <a:endParaRPr sz="1000" b="1" i="0" u="none" strike="noStrike" cap="none" dirty="0">
              <a:solidFill>
                <a:schemeClr val="accent1"/>
              </a:solidFill>
            </a:endParaRPr>
          </a:p>
        </p:txBody>
      </p:sp>
      <p:grpSp>
        <p:nvGrpSpPr>
          <p:cNvPr id="76" name="Google Shape;76;p14"/>
          <p:cNvGrpSpPr/>
          <p:nvPr/>
        </p:nvGrpSpPr>
        <p:grpSpPr>
          <a:xfrm>
            <a:off x="493988" y="3579287"/>
            <a:ext cx="5737602" cy="3133535"/>
            <a:chOff x="471375" y="3689912"/>
            <a:chExt cx="5737602" cy="3133535"/>
          </a:xfrm>
        </p:grpSpPr>
        <p:pic>
          <p:nvPicPr>
            <p:cNvPr id="78" name="Google Shape;78;p14"/>
            <p:cNvPicPr preferRelativeResize="0"/>
            <p:nvPr/>
          </p:nvPicPr>
          <p:blipFill>
            <a:blip r:embed="rId7">
              <a:alphaModFix/>
            </a:blip>
            <a:stretch>
              <a:fillRect/>
            </a:stretch>
          </p:blipFill>
          <p:spPr>
            <a:xfrm>
              <a:off x="471375" y="3739789"/>
              <a:ext cx="1452882" cy="1405341"/>
            </a:xfrm>
            <a:prstGeom prst="rect">
              <a:avLst/>
            </a:prstGeom>
            <a:noFill/>
            <a:ln>
              <a:noFill/>
            </a:ln>
          </p:spPr>
        </p:pic>
        <p:pic>
          <p:nvPicPr>
            <p:cNvPr id="80" name="Google Shape;80;p14"/>
            <p:cNvPicPr preferRelativeResize="0"/>
            <p:nvPr/>
          </p:nvPicPr>
          <p:blipFill>
            <a:blip r:embed="rId8">
              <a:alphaModFix/>
            </a:blip>
            <a:stretch>
              <a:fillRect/>
            </a:stretch>
          </p:blipFill>
          <p:spPr>
            <a:xfrm>
              <a:off x="3804575" y="3689912"/>
              <a:ext cx="2404402" cy="1586900"/>
            </a:xfrm>
            <a:prstGeom prst="rect">
              <a:avLst/>
            </a:prstGeom>
            <a:noFill/>
            <a:ln>
              <a:noFill/>
            </a:ln>
          </p:spPr>
        </p:pic>
        <p:pic>
          <p:nvPicPr>
            <p:cNvPr id="81" name="Google Shape;81;p14"/>
            <p:cNvPicPr preferRelativeResize="0"/>
            <p:nvPr/>
          </p:nvPicPr>
          <p:blipFill>
            <a:blip r:embed="rId9">
              <a:alphaModFix/>
            </a:blip>
            <a:stretch>
              <a:fillRect/>
            </a:stretch>
          </p:blipFill>
          <p:spPr>
            <a:xfrm>
              <a:off x="4415005" y="5415772"/>
              <a:ext cx="1407675" cy="140767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85"/>
        <p:cNvGrpSpPr/>
        <p:nvPr/>
      </p:nvGrpSpPr>
      <p:grpSpPr>
        <a:xfrm>
          <a:off x="0" y="0"/>
          <a:ext cx="0" cy="0"/>
          <a:chOff x="0" y="0"/>
          <a:chExt cx="0" cy="0"/>
        </a:xfrm>
      </p:grpSpPr>
      <p:sp>
        <p:nvSpPr>
          <p:cNvPr id="86" name="Google Shape;86;p15"/>
          <p:cNvSpPr txBox="1">
            <a:spLocks noGrp="1"/>
          </p:cNvSpPr>
          <p:nvPr>
            <p:ph type="ctrTitle"/>
          </p:nvPr>
        </p:nvSpPr>
        <p:spPr>
          <a:xfrm>
            <a:off x="415600" y="794633"/>
            <a:ext cx="11360700" cy="2610300"/>
          </a:xfrm>
          <a:prstGeom prst="rect">
            <a:avLst/>
          </a:prstGeom>
        </p:spPr>
        <p:txBody>
          <a:bodyPr spcFirstLastPara="1" wrap="square" lIns="121900" tIns="121900" rIns="121900" bIns="121900" anchor="b" anchorCtr="0">
            <a:normAutofit/>
          </a:bodyPr>
          <a:lstStyle/>
          <a:p>
            <a:pPr marL="0" lvl="0" indent="0" algn="ctr" rtl="0">
              <a:spcBef>
                <a:spcPts val="0"/>
              </a:spcBef>
              <a:spcAft>
                <a:spcPts val="0"/>
              </a:spcAft>
              <a:buNone/>
            </a:pPr>
            <a:r>
              <a:rPr lang="en-US" b="1" dirty="0">
                <a:latin typeface="Aptos" panose="020B0004020202020204" pitchFamily="34" charset="0"/>
              </a:rPr>
              <a:t>Welcome!</a:t>
            </a:r>
            <a:endParaRPr b="1" dirty="0">
              <a:latin typeface="Aptos" panose="020B0004020202020204" pitchFamily="34" charset="0"/>
            </a:endParaRPr>
          </a:p>
        </p:txBody>
      </p:sp>
      <p:sp>
        <p:nvSpPr>
          <p:cNvPr id="87" name="Google Shape;87;p15"/>
          <p:cNvSpPr txBox="1">
            <a:spLocks noGrp="1"/>
          </p:cNvSpPr>
          <p:nvPr>
            <p:ph type="subTitle" idx="1"/>
          </p:nvPr>
        </p:nvSpPr>
        <p:spPr>
          <a:xfrm>
            <a:off x="2935100" y="4147350"/>
            <a:ext cx="7192200" cy="1653600"/>
          </a:xfrm>
          <a:prstGeom prst="rect">
            <a:avLst/>
          </a:prstGeom>
        </p:spPr>
        <p:txBody>
          <a:bodyPr spcFirstLastPara="1" wrap="square" lIns="121900" tIns="121900" rIns="121900" bIns="121900" anchor="t" anchorCtr="0">
            <a:normAutofit fontScale="70000" lnSpcReduction="20000"/>
          </a:bodyPr>
          <a:lstStyle/>
          <a:p>
            <a:pPr marL="457200" lvl="0" indent="-370840" algn="l" rtl="0">
              <a:lnSpc>
                <a:spcPct val="150000"/>
              </a:lnSpc>
              <a:spcBef>
                <a:spcPts val="0"/>
              </a:spcBef>
              <a:spcAft>
                <a:spcPts val="0"/>
              </a:spcAft>
              <a:buSzPct val="100000"/>
              <a:buChar char="●"/>
            </a:pPr>
            <a:r>
              <a:rPr lang="en-US" dirty="0"/>
              <a:t>Sponsors, Instructors, and Participants Introductions</a:t>
            </a:r>
            <a:endParaRPr dirty="0"/>
          </a:p>
          <a:p>
            <a:pPr marL="457200" lvl="0" indent="-370840" algn="l" rtl="0">
              <a:lnSpc>
                <a:spcPct val="150000"/>
              </a:lnSpc>
              <a:spcBef>
                <a:spcPts val="0"/>
              </a:spcBef>
              <a:spcAft>
                <a:spcPts val="0"/>
              </a:spcAft>
              <a:buSzPct val="100000"/>
              <a:buChar char="●"/>
            </a:pPr>
            <a:r>
              <a:rPr lang="en-US" dirty="0"/>
              <a:t>Course overviews and schedules</a:t>
            </a:r>
            <a:endParaRPr dirty="0"/>
          </a:p>
          <a:p>
            <a:pPr marL="457200" lvl="0" indent="-370840" algn="l" rtl="0">
              <a:lnSpc>
                <a:spcPct val="150000"/>
              </a:lnSpc>
              <a:spcBef>
                <a:spcPts val="0"/>
              </a:spcBef>
              <a:spcAft>
                <a:spcPts val="0"/>
              </a:spcAft>
              <a:buSzPct val="100000"/>
              <a:buChar char="●"/>
            </a:pPr>
            <a:r>
              <a:rPr lang="en-US" dirty="0"/>
              <a:t>Questions/Comments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92"/>
        <p:cNvGrpSpPr/>
        <p:nvPr/>
      </p:nvGrpSpPr>
      <p:grpSpPr>
        <a:xfrm>
          <a:off x="0" y="0"/>
          <a:ext cx="0" cy="0"/>
          <a:chOff x="0" y="0"/>
          <a:chExt cx="0" cy="0"/>
        </a:xfrm>
      </p:grpSpPr>
      <p:sp>
        <p:nvSpPr>
          <p:cNvPr id="93" name="Google Shape;93;p16"/>
          <p:cNvSpPr txBox="1">
            <a:spLocks noGrp="1"/>
          </p:cNvSpPr>
          <p:nvPr>
            <p:ph type="ctrTitle"/>
          </p:nvPr>
        </p:nvSpPr>
        <p:spPr>
          <a:xfrm>
            <a:off x="415600" y="794633"/>
            <a:ext cx="11360700" cy="2610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SzPts val="990"/>
              <a:buNone/>
            </a:pPr>
            <a:r>
              <a:rPr lang="en-US" sz="4800" dirty="0"/>
              <a:t>Please introduce yourself</a:t>
            </a:r>
            <a:endParaRPr sz="4800" dirty="0"/>
          </a:p>
        </p:txBody>
      </p:sp>
      <p:sp>
        <p:nvSpPr>
          <p:cNvPr id="94" name="Google Shape;94;p16"/>
          <p:cNvSpPr txBox="1">
            <a:spLocks noGrp="1"/>
          </p:cNvSpPr>
          <p:nvPr>
            <p:ph type="subTitle" idx="1"/>
          </p:nvPr>
        </p:nvSpPr>
        <p:spPr>
          <a:xfrm>
            <a:off x="415600" y="4221097"/>
            <a:ext cx="11360700" cy="978000"/>
          </a:xfrm>
          <a:prstGeom prst="rect">
            <a:avLst/>
          </a:prstGeom>
        </p:spPr>
        <p:txBody>
          <a:bodyPr spcFirstLastPara="1" wrap="square" lIns="121900" tIns="121900" rIns="121900" bIns="121900" anchor="t" anchorCtr="0">
            <a:noAutofit/>
          </a:bodyPr>
          <a:lstStyle/>
          <a:p>
            <a:pPr marL="457200" lvl="0" indent="-228600" algn="ctr" rtl="0">
              <a:lnSpc>
                <a:spcPct val="105000"/>
              </a:lnSpc>
              <a:spcBef>
                <a:spcPts val="0"/>
              </a:spcBef>
              <a:spcAft>
                <a:spcPts val="0"/>
              </a:spcAft>
              <a:buSzPts val="2600"/>
              <a:buNone/>
            </a:pPr>
            <a:r>
              <a:rPr lang="en-US" sz="2600"/>
              <a:t>Name</a:t>
            </a:r>
            <a:endParaRPr sz="2600"/>
          </a:p>
          <a:p>
            <a:pPr marL="457200" lvl="0" indent="-228600" algn="ctr" rtl="0">
              <a:lnSpc>
                <a:spcPct val="105000"/>
              </a:lnSpc>
              <a:spcBef>
                <a:spcPts val="0"/>
              </a:spcBef>
              <a:spcAft>
                <a:spcPts val="0"/>
              </a:spcAft>
              <a:buSzPts val="2600"/>
              <a:buNone/>
            </a:pPr>
            <a:r>
              <a:rPr lang="en-US" sz="2600"/>
              <a:t>Affiliation </a:t>
            </a:r>
            <a:endParaRPr sz="2600"/>
          </a:p>
          <a:p>
            <a:pPr marL="457200" lvl="0" indent="-228600" algn="ctr" rtl="0">
              <a:lnSpc>
                <a:spcPct val="105000"/>
              </a:lnSpc>
              <a:spcBef>
                <a:spcPts val="0"/>
              </a:spcBef>
              <a:spcAft>
                <a:spcPts val="0"/>
              </a:spcAft>
              <a:buSzPts val="2600"/>
              <a:buNone/>
            </a:pPr>
            <a:r>
              <a:rPr lang="en-US" sz="2600"/>
              <a:t>What are you looking for from this course</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7" descr="This new &amp; improved animation shows animal movements across the globe based on GPS and Argos Doppler tracking data shared publicly on Movebank (movebank.org). Publicly shared animal tracks of all species covering at least 500 km distance in one direction and at least 45 days on Movebank as of August 22nd, 2023 were used (about 46500 tracks). Data were filtered to remove outliers but some likely remain. The movements were combined into 1 synthetic year. Movements between recorded locations were calculated using spline interpolation.&#10;&#10;The animal tracking data accessible through Movebank belongs to researchers all over the world. These researchers can choose to make part or all of their study information and animal tracks visible to other registered users, or to the public.&#10;&#10;The animation was created by Matthias Berger (www.schaeuffelhut-berger.de). The software is Java/OpenGL code written by Matthias Berger. Background imagery comes from Blue Marble—Next Generation, produced by Reto Stöckli, NASA Earth Observatory (NASA Goddard Space Flight Center). The ASTER Global 30-m Digital Elevation Model was used for lighting calculations. ASTER GDEM is a product of METI and NASA.&#10;&#10;Please let us know what you think at @MovebankTeam on Twitter." title="Global animal movements based on Movebank data (globe) [Most Recent!]">
            <a:hlinkClick r:id="rId3"/>
          </p:cNvPr>
          <p:cNvPicPr preferRelativeResize="0"/>
          <p:nvPr/>
        </p:nvPicPr>
        <p:blipFill>
          <a:blip r:embed="rId4">
            <a:alphaModFix/>
          </a:blip>
          <a:stretch>
            <a:fillRect/>
          </a:stretch>
        </p:blipFill>
        <p:spPr>
          <a:xfrm>
            <a:off x="0" y="0"/>
            <a:ext cx="12192000" cy="685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1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415600" y="191259"/>
            <a:ext cx="113607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b="1" dirty="0">
                <a:latin typeface="Aptos Black" panose="020B0004020202020204" pitchFamily="34" charset="0"/>
              </a:rPr>
              <a:t>Animal Tracking</a:t>
            </a:r>
            <a:endParaRPr b="1" dirty="0">
              <a:latin typeface="Aptos Black" panose="020B0004020202020204" pitchFamily="34" charset="0"/>
            </a:endParaRPr>
          </a:p>
        </p:txBody>
      </p:sp>
      <p:pic>
        <p:nvPicPr>
          <p:cNvPr id="107" name="Google Shape;107;p18"/>
          <p:cNvPicPr preferRelativeResize="0"/>
          <p:nvPr/>
        </p:nvPicPr>
        <p:blipFill>
          <a:blip r:embed="rId3">
            <a:alphaModFix/>
          </a:blip>
          <a:stretch>
            <a:fillRect/>
          </a:stretch>
        </p:blipFill>
        <p:spPr>
          <a:xfrm>
            <a:off x="152400" y="1509267"/>
            <a:ext cx="11887203" cy="5157474"/>
          </a:xfrm>
          <a:prstGeom prst="rect">
            <a:avLst/>
          </a:prstGeom>
          <a:noFill/>
          <a:ln>
            <a:noFill/>
          </a:ln>
        </p:spPr>
      </p:pic>
      <p:sp>
        <p:nvSpPr>
          <p:cNvPr id="2" name="Rectangle 1">
            <a:extLst>
              <a:ext uri="{FF2B5EF4-FFF2-40B4-BE49-F238E27FC236}">
                <a16:creationId xmlns:a16="http://schemas.microsoft.com/office/drawing/2014/main" id="{2E7F9EB5-CAB8-9F51-115D-D632B08405C7}"/>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78CC131-CF18-6FAD-BAC4-7A5A0481990A}"/>
              </a:ext>
            </a:extLst>
          </p:cNvPr>
          <p:cNvSpPr txBox="1"/>
          <p:nvPr/>
        </p:nvSpPr>
        <p:spPr>
          <a:xfrm>
            <a:off x="480915" y="786676"/>
            <a:ext cx="1999265" cy="461665"/>
          </a:xfrm>
          <a:prstGeom prst="rect">
            <a:avLst/>
          </a:prstGeom>
          <a:noFill/>
        </p:spPr>
        <p:txBody>
          <a:bodyPr wrap="none" rtlCol="0">
            <a:spAutoFit/>
          </a:bodyPr>
          <a:lstStyle/>
          <a:p>
            <a:r>
              <a:rPr lang="en-US" sz="2400" dirty="0">
                <a:latin typeface="Aptos" panose="020B0004020202020204" pitchFamily="34" charset="0"/>
              </a:rPr>
              <a:t>A brief history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1" name="Google Shape;121;p20" descr="How acoustic telemetry works | The receiver can hear a tag u… | Flickr"/>
          <p:cNvPicPr preferRelativeResize="0"/>
          <p:nvPr/>
        </p:nvPicPr>
        <p:blipFill rotWithShape="1">
          <a:blip r:embed="rId3">
            <a:alphaModFix/>
          </a:blip>
          <a:srcRect/>
          <a:stretch/>
        </p:blipFill>
        <p:spPr>
          <a:xfrm>
            <a:off x="689925" y="2420525"/>
            <a:ext cx="5308776" cy="2986175"/>
          </a:xfrm>
          <a:prstGeom prst="rect">
            <a:avLst/>
          </a:prstGeom>
          <a:noFill/>
          <a:ln>
            <a:noFill/>
          </a:ln>
        </p:spPr>
      </p:pic>
      <p:pic>
        <p:nvPicPr>
          <p:cNvPr id="122" name="Google Shape;122;p20" descr="Lynx telemetry - tracking Lynx lynx with GPS GSM transmitter collar"/>
          <p:cNvPicPr preferRelativeResize="0"/>
          <p:nvPr/>
        </p:nvPicPr>
        <p:blipFill rotWithShape="1">
          <a:blip r:embed="rId4">
            <a:alphaModFix/>
          </a:blip>
          <a:srcRect l="270" r="-269"/>
          <a:stretch/>
        </p:blipFill>
        <p:spPr>
          <a:xfrm flipH="1">
            <a:off x="6216425" y="2420525"/>
            <a:ext cx="5672000" cy="2986175"/>
          </a:xfrm>
          <a:prstGeom prst="rect">
            <a:avLst/>
          </a:prstGeom>
          <a:noFill/>
          <a:ln>
            <a:noFill/>
          </a:ln>
        </p:spPr>
      </p:pic>
      <p:sp>
        <p:nvSpPr>
          <p:cNvPr id="123" name="Google Shape;123;p20"/>
          <p:cNvSpPr txBox="1"/>
          <p:nvPr/>
        </p:nvSpPr>
        <p:spPr>
          <a:xfrm>
            <a:off x="2397953" y="1815701"/>
            <a:ext cx="86139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dirty="0">
                <a:solidFill>
                  <a:schemeClr val="bg2"/>
                </a:solidFill>
                <a:latin typeface="Aptos" panose="020B0004020202020204" pitchFamily="34" charset="0"/>
              </a:rPr>
              <a:t>Eulerian 					</a:t>
            </a:r>
            <a:r>
              <a:rPr lang="en-US" sz="2800" dirty="0" err="1">
                <a:solidFill>
                  <a:schemeClr val="bg2"/>
                </a:solidFill>
                <a:latin typeface="Aptos" panose="020B0004020202020204" pitchFamily="34" charset="0"/>
              </a:rPr>
              <a:t>Lagrangian</a:t>
            </a:r>
            <a:endParaRPr sz="2800" i="0" u="none" strike="noStrike" cap="none" dirty="0">
              <a:solidFill>
                <a:schemeClr val="bg2"/>
              </a:solidFill>
              <a:latin typeface="Aptos" panose="020B0004020202020204" pitchFamily="34" charset="0"/>
              <a:sym typeface="Arial"/>
            </a:endParaRPr>
          </a:p>
        </p:txBody>
      </p:sp>
      <p:sp>
        <p:nvSpPr>
          <p:cNvPr id="4" name="Title 2">
            <a:extLst>
              <a:ext uri="{FF2B5EF4-FFF2-40B4-BE49-F238E27FC236}">
                <a16:creationId xmlns:a16="http://schemas.microsoft.com/office/drawing/2014/main" id="{A7BA9E24-A547-914A-709B-C7F06A223BAE}"/>
              </a:ext>
            </a:extLst>
          </p:cNvPr>
          <p:cNvSpPr>
            <a:spLocks noGrp="1"/>
          </p:cNvSpPr>
          <p:nvPr>
            <p:ph type="title"/>
          </p:nvPr>
        </p:nvSpPr>
        <p:spPr>
          <a:xfrm>
            <a:off x="415600" y="189750"/>
            <a:ext cx="11360700" cy="763500"/>
          </a:xfrm>
        </p:spPr>
        <p:txBody>
          <a:bodyPr>
            <a:normAutofit fontScale="90000"/>
          </a:bodyPr>
          <a:lstStyle/>
          <a:p>
            <a:r>
              <a:rPr lang="en-US" b="1" dirty="0">
                <a:latin typeface="Aptos Black" panose="020B0004020202020204" pitchFamily="34" charset="0"/>
              </a:rPr>
              <a:t>Animal Tracking</a:t>
            </a:r>
          </a:p>
        </p:txBody>
      </p:sp>
      <p:sp>
        <p:nvSpPr>
          <p:cNvPr id="5" name="Rectangle 4">
            <a:extLst>
              <a:ext uri="{FF2B5EF4-FFF2-40B4-BE49-F238E27FC236}">
                <a16:creationId xmlns:a16="http://schemas.microsoft.com/office/drawing/2014/main" id="{4E1344DA-379F-B45D-E3B8-7811238614BF}"/>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6D8A08-DC0A-708F-7484-6DE40EEAA6AB}"/>
              </a:ext>
            </a:extLst>
          </p:cNvPr>
          <p:cNvSpPr txBox="1"/>
          <p:nvPr/>
        </p:nvSpPr>
        <p:spPr>
          <a:xfrm>
            <a:off x="480915" y="786676"/>
            <a:ext cx="3007555" cy="461665"/>
          </a:xfrm>
          <a:prstGeom prst="rect">
            <a:avLst/>
          </a:prstGeom>
          <a:noFill/>
        </p:spPr>
        <p:txBody>
          <a:bodyPr wrap="none" rtlCol="0">
            <a:spAutoFit/>
          </a:bodyPr>
          <a:lstStyle/>
          <a:p>
            <a:r>
              <a:rPr lang="en-US" sz="2400" dirty="0">
                <a:latin typeface="Aptos" panose="020B0004020202020204" pitchFamily="34" charset="0"/>
              </a:rPr>
              <a:t>Two types of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28"/>
        <p:cNvGrpSpPr/>
        <p:nvPr/>
      </p:nvGrpSpPr>
      <p:grpSpPr>
        <a:xfrm>
          <a:off x="0" y="0"/>
          <a:ext cx="0" cy="0"/>
          <a:chOff x="0" y="0"/>
          <a:chExt cx="0" cy="0"/>
        </a:xfrm>
      </p:grpSpPr>
      <p:pic>
        <p:nvPicPr>
          <p:cNvPr id="130" name="Google Shape;130;p21"/>
          <p:cNvPicPr preferRelativeResize="0"/>
          <p:nvPr/>
        </p:nvPicPr>
        <p:blipFill>
          <a:blip r:embed="rId3">
            <a:alphaModFix/>
          </a:blip>
          <a:stretch>
            <a:fillRect/>
          </a:stretch>
        </p:blipFill>
        <p:spPr>
          <a:xfrm>
            <a:off x="415600" y="2035650"/>
            <a:ext cx="7497776" cy="4217499"/>
          </a:xfrm>
          <a:prstGeom prst="rect">
            <a:avLst/>
          </a:prstGeom>
          <a:noFill/>
          <a:ln>
            <a:noFill/>
          </a:ln>
        </p:spPr>
      </p:pic>
      <p:pic>
        <p:nvPicPr>
          <p:cNvPr id="132" name="Google Shape;132;p21"/>
          <p:cNvPicPr preferRelativeResize="0"/>
          <p:nvPr/>
        </p:nvPicPr>
        <p:blipFill>
          <a:blip r:embed="rId4">
            <a:alphaModFix/>
          </a:blip>
          <a:stretch>
            <a:fillRect/>
          </a:stretch>
        </p:blipFill>
        <p:spPr>
          <a:xfrm>
            <a:off x="8186264" y="2196000"/>
            <a:ext cx="3759985" cy="4057149"/>
          </a:xfrm>
          <a:prstGeom prst="rect">
            <a:avLst/>
          </a:prstGeom>
          <a:noFill/>
          <a:ln>
            <a:noFill/>
          </a:ln>
        </p:spPr>
      </p:pic>
      <p:sp>
        <p:nvSpPr>
          <p:cNvPr id="4" name="Title 2">
            <a:extLst>
              <a:ext uri="{FF2B5EF4-FFF2-40B4-BE49-F238E27FC236}">
                <a16:creationId xmlns:a16="http://schemas.microsoft.com/office/drawing/2014/main" id="{5B680622-4CC4-B7B7-DAA3-E82DFDE11DF7}"/>
              </a:ext>
            </a:extLst>
          </p:cNvPr>
          <p:cNvSpPr>
            <a:spLocks noGrp="1"/>
          </p:cNvSpPr>
          <p:nvPr>
            <p:ph type="title"/>
          </p:nvPr>
        </p:nvSpPr>
        <p:spPr>
          <a:xfrm>
            <a:off x="415600" y="189750"/>
            <a:ext cx="11360700" cy="763500"/>
          </a:xfrm>
        </p:spPr>
        <p:txBody>
          <a:bodyPr>
            <a:normAutofit fontScale="90000"/>
          </a:bodyPr>
          <a:lstStyle/>
          <a:p>
            <a:r>
              <a:rPr lang="en-US" b="1" dirty="0">
                <a:latin typeface="Aptos Black" panose="020B0004020202020204" pitchFamily="34" charset="0"/>
              </a:rPr>
              <a:t>Animal Tracking</a:t>
            </a:r>
          </a:p>
        </p:txBody>
      </p:sp>
      <p:sp>
        <p:nvSpPr>
          <p:cNvPr id="5" name="Rectangle 4">
            <a:extLst>
              <a:ext uri="{FF2B5EF4-FFF2-40B4-BE49-F238E27FC236}">
                <a16:creationId xmlns:a16="http://schemas.microsoft.com/office/drawing/2014/main" id="{BE90CDA7-F566-7F1D-00C4-5FD6102D7293}"/>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F124AA-FC41-4D84-74C6-53B752D96AC1}"/>
              </a:ext>
            </a:extLst>
          </p:cNvPr>
          <p:cNvSpPr txBox="1"/>
          <p:nvPr/>
        </p:nvSpPr>
        <p:spPr>
          <a:xfrm>
            <a:off x="480915" y="786676"/>
            <a:ext cx="3007555" cy="461665"/>
          </a:xfrm>
          <a:prstGeom prst="rect">
            <a:avLst/>
          </a:prstGeom>
          <a:noFill/>
        </p:spPr>
        <p:txBody>
          <a:bodyPr wrap="none" rtlCol="0">
            <a:spAutoFit/>
          </a:bodyPr>
          <a:lstStyle/>
          <a:p>
            <a:r>
              <a:rPr lang="en-US" sz="2400" dirty="0">
                <a:latin typeface="Aptos" panose="020B0004020202020204" pitchFamily="34" charset="0"/>
              </a:rPr>
              <a:t>Two types of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p:nvPr/>
        </p:nvSpPr>
        <p:spPr>
          <a:xfrm>
            <a:off x="2473925" y="1194426"/>
            <a:ext cx="29967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accent4"/>
                </a:solidFill>
                <a:latin typeface="Arial"/>
                <a:ea typeface="Arial"/>
                <a:cs typeface="Arial"/>
                <a:sym typeface="Arial"/>
              </a:rPr>
              <a:t>For natural system </a:t>
            </a:r>
            <a:endParaRPr sz="1800">
              <a:solidFill>
                <a:schemeClr val="accent4"/>
              </a:solidFill>
            </a:endParaRPr>
          </a:p>
        </p:txBody>
      </p:sp>
      <p:grpSp>
        <p:nvGrpSpPr>
          <p:cNvPr id="139" name="Google Shape;139;p22"/>
          <p:cNvGrpSpPr/>
          <p:nvPr/>
        </p:nvGrpSpPr>
        <p:grpSpPr>
          <a:xfrm>
            <a:off x="6545149" y="805650"/>
            <a:ext cx="4691170" cy="5889225"/>
            <a:chOff x="6369924" y="593374"/>
            <a:chExt cx="4691170" cy="5889225"/>
          </a:xfrm>
        </p:grpSpPr>
        <p:pic>
          <p:nvPicPr>
            <p:cNvPr id="140" name="Google Shape;140;p22" descr="Alarming' decline of seed-dispersing animals threatens Europe's plants |  Science | AAAS"/>
            <p:cNvPicPr preferRelativeResize="0"/>
            <p:nvPr/>
          </p:nvPicPr>
          <p:blipFill rotWithShape="1">
            <a:blip r:embed="rId3">
              <a:alphaModFix/>
            </a:blip>
            <a:srcRect/>
            <a:stretch/>
          </p:blipFill>
          <p:spPr>
            <a:xfrm>
              <a:off x="6369924" y="593374"/>
              <a:ext cx="2149800" cy="1389000"/>
            </a:xfrm>
            <a:prstGeom prst="ellipse">
              <a:avLst/>
            </a:prstGeom>
            <a:noFill/>
            <a:ln>
              <a:noFill/>
            </a:ln>
          </p:spPr>
        </p:pic>
        <p:pic>
          <p:nvPicPr>
            <p:cNvPr id="141" name="Google Shape;141;p22" descr="Scientists find out why giant pandas eat bamboo rather than meat - CGTN"/>
            <p:cNvPicPr preferRelativeResize="0"/>
            <p:nvPr/>
          </p:nvPicPr>
          <p:blipFill rotWithShape="1">
            <a:blip r:embed="rId4">
              <a:alphaModFix/>
            </a:blip>
            <a:srcRect r="14258"/>
            <a:stretch/>
          </p:blipFill>
          <p:spPr>
            <a:xfrm>
              <a:off x="6369924" y="2104225"/>
              <a:ext cx="2149800" cy="1378200"/>
            </a:xfrm>
            <a:prstGeom prst="ellipse">
              <a:avLst/>
            </a:prstGeom>
            <a:noFill/>
            <a:ln>
              <a:noFill/>
            </a:ln>
          </p:spPr>
        </p:pic>
        <p:pic>
          <p:nvPicPr>
            <p:cNvPr id="142" name="Google Shape;142;p22" descr="About Pollination | Honeybee Centre | Leading Bee Education"/>
            <p:cNvPicPr preferRelativeResize="0"/>
            <p:nvPr/>
          </p:nvPicPr>
          <p:blipFill rotWithShape="1">
            <a:blip r:embed="rId5">
              <a:alphaModFix/>
            </a:blip>
            <a:srcRect b="12365"/>
            <a:stretch/>
          </p:blipFill>
          <p:spPr>
            <a:xfrm>
              <a:off x="6369924" y="3604312"/>
              <a:ext cx="2145600" cy="1378200"/>
            </a:xfrm>
            <a:prstGeom prst="ellipse">
              <a:avLst/>
            </a:prstGeom>
            <a:noFill/>
            <a:ln>
              <a:noFill/>
            </a:ln>
          </p:spPr>
        </p:pic>
        <p:pic>
          <p:nvPicPr>
            <p:cNvPr id="143" name="Google Shape;143;p22" descr="In Nepal, debate rages on crop-raiding monkeys"/>
            <p:cNvPicPr preferRelativeResize="0"/>
            <p:nvPr/>
          </p:nvPicPr>
          <p:blipFill rotWithShape="1">
            <a:blip r:embed="rId6">
              <a:alphaModFix/>
            </a:blip>
            <a:srcRect b="8408"/>
            <a:stretch/>
          </p:blipFill>
          <p:spPr>
            <a:xfrm>
              <a:off x="6369924" y="5104400"/>
              <a:ext cx="2145600" cy="1378200"/>
            </a:xfrm>
            <a:prstGeom prst="ellipse">
              <a:avLst/>
            </a:prstGeom>
            <a:noFill/>
            <a:ln>
              <a:noFill/>
            </a:ln>
          </p:spPr>
        </p:pic>
        <p:pic>
          <p:nvPicPr>
            <p:cNvPr id="144" name="Google Shape;144;p22" descr="Biodiversity loss is biggest driver of infectious disease outbreaks, says  study | Environment | The Guardian"/>
            <p:cNvPicPr preferRelativeResize="0"/>
            <p:nvPr/>
          </p:nvPicPr>
          <p:blipFill rotWithShape="1">
            <a:blip r:embed="rId7">
              <a:alphaModFix/>
            </a:blip>
            <a:srcRect l="13075" t="13933" r="26218" b="19430"/>
            <a:stretch/>
          </p:blipFill>
          <p:spPr>
            <a:xfrm>
              <a:off x="8871339" y="598756"/>
              <a:ext cx="2149800" cy="1383600"/>
            </a:xfrm>
            <a:prstGeom prst="ellipse">
              <a:avLst/>
            </a:prstGeom>
            <a:noFill/>
            <a:ln>
              <a:noFill/>
            </a:ln>
          </p:spPr>
        </p:pic>
        <p:pic>
          <p:nvPicPr>
            <p:cNvPr id="145" name="Google Shape;145;p22" descr="What is a bird strike? How concerned you need to be when flying | The  Independent"/>
            <p:cNvPicPr preferRelativeResize="0"/>
            <p:nvPr/>
          </p:nvPicPr>
          <p:blipFill rotWithShape="1">
            <a:blip r:embed="rId8">
              <a:alphaModFix/>
            </a:blip>
            <a:srcRect l="32663" t="26647" r="11815" b="15512"/>
            <a:stretch/>
          </p:blipFill>
          <p:spPr>
            <a:xfrm>
              <a:off x="8871339" y="2104225"/>
              <a:ext cx="2149800" cy="1378200"/>
            </a:xfrm>
            <a:prstGeom prst="ellipse">
              <a:avLst/>
            </a:prstGeom>
            <a:noFill/>
            <a:ln>
              <a:noFill/>
            </a:ln>
          </p:spPr>
        </p:pic>
        <p:pic>
          <p:nvPicPr>
            <p:cNvPr id="146" name="Google Shape;146;p22" descr="Sky burial: The Tibetan Funeral : r/interestingasfuck"/>
            <p:cNvPicPr preferRelativeResize="0"/>
            <p:nvPr/>
          </p:nvPicPr>
          <p:blipFill rotWithShape="1">
            <a:blip r:embed="rId9">
              <a:alphaModFix/>
            </a:blip>
            <a:srcRect t="12307" r="23652" b="11345"/>
            <a:stretch/>
          </p:blipFill>
          <p:spPr>
            <a:xfrm>
              <a:off x="8915494" y="3604312"/>
              <a:ext cx="2145600" cy="1395600"/>
            </a:xfrm>
            <a:prstGeom prst="ellipse">
              <a:avLst/>
            </a:prstGeom>
            <a:noFill/>
            <a:ln>
              <a:noFill/>
            </a:ln>
          </p:spPr>
        </p:pic>
        <p:pic>
          <p:nvPicPr>
            <p:cNvPr id="147" name="Google Shape;147;p22" descr="Whale Watch | Pacific Whale Foundation"/>
            <p:cNvPicPr preferRelativeResize="0"/>
            <p:nvPr/>
          </p:nvPicPr>
          <p:blipFill rotWithShape="1">
            <a:blip r:embed="rId10">
              <a:alphaModFix/>
            </a:blip>
            <a:srcRect l="8703" t="624" r="8876" b="1852"/>
            <a:stretch/>
          </p:blipFill>
          <p:spPr>
            <a:xfrm>
              <a:off x="8913148" y="5086895"/>
              <a:ext cx="2145600" cy="1395600"/>
            </a:xfrm>
            <a:prstGeom prst="ellipse">
              <a:avLst/>
            </a:prstGeom>
            <a:noFill/>
            <a:ln>
              <a:noFill/>
            </a:ln>
          </p:spPr>
        </p:pic>
      </p:grpSp>
      <p:sp>
        <p:nvSpPr>
          <p:cNvPr id="148" name="Google Shape;148;p22"/>
          <p:cNvSpPr txBox="1"/>
          <p:nvPr/>
        </p:nvSpPr>
        <p:spPr>
          <a:xfrm>
            <a:off x="2473936" y="3537218"/>
            <a:ext cx="29967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chemeClr val="accent4"/>
                </a:solidFill>
                <a:latin typeface="Arial"/>
                <a:ea typeface="Arial"/>
                <a:cs typeface="Arial"/>
                <a:sym typeface="Arial"/>
              </a:rPr>
              <a:t>For human societies</a:t>
            </a:r>
            <a:endParaRPr sz="1800" dirty="0">
              <a:solidFill>
                <a:schemeClr val="accent4"/>
              </a:solidFill>
            </a:endParaRPr>
          </a:p>
        </p:txBody>
      </p:sp>
      <p:sp>
        <p:nvSpPr>
          <p:cNvPr id="149" name="Google Shape;149;p22"/>
          <p:cNvSpPr txBox="1"/>
          <p:nvPr/>
        </p:nvSpPr>
        <p:spPr>
          <a:xfrm>
            <a:off x="2975808" y="1570659"/>
            <a:ext cx="2771700" cy="1754286"/>
          </a:xfrm>
          <a:prstGeom prst="rect">
            <a:avLst/>
          </a:prstGeom>
          <a:noFill/>
          <a:ln>
            <a:noFill/>
          </a:ln>
        </p:spPr>
        <p:txBody>
          <a:bodyPr spcFirstLastPara="1" wrap="square" lIns="91425" tIns="45700" rIns="91425" bIns="45700" anchor="t" anchorCtr="0">
            <a:spAutoFit/>
          </a:bodyPr>
          <a:lstStyle/>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Pest control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Seed dispersal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Pollination</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Foraging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Nutrient cycling</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a:t>
            </a:r>
            <a:endParaRPr sz="1800" b="0" i="0" u="none" strike="noStrike" cap="none" dirty="0">
              <a:solidFill>
                <a:srgbClr val="000000"/>
              </a:solidFill>
              <a:sym typeface="Arial"/>
            </a:endParaRPr>
          </a:p>
        </p:txBody>
      </p:sp>
      <p:sp>
        <p:nvSpPr>
          <p:cNvPr id="150" name="Google Shape;150;p22"/>
          <p:cNvSpPr txBox="1"/>
          <p:nvPr/>
        </p:nvSpPr>
        <p:spPr>
          <a:xfrm>
            <a:off x="2975808" y="3992701"/>
            <a:ext cx="2909400" cy="2585283"/>
          </a:xfrm>
          <a:prstGeom prst="rect">
            <a:avLst/>
          </a:prstGeom>
          <a:noFill/>
          <a:ln>
            <a:noFill/>
          </a:ln>
        </p:spPr>
        <p:txBody>
          <a:bodyPr spcFirstLastPara="1" wrap="square" lIns="91425" tIns="45700" rIns="91425" bIns="45700" anchor="t" anchorCtr="0">
            <a:spAutoFit/>
          </a:bodyPr>
          <a:lstStyle/>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Food sources</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Disease transmission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Safety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Tourism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Cultural and spiritual entities</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Environmental sentinel </a:t>
            </a:r>
            <a:endParaRPr sz="1800" dirty="0"/>
          </a:p>
          <a:p>
            <a:pPr marL="457200" marR="0" lvl="0" indent="-323850" algn="l" rtl="0">
              <a:lnSpc>
                <a:spcPct val="100000"/>
              </a:lnSpc>
              <a:spcBef>
                <a:spcPts val="0"/>
              </a:spcBef>
              <a:spcAft>
                <a:spcPts val="0"/>
              </a:spcAft>
              <a:buClr>
                <a:srgbClr val="000000"/>
              </a:buClr>
              <a:buSzPts val="1500"/>
              <a:buFont typeface="Arial"/>
              <a:buChar char="●"/>
            </a:pPr>
            <a:r>
              <a:rPr lang="en-US" sz="1800" b="0" i="0" u="none" strike="noStrike" cap="none" dirty="0">
                <a:solidFill>
                  <a:srgbClr val="000000"/>
                </a:solidFill>
                <a:sym typeface="Arial"/>
              </a:rPr>
              <a:t>…</a:t>
            </a:r>
            <a:endParaRPr sz="1800" b="0" i="0" u="none" strike="noStrike" cap="none" dirty="0">
              <a:solidFill>
                <a:srgbClr val="000000"/>
              </a:solidFill>
              <a:sym typeface="Arial"/>
            </a:endParaRPr>
          </a:p>
        </p:txBody>
      </p:sp>
      <p:sp>
        <p:nvSpPr>
          <p:cNvPr id="152" name="Google Shape;152;p22"/>
          <p:cNvSpPr txBox="1">
            <a:spLocks noGrp="1"/>
          </p:cNvSpPr>
          <p:nvPr>
            <p:ph type="title"/>
          </p:nvPr>
        </p:nvSpPr>
        <p:spPr>
          <a:xfrm>
            <a:off x="415600" y="-48987"/>
            <a:ext cx="9022314"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2" name="Rectangle 1">
            <a:extLst>
              <a:ext uri="{FF2B5EF4-FFF2-40B4-BE49-F238E27FC236}">
                <a16:creationId xmlns:a16="http://schemas.microsoft.com/office/drawing/2014/main" id="{D3896735-55F7-EB7A-61BF-D2A407B5DE40}"/>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1000"/>
                                        <p:tgtEl>
                                          <p:spTgt spid="138"/>
                                        </p:tgtEl>
                                      </p:cBhvr>
                                    </p:animEffect>
                                  </p:childTnLst>
                                </p:cTn>
                              </p:par>
                              <p:par>
                                <p:cTn id="8" presetID="10" presetClass="entr" presetSubtype="0" fill="hold" nodeType="withEffect">
                                  <p:stCondLst>
                                    <p:cond delay="0"/>
                                  </p:stCondLst>
                                  <p:childTnLst>
                                    <p:set>
                                      <p:cBhvr>
                                        <p:cTn id="9" dur="1" fill="hold">
                                          <p:stCondLst>
                                            <p:cond delay="0"/>
                                          </p:stCondLst>
                                        </p:cTn>
                                        <p:tgtEl>
                                          <p:spTgt spid="148"/>
                                        </p:tgtEl>
                                        <p:attrNameLst>
                                          <p:attrName>style.visibility</p:attrName>
                                        </p:attrNameLst>
                                      </p:cBhvr>
                                      <p:to>
                                        <p:strVal val="visible"/>
                                      </p:to>
                                    </p:set>
                                    <p:animEffect transition="in" filter="fade">
                                      <p:cBhvr>
                                        <p:cTn id="10" dur="1000"/>
                                        <p:tgtEl>
                                          <p:spTgt spid="148"/>
                                        </p:tgtEl>
                                      </p:cBhvr>
                                    </p:animEffect>
                                  </p:childTnLst>
                                </p:cTn>
                              </p:par>
                              <p:par>
                                <p:cTn id="11" presetID="10" presetClass="entr" presetSubtype="0" fill="hold" nodeType="withEffect">
                                  <p:stCondLst>
                                    <p:cond delay="0"/>
                                  </p:stCondLst>
                                  <p:childTnLst>
                                    <p:set>
                                      <p:cBhvr>
                                        <p:cTn id="12" dur="1" fill="hold">
                                          <p:stCondLst>
                                            <p:cond delay="0"/>
                                          </p:stCondLst>
                                        </p:cTn>
                                        <p:tgtEl>
                                          <p:spTgt spid="149"/>
                                        </p:tgtEl>
                                        <p:attrNameLst>
                                          <p:attrName>style.visibility</p:attrName>
                                        </p:attrNameLst>
                                      </p:cBhvr>
                                      <p:to>
                                        <p:strVal val="visible"/>
                                      </p:to>
                                    </p:set>
                                    <p:animEffect transition="in" filter="fade">
                                      <p:cBhvr>
                                        <p:cTn id="13" dur="1"/>
                                        <p:tgtEl>
                                          <p:spTgt spid="149"/>
                                        </p:tgtEl>
                                      </p:cBhvr>
                                    </p:animEffect>
                                  </p:childTnLst>
                                </p:cTn>
                              </p:par>
                              <p:par>
                                <p:cTn id="14" presetID="10" presetClass="entr" presetSubtype="0" fill="hold" nodeType="withEffect">
                                  <p:stCondLst>
                                    <p:cond delay="0"/>
                                  </p:stCondLst>
                                  <p:childTnLst>
                                    <p:set>
                                      <p:cBhvr>
                                        <p:cTn id="15" dur="1" fill="hold">
                                          <p:stCondLst>
                                            <p:cond delay="0"/>
                                          </p:stCondLst>
                                        </p:cTn>
                                        <p:tgtEl>
                                          <p:spTgt spid="150"/>
                                        </p:tgtEl>
                                        <p:attrNameLst>
                                          <p:attrName>style.visibility</p:attrName>
                                        </p:attrNameLst>
                                      </p:cBhvr>
                                      <p:to>
                                        <p:strVal val="visible"/>
                                      </p:to>
                                    </p:set>
                                    <p:animEffect transition="in" filter="fade">
                                      <p:cBhvr>
                                        <p:cTn id="16" dur="10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3"/>
          <p:cNvPicPr preferRelativeResize="0"/>
          <p:nvPr/>
        </p:nvPicPr>
        <p:blipFill rotWithShape="1">
          <a:blip r:embed="rId3">
            <a:alphaModFix/>
          </a:blip>
          <a:srcRect t="8884" r="66007" b="54582"/>
          <a:stretch/>
        </p:blipFill>
        <p:spPr>
          <a:xfrm>
            <a:off x="263975" y="1729900"/>
            <a:ext cx="3878348" cy="2604650"/>
          </a:xfrm>
          <a:prstGeom prst="rect">
            <a:avLst/>
          </a:prstGeom>
          <a:noFill/>
          <a:ln>
            <a:noFill/>
          </a:ln>
        </p:spPr>
      </p:pic>
      <p:sp>
        <p:nvSpPr>
          <p:cNvPr id="159" name="Google Shape;159;p23"/>
          <p:cNvSpPr txBox="1"/>
          <p:nvPr/>
        </p:nvSpPr>
        <p:spPr>
          <a:xfrm>
            <a:off x="415599" y="763500"/>
            <a:ext cx="86139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Animal movements are building blocks of ecology across scales</a:t>
            </a:r>
            <a:endParaRPr sz="2400" i="0" u="none" strike="noStrike" cap="none" dirty="0">
              <a:solidFill>
                <a:schemeClr val="bg2"/>
              </a:solidFill>
              <a:latin typeface="+mn-lt"/>
              <a:ea typeface="Arial"/>
              <a:cs typeface="Arial"/>
              <a:sym typeface="Arial"/>
            </a:endParaRPr>
          </a:p>
        </p:txBody>
      </p:sp>
      <p:sp>
        <p:nvSpPr>
          <p:cNvPr id="161" name="Google Shape;161;p23"/>
          <p:cNvSpPr txBox="1"/>
          <p:nvPr/>
        </p:nvSpPr>
        <p:spPr>
          <a:xfrm>
            <a:off x="1304748" y="4256125"/>
            <a:ext cx="24621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Individual level</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ecophysiology </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life history</a:t>
            </a:r>
            <a:endParaRPr sz="2400">
              <a:solidFill>
                <a:schemeClr val="dk2"/>
              </a:solidFill>
              <a:latin typeface="Calibri"/>
              <a:ea typeface="Calibri"/>
              <a:cs typeface="Calibri"/>
              <a:sym typeface="Calibri"/>
            </a:endParaRPr>
          </a:p>
        </p:txBody>
      </p:sp>
      <p:sp>
        <p:nvSpPr>
          <p:cNvPr id="4" name="Google Shape;152;p22">
            <a:extLst>
              <a:ext uri="{FF2B5EF4-FFF2-40B4-BE49-F238E27FC236}">
                <a16:creationId xmlns:a16="http://schemas.microsoft.com/office/drawing/2014/main" id="{6AE021A8-AC56-75F0-BA8F-D716E0FD6662}"/>
              </a:ext>
            </a:extLst>
          </p:cNvPr>
          <p:cNvSpPr txBox="1">
            <a:spLocks noGrp="1"/>
          </p:cNvSpPr>
          <p:nvPr>
            <p:ph type="title"/>
          </p:nvPr>
        </p:nvSpPr>
        <p:spPr>
          <a:xfrm>
            <a:off x="415599" y="38812"/>
            <a:ext cx="9381543"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5" name="Rectangle 4">
            <a:extLst>
              <a:ext uri="{FF2B5EF4-FFF2-40B4-BE49-F238E27FC236}">
                <a16:creationId xmlns:a16="http://schemas.microsoft.com/office/drawing/2014/main" id="{9101BF57-85C7-349E-85F8-F1E9F9C33B3A}"/>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4"/>
          <p:cNvPicPr preferRelativeResize="0"/>
          <p:nvPr/>
        </p:nvPicPr>
        <p:blipFill rotWithShape="1">
          <a:blip r:embed="rId3">
            <a:alphaModFix/>
          </a:blip>
          <a:srcRect t="8884" r="32901" b="54584"/>
          <a:stretch/>
        </p:blipFill>
        <p:spPr>
          <a:xfrm>
            <a:off x="263974" y="1729895"/>
            <a:ext cx="7655788" cy="2604654"/>
          </a:xfrm>
          <a:prstGeom prst="rect">
            <a:avLst/>
          </a:prstGeom>
          <a:noFill/>
          <a:ln>
            <a:noFill/>
          </a:ln>
        </p:spPr>
      </p:pic>
      <p:sp>
        <p:nvSpPr>
          <p:cNvPr id="168" name="Google Shape;168;p24"/>
          <p:cNvSpPr txBox="1"/>
          <p:nvPr/>
        </p:nvSpPr>
        <p:spPr>
          <a:xfrm>
            <a:off x="4830448" y="4256125"/>
            <a:ext cx="29787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Population level</a:t>
            </a:r>
            <a:endParaRPr sz="2400" b="0" i="0" u="none" strike="noStrike" cap="none">
              <a:solidFill>
                <a:schemeClr val="dk1"/>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collective behavior</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social behavior</a:t>
            </a:r>
            <a:endParaRPr sz="2400">
              <a:solidFill>
                <a:schemeClr val="dk2"/>
              </a:solidFill>
              <a:latin typeface="Calibri"/>
              <a:ea typeface="Calibri"/>
              <a:cs typeface="Calibri"/>
              <a:sym typeface="Calibri"/>
            </a:endParaRPr>
          </a:p>
        </p:txBody>
      </p:sp>
      <p:sp>
        <p:nvSpPr>
          <p:cNvPr id="169" name="Google Shape;169;p24"/>
          <p:cNvSpPr txBox="1"/>
          <p:nvPr/>
        </p:nvSpPr>
        <p:spPr>
          <a:xfrm>
            <a:off x="1304748" y="4256125"/>
            <a:ext cx="24621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Individual level</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ecophysiology </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life history</a:t>
            </a:r>
            <a:endParaRPr sz="2400">
              <a:solidFill>
                <a:schemeClr val="dk2"/>
              </a:solidFill>
              <a:latin typeface="Calibri"/>
              <a:ea typeface="Calibri"/>
              <a:cs typeface="Calibri"/>
              <a:sym typeface="Calibri"/>
            </a:endParaRPr>
          </a:p>
        </p:txBody>
      </p:sp>
      <p:sp>
        <p:nvSpPr>
          <p:cNvPr id="4" name="Google Shape;159;p23">
            <a:extLst>
              <a:ext uri="{FF2B5EF4-FFF2-40B4-BE49-F238E27FC236}">
                <a16:creationId xmlns:a16="http://schemas.microsoft.com/office/drawing/2014/main" id="{FF7EE0B4-08F7-6EA5-E0C2-CAFA1ECAFE1B}"/>
              </a:ext>
            </a:extLst>
          </p:cNvPr>
          <p:cNvSpPr txBox="1"/>
          <p:nvPr/>
        </p:nvSpPr>
        <p:spPr>
          <a:xfrm>
            <a:off x="415599" y="763500"/>
            <a:ext cx="86139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Animal movements are building blocks of ecology across scales</a:t>
            </a:r>
            <a:endParaRPr sz="2400" i="0" u="none" strike="noStrike" cap="none" dirty="0">
              <a:solidFill>
                <a:schemeClr val="bg2"/>
              </a:solidFill>
              <a:latin typeface="+mn-lt"/>
              <a:ea typeface="Arial"/>
              <a:cs typeface="Arial"/>
              <a:sym typeface="Arial"/>
            </a:endParaRPr>
          </a:p>
        </p:txBody>
      </p:sp>
      <p:sp>
        <p:nvSpPr>
          <p:cNvPr id="5" name="Google Shape;152;p22">
            <a:extLst>
              <a:ext uri="{FF2B5EF4-FFF2-40B4-BE49-F238E27FC236}">
                <a16:creationId xmlns:a16="http://schemas.microsoft.com/office/drawing/2014/main" id="{3911413B-2550-BC71-9675-36BB94666A82}"/>
              </a:ext>
            </a:extLst>
          </p:cNvPr>
          <p:cNvSpPr txBox="1">
            <a:spLocks noGrp="1"/>
          </p:cNvSpPr>
          <p:nvPr>
            <p:ph type="title"/>
          </p:nvPr>
        </p:nvSpPr>
        <p:spPr>
          <a:xfrm>
            <a:off x="415599" y="38812"/>
            <a:ext cx="9381543"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6" name="Rectangle 5">
            <a:extLst>
              <a:ext uri="{FF2B5EF4-FFF2-40B4-BE49-F238E27FC236}">
                <a16:creationId xmlns:a16="http://schemas.microsoft.com/office/drawing/2014/main" id="{52C7312A-373C-AA60-D311-206A99847534}"/>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25"/>
          <p:cNvPicPr preferRelativeResize="0"/>
          <p:nvPr/>
        </p:nvPicPr>
        <p:blipFill rotWithShape="1">
          <a:blip r:embed="rId3">
            <a:alphaModFix/>
          </a:blip>
          <a:srcRect t="8884" b="54584"/>
          <a:stretch/>
        </p:blipFill>
        <p:spPr>
          <a:xfrm>
            <a:off x="263974" y="1729895"/>
            <a:ext cx="11409770" cy="2604654"/>
          </a:xfrm>
          <a:prstGeom prst="rect">
            <a:avLst/>
          </a:prstGeom>
          <a:noFill/>
          <a:ln>
            <a:noFill/>
          </a:ln>
        </p:spPr>
      </p:pic>
      <p:sp>
        <p:nvSpPr>
          <p:cNvPr id="178" name="Google Shape;178;p25"/>
          <p:cNvSpPr txBox="1"/>
          <p:nvPr/>
        </p:nvSpPr>
        <p:spPr>
          <a:xfrm>
            <a:off x="8663626" y="4243500"/>
            <a:ext cx="30750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Community level</a:t>
            </a:r>
            <a:endParaRPr sz="2400" b="0" i="0" u="none" strike="noStrike" cap="none">
              <a:solidFill>
                <a:schemeClr val="dk1"/>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trophic interaction</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disease ecology </a:t>
            </a:r>
            <a:endParaRPr sz="2400">
              <a:solidFill>
                <a:schemeClr val="dk2"/>
              </a:solidFill>
              <a:latin typeface="Calibri"/>
              <a:ea typeface="Calibri"/>
              <a:cs typeface="Calibri"/>
              <a:sym typeface="Calibri"/>
            </a:endParaRPr>
          </a:p>
        </p:txBody>
      </p:sp>
      <p:sp>
        <p:nvSpPr>
          <p:cNvPr id="181" name="Google Shape;181;p25"/>
          <p:cNvSpPr txBox="1"/>
          <p:nvPr/>
        </p:nvSpPr>
        <p:spPr>
          <a:xfrm>
            <a:off x="4830448" y="4256125"/>
            <a:ext cx="29787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Population level</a:t>
            </a:r>
            <a:endParaRPr sz="2400" b="0" i="0" u="none" strike="noStrike" cap="none">
              <a:solidFill>
                <a:schemeClr val="dk1"/>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collective behavior</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social behavior</a:t>
            </a:r>
            <a:endParaRPr sz="2400">
              <a:solidFill>
                <a:schemeClr val="dk2"/>
              </a:solidFill>
              <a:latin typeface="Calibri"/>
              <a:ea typeface="Calibri"/>
              <a:cs typeface="Calibri"/>
              <a:sym typeface="Calibri"/>
            </a:endParaRPr>
          </a:p>
        </p:txBody>
      </p:sp>
      <p:sp>
        <p:nvSpPr>
          <p:cNvPr id="182" name="Google Shape;182;p25"/>
          <p:cNvSpPr txBox="1"/>
          <p:nvPr/>
        </p:nvSpPr>
        <p:spPr>
          <a:xfrm>
            <a:off x="1304748" y="4256125"/>
            <a:ext cx="24621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Individual level</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ecophysiology </a:t>
            </a:r>
            <a:endParaRPr sz="2400">
              <a:solidFill>
                <a:schemeClr val="dk2"/>
              </a:solidFill>
              <a:latin typeface="Calibri"/>
              <a:ea typeface="Calibri"/>
              <a:cs typeface="Calibri"/>
              <a:sym typeface="Calibri"/>
            </a:endParaRPr>
          </a:p>
          <a:p>
            <a:pPr marL="457200" marR="0" lvl="0" indent="-381000" algn="l" rtl="0">
              <a:lnSpc>
                <a:spcPct val="100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life history</a:t>
            </a:r>
            <a:endParaRPr sz="2400">
              <a:solidFill>
                <a:schemeClr val="dk2"/>
              </a:solidFill>
              <a:latin typeface="Calibri"/>
              <a:ea typeface="Calibri"/>
              <a:cs typeface="Calibri"/>
              <a:sym typeface="Calibri"/>
            </a:endParaRPr>
          </a:p>
        </p:txBody>
      </p:sp>
      <p:sp>
        <p:nvSpPr>
          <p:cNvPr id="4" name="Google Shape;159;p23">
            <a:extLst>
              <a:ext uri="{FF2B5EF4-FFF2-40B4-BE49-F238E27FC236}">
                <a16:creationId xmlns:a16="http://schemas.microsoft.com/office/drawing/2014/main" id="{A00CDC5D-2DD3-223B-6B00-8271B60C4983}"/>
              </a:ext>
            </a:extLst>
          </p:cNvPr>
          <p:cNvSpPr txBox="1"/>
          <p:nvPr/>
        </p:nvSpPr>
        <p:spPr>
          <a:xfrm>
            <a:off x="415599" y="763500"/>
            <a:ext cx="86139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Animal movements are building blocks of ecology across scales</a:t>
            </a:r>
            <a:endParaRPr sz="2400" i="0" u="none" strike="noStrike" cap="none" dirty="0">
              <a:solidFill>
                <a:schemeClr val="bg2"/>
              </a:solidFill>
              <a:latin typeface="+mn-lt"/>
              <a:ea typeface="Arial"/>
              <a:cs typeface="Arial"/>
              <a:sym typeface="Arial"/>
            </a:endParaRPr>
          </a:p>
        </p:txBody>
      </p:sp>
      <p:sp>
        <p:nvSpPr>
          <p:cNvPr id="5" name="Google Shape;152;p22">
            <a:extLst>
              <a:ext uri="{FF2B5EF4-FFF2-40B4-BE49-F238E27FC236}">
                <a16:creationId xmlns:a16="http://schemas.microsoft.com/office/drawing/2014/main" id="{B8C73280-4863-3D94-A06E-AF1A80E10519}"/>
              </a:ext>
            </a:extLst>
          </p:cNvPr>
          <p:cNvSpPr txBox="1">
            <a:spLocks noGrp="1"/>
          </p:cNvSpPr>
          <p:nvPr>
            <p:ph type="title"/>
          </p:nvPr>
        </p:nvSpPr>
        <p:spPr>
          <a:xfrm>
            <a:off x="415599" y="38812"/>
            <a:ext cx="9381543"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6" name="Rectangle 5">
            <a:extLst>
              <a:ext uri="{FF2B5EF4-FFF2-40B4-BE49-F238E27FC236}">
                <a16:creationId xmlns:a16="http://schemas.microsoft.com/office/drawing/2014/main" id="{57B436D3-C200-3D4A-1F16-2895A5699F52}"/>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26"/>
          <p:cNvPicPr preferRelativeResize="0"/>
          <p:nvPr/>
        </p:nvPicPr>
        <p:blipFill rotWithShape="1">
          <a:blip r:embed="rId3">
            <a:alphaModFix/>
          </a:blip>
          <a:srcRect t="8884" b="54582"/>
          <a:stretch/>
        </p:blipFill>
        <p:spPr>
          <a:xfrm>
            <a:off x="263974" y="1729895"/>
            <a:ext cx="11409768" cy="2604654"/>
          </a:xfrm>
          <a:prstGeom prst="rect">
            <a:avLst/>
          </a:prstGeom>
          <a:noFill/>
          <a:ln>
            <a:noFill/>
          </a:ln>
        </p:spPr>
      </p:pic>
      <p:sp>
        <p:nvSpPr>
          <p:cNvPr id="189" name="Google Shape;189;p26"/>
          <p:cNvSpPr txBox="1"/>
          <p:nvPr/>
        </p:nvSpPr>
        <p:spPr>
          <a:xfrm>
            <a:off x="1304759" y="4256120"/>
            <a:ext cx="2060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Individual level</a:t>
            </a:r>
            <a:endParaRPr sz="2400" b="0" i="0" u="none" strike="noStrike" cap="none">
              <a:solidFill>
                <a:schemeClr val="dk1"/>
              </a:solidFill>
              <a:latin typeface="Calibri"/>
              <a:ea typeface="Calibri"/>
              <a:cs typeface="Calibri"/>
              <a:sym typeface="Calibri"/>
            </a:endParaRPr>
          </a:p>
        </p:txBody>
      </p:sp>
      <p:sp>
        <p:nvSpPr>
          <p:cNvPr id="190" name="Google Shape;190;p26"/>
          <p:cNvSpPr txBox="1"/>
          <p:nvPr/>
        </p:nvSpPr>
        <p:spPr>
          <a:xfrm>
            <a:off x="8663621" y="4243496"/>
            <a:ext cx="2289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Community level</a:t>
            </a:r>
            <a:endParaRPr sz="2400" b="0" i="0" u="none" strike="noStrike" cap="none">
              <a:solidFill>
                <a:schemeClr val="dk1"/>
              </a:solidFill>
              <a:latin typeface="Calibri"/>
              <a:ea typeface="Calibri"/>
              <a:cs typeface="Calibri"/>
              <a:sym typeface="Calibri"/>
            </a:endParaRPr>
          </a:p>
        </p:txBody>
      </p:sp>
      <p:pic>
        <p:nvPicPr>
          <p:cNvPr id="191" name="Google Shape;191;p26" descr="Deciduous tree with solid fill"/>
          <p:cNvPicPr preferRelativeResize="0"/>
          <p:nvPr/>
        </p:nvPicPr>
        <p:blipFill rotWithShape="1">
          <a:blip r:embed="rId4">
            <a:alphaModFix/>
          </a:blip>
          <a:srcRect/>
          <a:stretch/>
        </p:blipFill>
        <p:spPr>
          <a:xfrm>
            <a:off x="4548530" y="3075522"/>
            <a:ext cx="914400" cy="914400"/>
          </a:xfrm>
          <a:prstGeom prst="rect">
            <a:avLst/>
          </a:prstGeom>
          <a:noFill/>
          <a:ln>
            <a:noFill/>
          </a:ln>
        </p:spPr>
      </p:pic>
      <p:pic>
        <p:nvPicPr>
          <p:cNvPr id="192" name="Google Shape;192;p26" descr="Fir tree with solid fill"/>
          <p:cNvPicPr preferRelativeResize="0"/>
          <p:nvPr/>
        </p:nvPicPr>
        <p:blipFill rotWithShape="1">
          <a:blip r:embed="rId5">
            <a:alphaModFix/>
          </a:blip>
          <a:srcRect/>
          <a:stretch/>
        </p:blipFill>
        <p:spPr>
          <a:xfrm>
            <a:off x="6526845" y="1823356"/>
            <a:ext cx="914400" cy="914400"/>
          </a:xfrm>
          <a:prstGeom prst="rect">
            <a:avLst/>
          </a:prstGeom>
          <a:noFill/>
          <a:ln>
            <a:noFill/>
          </a:ln>
        </p:spPr>
      </p:pic>
      <p:pic>
        <p:nvPicPr>
          <p:cNvPr id="193" name="Google Shape;193;p26" descr="Deciduous tree with solid fill"/>
          <p:cNvPicPr preferRelativeResize="0"/>
          <p:nvPr/>
        </p:nvPicPr>
        <p:blipFill rotWithShape="1">
          <a:blip r:embed="rId4">
            <a:alphaModFix/>
          </a:blip>
          <a:srcRect/>
          <a:stretch/>
        </p:blipFill>
        <p:spPr>
          <a:xfrm>
            <a:off x="885195" y="3054235"/>
            <a:ext cx="914400" cy="914400"/>
          </a:xfrm>
          <a:prstGeom prst="rect">
            <a:avLst/>
          </a:prstGeom>
          <a:noFill/>
          <a:ln>
            <a:noFill/>
          </a:ln>
        </p:spPr>
      </p:pic>
      <p:pic>
        <p:nvPicPr>
          <p:cNvPr id="194" name="Google Shape;194;p26" descr="Fir tree with solid fill"/>
          <p:cNvPicPr preferRelativeResize="0"/>
          <p:nvPr/>
        </p:nvPicPr>
        <p:blipFill rotWithShape="1">
          <a:blip r:embed="rId5">
            <a:alphaModFix/>
          </a:blip>
          <a:srcRect/>
          <a:stretch/>
        </p:blipFill>
        <p:spPr>
          <a:xfrm>
            <a:off x="2863510" y="1802069"/>
            <a:ext cx="914400" cy="914400"/>
          </a:xfrm>
          <a:prstGeom prst="rect">
            <a:avLst/>
          </a:prstGeom>
          <a:noFill/>
          <a:ln>
            <a:noFill/>
          </a:ln>
        </p:spPr>
      </p:pic>
      <p:pic>
        <p:nvPicPr>
          <p:cNvPr id="195" name="Google Shape;195;p26" descr="Deciduous tree with solid fill"/>
          <p:cNvPicPr preferRelativeResize="0"/>
          <p:nvPr/>
        </p:nvPicPr>
        <p:blipFill rotWithShape="1">
          <a:blip r:embed="rId4">
            <a:alphaModFix/>
          </a:blip>
          <a:srcRect/>
          <a:stretch/>
        </p:blipFill>
        <p:spPr>
          <a:xfrm>
            <a:off x="8517137" y="3160629"/>
            <a:ext cx="914400" cy="914400"/>
          </a:xfrm>
          <a:prstGeom prst="rect">
            <a:avLst/>
          </a:prstGeom>
          <a:noFill/>
          <a:ln>
            <a:noFill/>
          </a:ln>
        </p:spPr>
      </p:pic>
      <p:pic>
        <p:nvPicPr>
          <p:cNvPr id="196" name="Google Shape;196;p26" descr="Fir tree with solid fill"/>
          <p:cNvPicPr preferRelativeResize="0"/>
          <p:nvPr/>
        </p:nvPicPr>
        <p:blipFill rotWithShape="1">
          <a:blip r:embed="rId5">
            <a:alphaModFix/>
          </a:blip>
          <a:srcRect/>
          <a:stretch/>
        </p:blipFill>
        <p:spPr>
          <a:xfrm>
            <a:off x="10495452" y="1908463"/>
            <a:ext cx="914400" cy="914400"/>
          </a:xfrm>
          <a:prstGeom prst="rect">
            <a:avLst/>
          </a:prstGeom>
          <a:noFill/>
          <a:ln>
            <a:noFill/>
          </a:ln>
        </p:spPr>
      </p:pic>
      <p:pic>
        <p:nvPicPr>
          <p:cNvPr id="197" name="Google Shape;197;p26"/>
          <p:cNvPicPr preferRelativeResize="0"/>
          <p:nvPr/>
        </p:nvPicPr>
        <p:blipFill rotWithShape="1">
          <a:blip r:embed="rId6">
            <a:alphaModFix amt="86000"/>
          </a:blip>
          <a:srcRect/>
          <a:stretch/>
        </p:blipFill>
        <p:spPr>
          <a:xfrm rot="-1974569">
            <a:off x="2233046" y="2408915"/>
            <a:ext cx="698762" cy="1801963"/>
          </a:xfrm>
          <a:prstGeom prst="rect">
            <a:avLst/>
          </a:prstGeom>
          <a:noFill/>
          <a:ln>
            <a:noFill/>
          </a:ln>
        </p:spPr>
      </p:pic>
      <p:pic>
        <p:nvPicPr>
          <p:cNvPr id="198" name="Google Shape;198;p26"/>
          <p:cNvPicPr preferRelativeResize="0"/>
          <p:nvPr/>
        </p:nvPicPr>
        <p:blipFill rotWithShape="1">
          <a:blip r:embed="rId6">
            <a:alphaModFix amt="86000"/>
          </a:blip>
          <a:srcRect/>
          <a:stretch/>
        </p:blipFill>
        <p:spPr>
          <a:xfrm rot="-1974569">
            <a:off x="5950480" y="2408915"/>
            <a:ext cx="698762" cy="1801963"/>
          </a:xfrm>
          <a:prstGeom prst="rect">
            <a:avLst/>
          </a:prstGeom>
          <a:noFill/>
          <a:ln>
            <a:noFill/>
          </a:ln>
        </p:spPr>
      </p:pic>
      <p:pic>
        <p:nvPicPr>
          <p:cNvPr id="199" name="Google Shape;199;p26"/>
          <p:cNvPicPr preferRelativeResize="0"/>
          <p:nvPr/>
        </p:nvPicPr>
        <p:blipFill rotWithShape="1">
          <a:blip r:embed="rId6">
            <a:alphaModFix amt="86000"/>
          </a:blip>
          <a:srcRect/>
          <a:stretch/>
        </p:blipFill>
        <p:spPr>
          <a:xfrm rot="-1974569">
            <a:off x="10234294" y="2527942"/>
            <a:ext cx="698762" cy="1801963"/>
          </a:xfrm>
          <a:prstGeom prst="rect">
            <a:avLst/>
          </a:prstGeom>
          <a:noFill/>
          <a:ln>
            <a:noFill/>
          </a:ln>
        </p:spPr>
      </p:pic>
      <p:sp>
        <p:nvSpPr>
          <p:cNvPr id="200" name="Google Shape;200;p26"/>
          <p:cNvSpPr txBox="1"/>
          <p:nvPr/>
        </p:nvSpPr>
        <p:spPr>
          <a:xfrm>
            <a:off x="4830456" y="4256120"/>
            <a:ext cx="2187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Population level</a:t>
            </a:r>
            <a:endParaRPr sz="2400" b="0" i="0" u="none" strike="noStrike" cap="none">
              <a:solidFill>
                <a:schemeClr val="dk1"/>
              </a:solidFill>
              <a:latin typeface="Calibri"/>
              <a:ea typeface="Calibri"/>
              <a:cs typeface="Calibri"/>
              <a:sym typeface="Calibri"/>
            </a:endParaRPr>
          </a:p>
        </p:txBody>
      </p:sp>
      <p:sp>
        <p:nvSpPr>
          <p:cNvPr id="201" name="Google Shape;201;p26"/>
          <p:cNvSpPr/>
          <p:nvPr/>
        </p:nvSpPr>
        <p:spPr>
          <a:xfrm rot="-5400000" flipH="1">
            <a:off x="5825375" y="337722"/>
            <a:ext cx="287100" cy="9642900"/>
          </a:xfrm>
          <a:prstGeom prst="upDownArrow">
            <a:avLst>
              <a:gd name="adj1" fmla="val 44737"/>
              <a:gd name="adj2" fmla="val 50000"/>
            </a:avLst>
          </a:prstGeom>
          <a:solidFill>
            <a:schemeClr val="accent2">
              <a:alpha val="5569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2" name="Google Shape;202;p26"/>
          <p:cNvSpPr txBox="1"/>
          <p:nvPr/>
        </p:nvSpPr>
        <p:spPr>
          <a:xfrm>
            <a:off x="2221764" y="5344258"/>
            <a:ext cx="79941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Interaction with the natural or human-mediated environment</a:t>
            </a:r>
            <a:endParaRPr sz="2400" b="0" i="0" u="none" strike="noStrike" cap="none">
              <a:solidFill>
                <a:schemeClr val="dk1"/>
              </a:solidFill>
              <a:latin typeface="Calibri"/>
              <a:ea typeface="Calibri"/>
              <a:cs typeface="Calibri"/>
              <a:sym typeface="Calibri"/>
            </a:endParaRPr>
          </a:p>
        </p:txBody>
      </p:sp>
      <p:sp>
        <p:nvSpPr>
          <p:cNvPr id="4" name="Google Shape;159;p23">
            <a:extLst>
              <a:ext uri="{FF2B5EF4-FFF2-40B4-BE49-F238E27FC236}">
                <a16:creationId xmlns:a16="http://schemas.microsoft.com/office/drawing/2014/main" id="{E072816F-8DB8-3EF1-D5A6-EABA7D32E143}"/>
              </a:ext>
            </a:extLst>
          </p:cNvPr>
          <p:cNvSpPr txBox="1"/>
          <p:nvPr/>
        </p:nvSpPr>
        <p:spPr>
          <a:xfrm>
            <a:off x="415599" y="763500"/>
            <a:ext cx="86139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Animal movements are building blocks of ecology across scales</a:t>
            </a:r>
            <a:endParaRPr sz="2400" i="0" u="none" strike="noStrike" cap="none" dirty="0">
              <a:solidFill>
                <a:schemeClr val="bg2"/>
              </a:solidFill>
              <a:latin typeface="+mn-lt"/>
              <a:ea typeface="Arial"/>
              <a:cs typeface="Arial"/>
              <a:sym typeface="Arial"/>
            </a:endParaRPr>
          </a:p>
        </p:txBody>
      </p:sp>
      <p:sp>
        <p:nvSpPr>
          <p:cNvPr id="5" name="Google Shape;152;p22">
            <a:extLst>
              <a:ext uri="{FF2B5EF4-FFF2-40B4-BE49-F238E27FC236}">
                <a16:creationId xmlns:a16="http://schemas.microsoft.com/office/drawing/2014/main" id="{AC8581F3-84A9-2117-2D59-E2BBC61982C9}"/>
              </a:ext>
            </a:extLst>
          </p:cNvPr>
          <p:cNvSpPr txBox="1">
            <a:spLocks noGrp="1"/>
          </p:cNvSpPr>
          <p:nvPr>
            <p:ph type="title"/>
          </p:nvPr>
        </p:nvSpPr>
        <p:spPr>
          <a:xfrm>
            <a:off x="415599" y="38812"/>
            <a:ext cx="9381543"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6" name="Rectangle 5">
            <a:extLst>
              <a:ext uri="{FF2B5EF4-FFF2-40B4-BE49-F238E27FC236}">
                <a16:creationId xmlns:a16="http://schemas.microsoft.com/office/drawing/2014/main" id="{5AD5791E-A47F-3C83-0E66-0CCE5AC9BE47}"/>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4" name="Google Shape;114;p19"/>
          <p:cNvPicPr preferRelativeResize="0"/>
          <p:nvPr/>
        </p:nvPicPr>
        <p:blipFill>
          <a:blip r:embed="rId3">
            <a:alphaModFix/>
          </a:blip>
          <a:srcRect t="14947"/>
          <a:stretch>
            <a:fillRect/>
          </a:stretch>
        </p:blipFill>
        <p:spPr>
          <a:xfrm>
            <a:off x="119743" y="1522499"/>
            <a:ext cx="11538219" cy="4419599"/>
          </a:xfrm>
          <a:prstGeom prst="rect">
            <a:avLst/>
          </a:prstGeom>
          <a:noFill/>
          <a:ln>
            <a:noFill/>
          </a:ln>
        </p:spPr>
      </p:pic>
      <p:sp>
        <p:nvSpPr>
          <p:cNvPr id="7" name="Rectangle 6">
            <a:extLst>
              <a:ext uri="{FF2B5EF4-FFF2-40B4-BE49-F238E27FC236}">
                <a16:creationId xmlns:a16="http://schemas.microsoft.com/office/drawing/2014/main" id="{77C1470D-6704-4129-9A21-3F1A3A81ED69}"/>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50F284C-4F62-F634-F1C3-497486990583}"/>
              </a:ext>
            </a:extLst>
          </p:cNvPr>
          <p:cNvSpPr txBox="1"/>
          <p:nvPr/>
        </p:nvSpPr>
        <p:spPr>
          <a:xfrm>
            <a:off x="8637814" y="5788209"/>
            <a:ext cx="2255746" cy="307777"/>
          </a:xfrm>
          <a:prstGeom prst="rect">
            <a:avLst/>
          </a:prstGeom>
          <a:noFill/>
        </p:spPr>
        <p:txBody>
          <a:bodyPr wrap="none" rtlCol="0">
            <a:spAutoFit/>
          </a:bodyPr>
          <a:lstStyle/>
          <a:p>
            <a:r>
              <a:rPr lang="en-US" dirty="0"/>
              <a:t>Kays, et al., 2015 </a:t>
            </a:r>
            <a:r>
              <a:rPr lang="en-US" i="1" dirty="0"/>
              <a:t>Science</a:t>
            </a:r>
          </a:p>
        </p:txBody>
      </p:sp>
      <p:sp>
        <p:nvSpPr>
          <p:cNvPr id="12" name="Google Shape;159;p23">
            <a:extLst>
              <a:ext uri="{FF2B5EF4-FFF2-40B4-BE49-F238E27FC236}">
                <a16:creationId xmlns:a16="http://schemas.microsoft.com/office/drawing/2014/main" id="{A6075A83-4925-F981-7E0F-267466BF01D6}"/>
              </a:ext>
            </a:extLst>
          </p:cNvPr>
          <p:cNvSpPr txBox="1"/>
          <p:nvPr/>
        </p:nvSpPr>
        <p:spPr>
          <a:xfrm>
            <a:off x="415598" y="747171"/>
            <a:ext cx="1128460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Animal movements can address global ecological and conservation questions</a:t>
            </a:r>
            <a:endParaRPr sz="2400" i="0" u="none" strike="noStrike" cap="none" dirty="0">
              <a:solidFill>
                <a:schemeClr val="bg2"/>
              </a:solidFill>
              <a:latin typeface="+mn-lt"/>
              <a:ea typeface="Arial"/>
              <a:cs typeface="Arial"/>
              <a:sym typeface="Arial"/>
            </a:endParaRPr>
          </a:p>
        </p:txBody>
      </p:sp>
      <p:sp>
        <p:nvSpPr>
          <p:cNvPr id="13" name="Google Shape;152;p22">
            <a:extLst>
              <a:ext uri="{FF2B5EF4-FFF2-40B4-BE49-F238E27FC236}">
                <a16:creationId xmlns:a16="http://schemas.microsoft.com/office/drawing/2014/main" id="{8C1FF938-B45B-18D2-3986-B96BCAD2533F}"/>
              </a:ext>
            </a:extLst>
          </p:cNvPr>
          <p:cNvSpPr txBox="1">
            <a:spLocks/>
          </p:cNvSpPr>
          <p:nvPr/>
        </p:nvSpPr>
        <p:spPr>
          <a:xfrm>
            <a:off x="415599" y="38812"/>
            <a:ext cx="9381543" cy="7635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1pPr>
            <a:lvl2pPr marR="0" lvl="1"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2pPr>
            <a:lvl3pPr marR="0" lvl="2"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3pPr>
            <a:lvl4pPr marR="0" lvl="3"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4pPr>
            <a:lvl5pPr marR="0" lvl="4"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5pPr>
            <a:lvl6pPr marR="0" lvl="5"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6pPr>
            <a:lvl7pPr marR="0" lvl="6"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7pPr>
            <a:lvl8pPr marR="0" lvl="7"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8pPr>
            <a:lvl9pPr marR="0" lvl="8" algn="l" rtl="0">
              <a:lnSpc>
                <a:spcPct val="100000"/>
              </a:lnSpc>
              <a:spcBef>
                <a:spcPts val="0"/>
              </a:spcBef>
              <a:spcAft>
                <a:spcPts val="0"/>
              </a:spcAft>
              <a:buClr>
                <a:schemeClr val="accent3"/>
              </a:buClr>
              <a:buSzPts val="4000"/>
              <a:buFont typeface="Alfa Slab One"/>
              <a:buNone/>
              <a:defRPr sz="4000" b="0" i="0" u="none" strike="noStrike" cap="none">
                <a:solidFill>
                  <a:schemeClr val="accent3"/>
                </a:solidFill>
                <a:latin typeface="Alfa Slab One"/>
                <a:ea typeface="Alfa Slab One"/>
                <a:cs typeface="Alfa Slab One"/>
                <a:sym typeface="Alfa Slab One"/>
              </a:defRPr>
            </a:lvl9pPr>
          </a:lstStyle>
          <a:p>
            <a:pPr>
              <a:buSzPts val="990"/>
            </a:pPr>
            <a:r>
              <a:rPr lang="en-US" b="1">
                <a:latin typeface="Aptos Black" panose="020B0004020202020204" pitchFamily="34" charset="0"/>
              </a:rPr>
              <a:t>Why care about animal movement?</a:t>
            </a:r>
            <a:endParaRPr lang="en-US" b="1" dirty="0">
              <a:latin typeface="Aptos Black" panose="020B00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2" name="Google Shape;212;p27"/>
          <p:cNvGrpSpPr/>
          <p:nvPr/>
        </p:nvGrpSpPr>
        <p:grpSpPr>
          <a:xfrm>
            <a:off x="5466113" y="1671871"/>
            <a:ext cx="5881032" cy="4871676"/>
            <a:chOff x="5804785" y="1164350"/>
            <a:chExt cx="6114786" cy="5482086"/>
          </a:xfrm>
        </p:grpSpPr>
        <p:pic>
          <p:nvPicPr>
            <p:cNvPr id="213" name="Google Shape;213;p27"/>
            <p:cNvPicPr preferRelativeResize="0"/>
            <p:nvPr/>
          </p:nvPicPr>
          <p:blipFill rotWithShape="1">
            <a:blip r:embed="rId3">
              <a:alphaModFix/>
            </a:blip>
            <a:srcRect b="36868"/>
            <a:stretch/>
          </p:blipFill>
          <p:spPr>
            <a:xfrm>
              <a:off x="5942413" y="2915343"/>
              <a:ext cx="5977158" cy="3731093"/>
            </a:xfrm>
            <a:prstGeom prst="rect">
              <a:avLst/>
            </a:prstGeom>
            <a:noFill/>
            <a:ln>
              <a:noFill/>
            </a:ln>
          </p:spPr>
        </p:pic>
        <p:pic>
          <p:nvPicPr>
            <p:cNvPr id="214" name="Google Shape;214;p27"/>
            <p:cNvPicPr preferRelativeResize="0"/>
            <p:nvPr/>
          </p:nvPicPr>
          <p:blipFill rotWithShape="1">
            <a:blip r:embed="rId4">
              <a:alphaModFix/>
            </a:blip>
            <a:srcRect/>
            <a:stretch/>
          </p:blipFill>
          <p:spPr>
            <a:xfrm>
              <a:off x="5804785" y="1164350"/>
              <a:ext cx="6114785" cy="1593549"/>
            </a:xfrm>
            <a:prstGeom prst="rect">
              <a:avLst/>
            </a:prstGeom>
            <a:noFill/>
            <a:ln>
              <a:noFill/>
            </a:ln>
          </p:spPr>
        </p:pic>
      </p:grpSp>
      <p:grpSp>
        <p:nvGrpSpPr>
          <p:cNvPr id="215" name="Google Shape;215;p27"/>
          <p:cNvGrpSpPr/>
          <p:nvPr/>
        </p:nvGrpSpPr>
        <p:grpSpPr>
          <a:xfrm>
            <a:off x="585256" y="1549483"/>
            <a:ext cx="4492930" cy="4871667"/>
            <a:chOff x="485139" y="1164350"/>
            <a:chExt cx="4865689" cy="5482086"/>
          </a:xfrm>
        </p:grpSpPr>
        <p:pic>
          <p:nvPicPr>
            <p:cNvPr id="216" name="Google Shape;216;p27"/>
            <p:cNvPicPr preferRelativeResize="0"/>
            <p:nvPr/>
          </p:nvPicPr>
          <p:blipFill rotWithShape="1">
            <a:blip r:embed="rId5">
              <a:alphaModFix/>
            </a:blip>
            <a:srcRect/>
            <a:stretch/>
          </p:blipFill>
          <p:spPr>
            <a:xfrm>
              <a:off x="736804" y="3767666"/>
              <a:ext cx="4614022" cy="2878770"/>
            </a:xfrm>
            <a:prstGeom prst="rect">
              <a:avLst/>
            </a:prstGeom>
            <a:noFill/>
            <a:ln>
              <a:noFill/>
            </a:ln>
          </p:spPr>
        </p:pic>
        <p:pic>
          <p:nvPicPr>
            <p:cNvPr id="217" name="Google Shape;217;p27"/>
            <p:cNvPicPr preferRelativeResize="0"/>
            <p:nvPr/>
          </p:nvPicPr>
          <p:blipFill rotWithShape="1">
            <a:blip r:embed="rId6">
              <a:alphaModFix/>
            </a:blip>
            <a:srcRect/>
            <a:stretch/>
          </p:blipFill>
          <p:spPr>
            <a:xfrm>
              <a:off x="485139" y="1164350"/>
              <a:ext cx="4865689" cy="2529761"/>
            </a:xfrm>
            <a:prstGeom prst="rect">
              <a:avLst/>
            </a:prstGeom>
            <a:noFill/>
            <a:ln>
              <a:noFill/>
            </a:ln>
          </p:spPr>
        </p:pic>
      </p:grpSp>
      <p:sp>
        <p:nvSpPr>
          <p:cNvPr id="4" name="Google Shape;159;p23">
            <a:extLst>
              <a:ext uri="{FF2B5EF4-FFF2-40B4-BE49-F238E27FC236}">
                <a16:creationId xmlns:a16="http://schemas.microsoft.com/office/drawing/2014/main" id="{A41C4A87-12B0-E58B-FC03-E47A919C5F0D}"/>
              </a:ext>
            </a:extLst>
          </p:cNvPr>
          <p:cNvSpPr txBox="1"/>
          <p:nvPr/>
        </p:nvSpPr>
        <p:spPr>
          <a:xfrm>
            <a:off x="415598" y="747171"/>
            <a:ext cx="1128460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Animal movements can address global ecological and conservation questions</a:t>
            </a:r>
            <a:endParaRPr sz="2400" i="0" u="none" strike="noStrike" cap="none" dirty="0">
              <a:solidFill>
                <a:schemeClr val="bg2"/>
              </a:solidFill>
              <a:latin typeface="+mn-lt"/>
              <a:ea typeface="Arial"/>
              <a:cs typeface="Arial"/>
              <a:sym typeface="Arial"/>
            </a:endParaRPr>
          </a:p>
        </p:txBody>
      </p:sp>
      <p:sp>
        <p:nvSpPr>
          <p:cNvPr id="5" name="Google Shape;152;p22">
            <a:extLst>
              <a:ext uri="{FF2B5EF4-FFF2-40B4-BE49-F238E27FC236}">
                <a16:creationId xmlns:a16="http://schemas.microsoft.com/office/drawing/2014/main" id="{8854BDF8-B557-9783-AD7F-5AC352EA7F3F}"/>
              </a:ext>
            </a:extLst>
          </p:cNvPr>
          <p:cNvSpPr txBox="1">
            <a:spLocks noGrp="1"/>
          </p:cNvSpPr>
          <p:nvPr>
            <p:ph type="title"/>
          </p:nvPr>
        </p:nvSpPr>
        <p:spPr>
          <a:xfrm>
            <a:off x="415599" y="38812"/>
            <a:ext cx="9381543"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6" name="Rectangle 5">
            <a:extLst>
              <a:ext uri="{FF2B5EF4-FFF2-40B4-BE49-F238E27FC236}">
                <a16:creationId xmlns:a16="http://schemas.microsoft.com/office/drawing/2014/main" id="{8741A9B2-D772-712D-8089-06555073B6D2}"/>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5" name="Google Shape;225;p28"/>
          <p:cNvPicPr preferRelativeResize="0"/>
          <p:nvPr/>
        </p:nvPicPr>
        <p:blipFill>
          <a:blip r:embed="rId3">
            <a:alphaModFix/>
          </a:blip>
          <a:stretch>
            <a:fillRect/>
          </a:stretch>
        </p:blipFill>
        <p:spPr>
          <a:xfrm>
            <a:off x="2006331" y="1955966"/>
            <a:ext cx="8179338" cy="3243249"/>
          </a:xfrm>
          <a:prstGeom prst="rect">
            <a:avLst/>
          </a:prstGeom>
          <a:noFill/>
          <a:ln>
            <a:noFill/>
          </a:ln>
        </p:spPr>
      </p:pic>
      <p:sp>
        <p:nvSpPr>
          <p:cNvPr id="4" name="Google Shape;152;p22">
            <a:extLst>
              <a:ext uri="{FF2B5EF4-FFF2-40B4-BE49-F238E27FC236}">
                <a16:creationId xmlns:a16="http://schemas.microsoft.com/office/drawing/2014/main" id="{5B073A7C-A53F-19D1-2513-E83F523D40F2}"/>
              </a:ext>
            </a:extLst>
          </p:cNvPr>
          <p:cNvSpPr txBox="1">
            <a:spLocks noGrp="1"/>
          </p:cNvSpPr>
          <p:nvPr>
            <p:ph type="title"/>
          </p:nvPr>
        </p:nvSpPr>
        <p:spPr>
          <a:xfrm>
            <a:off x="415599" y="38812"/>
            <a:ext cx="9381543"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b="1" dirty="0">
                <a:latin typeface="Aptos Black" panose="020B0004020202020204" pitchFamily="34" charset="0"/>
              </a:rPr>
              <a:t>Why care about animal movement</a:t>
            </a:r>
            <a:r>
              <a:rPr lang="en-US" sz="4000" b="1" dirty="0">
                <a:latin typeface="Aptos Black" panose="020B0004020202020204" pitchFamily="34" charset="0"/>
              </a:rPr>
              <a:t>?</a:t>
            </a:r>
            <a:endParaRPr sz="4000" b="1" dirty="0">
              <a:latin typeface="Aptos Black" panose="020B0004020202020204" pitchFamily="34" charset="0"/>
            </a:endParaRPr>
          </a:p>
        </p:txBody>
      </p:sp>
      <p:sp>
        <p:nvSpPr>
          <p:cNvPr id="5" name="Rectangle 4">
            <a:extLst>
              <a:ext uri="{FF2B5EF4-FFF2-40B4-BE49-F238E27FC236}">
                <a16:creationId xmlns:a16="http://schemas.microsoft.com/office/drawing/2014/main" id="{16617512-9FDA-77C1-2227-416E2005841A}"/>
              </a:ext>
            </a:extLst>
          </p:cNvPr>
          <p:cNvSpPr/>
          <p:nvPr/>
        </p:nvSpPr>
        <p:spPr>
          <a:xfrm>
            <a:off x="0" y="0"/>
            <a:ext cx="415600" cy="1143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159;p23">
            <a:extLst>
              <a:ext uri="{FF2B5EF4-FFF2-40B4-BE49-F238E27FC236}">
                <a16:creationId xmlns:a16="http://schemas.microsoft.com/office/drawing/2014/main" id="{42B4FA10-C25F-0A65-233D-55AFD8204E80}"/>
              </a:ext>
            </a:extLst>
          </p:cNvPr>
          <p:cNvSpPr txBox="1"/>
          <p:nvPr/>
        </p:nvSpPr>
        <p:spPr>
          <a:xfrm>
            <a:off x="415598" y="747171"/>
            <a:ext cx="1128460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dirty="0">
                <a:solidFill>
                  <a:schemeClr val="bg2"/>
                </a:solidFill>
                <a:latin typeface="+mn-lt"/>
              </a:rPr>
              <a:t>… and inform global conservation policies</a:t>
            </a:r>
            <a:endParaRPr sz="2400" i="0" u="none" strike="noStrike" cap="none" dirty="0">
              <a:solidFill>
                <a:schemeClr val="bg2"/>
              </a:solidFill>
              <a:latin typeface="+mn-lt"/>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2" name="Google Shape;232;p29"/>
          <p:cNvSpPr txBox="1">
            <a:spLocks noGrp="1"/>
          </p:cNvSpPr>
          <p:nvPr>
            <p:ph type="body" idx="1"/>
          </p:nvPr>
        </p:nvSpPr>
        <p:spPr>
          <a:xfrm>
            <a:off x="389386" y="5851788"/>
            <a:ext cx="7581900" cy="798300"/>
          </a:xfrm>
          <a:prstGeom prst="rect">
            <a:avLst/>
          </a:prstGeom>
        </p:spPr>
        <p:txBody>
          <a:bodyPr spcFirstLastPara="1" wrap="square" lIns="121900" tIns="121900" rIns="121900" bIns="121900" anchor="ctr" anchorCtr="0">
            <a:normAutofit/>
          </a:bodyPr>
          <a:lstStyle/>
          <a:p>
            <a:pPr marL="0" lvl="0" indent="0" algn="l" rtl="0">
              <a:spcBef>
                <a:spcPts val="0"/>
              </a:spcBef>
              <a:spcAft>
                <a:spcPts val="0"/>
              </a:spcAft>
              <a:buNone/>
            </a:pPr>
            <a:r>
              <a:rPr lang="en-US" sz="3200" b="1" dirty="0">
                <a:latin typeface="Aptos Black" panose="020B0004020202020204" pitchFamily="34" charset="0"/>
              </a:rPr>
              <a:t>Course Schedule</a:t>
            </a:r>
            <a:endParaRPr sz="3200" b="1" dirty="0">
              <a:latin typeface="Aptos Black" panose="020B0004020202020204" pitchFamily="34" charset="0"/>
            </a:endParaRPr>
          </a:p>
        </p:txBody>
      </p:sp>
      <p:graphicFrame>
        <p:nvGraphicFramePr>
          <p:cNvPr id="238" name="Google Shape;238;p29"/>
          <p:cNvGraphicFramePr/>
          <p:nvPr>
            <p:extLst>
              <p:ext uri="{D42A27DB-BD31-4B8C-83A1-F6EECF244321}">
                <p14:modId xmlns:p14="http://schemas.microsoft.com/office/powerpoint/2010/main" val="2791878156"/>
              </p:ext>
            </p:extLst>
          </p:nvPr>
        </p:nvGraphicFramePr>
        <p:xfrm>
          <a:off x="1608863" y="1102465"/>
          <a:ext cx="8974274" cy="1042295"/>
        </p:xfrm>
        <a:graphic>
          <a:graphicData uri="http://schemas.openxmlformats.org/drawingml/2006/table">
            <a:tbl>
              <a:tblPr>
                <a:noFill/>
                <a:tableStyleId>{D1531778-2F68-415F-B23B-7F697ECEBDDE}</a:tableStyleId>
              </a:tblPr>
              <a:tblGrid>
                <a:gridCol w="1341531">
                  <a:extLst>
                    <a:ext uri="{9D8B030D-6E8A-4147-A177-3AD203B41FA5}">
                      <a16:colId xmlns:a16="http://schemas.microsoft.com/office/drawing/2014/main" val="20000"/>
                    </a:ext>
                  </a:extLst>
                </a:gridCol>
                <a:gridCol w="954357">
                  <a:extLst>
                    <a:ext uri="{9D8B030D-6E8A-4147-A177-3AD203B41FA5}">
                      <a16:colId xmlns:a16="http://schemas.microsoft.com/office/drawing/2014/main" val="20001"/>
                    </a:ext>
                  </a:extLst>
                </a:gridCol>
                <a:gridCol w="6678386">
                  <a:extLst>
                    <a:ext uri="{9D8B030D-6E8A-4147-A177-3AD203B41FA5}">
                      <a16:colId xmlns:a16="http://schemas.microsoft.com/office/drawing/2014/main" val="20002"/>
                    </a:ext>
                  </a:extLst>
                </a:gridCol>
              </a:tblGrid>
              <a:tr h="381000">
                <a:tc rowSpan="2">
                  <a:txBody>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Jul 28</a:t>
                      </a:r>
                      <a:endParaRPr sz="1800" dirty="0">
                        <a:solidFill>
                          <a:schemeClr val="dk2"/>
                        </a:solidFill>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28600" lvl="0" indent="0" algn="l" rtl="0">
                        <a:spcBef>
                          <a:spcPts val="0"/>
                        </a:spcBef>
                        <a:spcAft>
                          <a:spcPts val="0"/>
                        </a:spcAft>
                        <a:buNone/>
                      </a:pPr>
                      <a:r>
                        <a:rPr lang="en-US" sz="1400" dirty="0">
                          <a:latin typeface="Proxima Nova"/>
                          <a:ea typeface="Proxima Nova"/>
                          <a:cs typeface="Proxima Nova"/>
                          <a:sym typeface="Proxima Nova"/>
                        </a:rPr>
                        <a:t>AM</a:t>
                      </a:r>
                      <a:endParaRPr sz="1400" dirty="0">
                        <a:latin typeface="Proxima Nova"/>
                        <a:ea typeface="Proxima Nova"/>
                        <a:cs typeface="Proxima Nova"/>
                        <a:sym typeface="Proxima Nova"/>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solidFill>
                      <a:srgbClr val="F7CAAC"/>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Introduction to movement ecology </a:t>
                      </a:r>
                      <a:endParaRPr sz="1800" b="1" dirty="0">
                        <a:latin typeface="Proxima Nova"/>
                        <a:ea typeface="Proxima Nova"/>
                        <a:cs typeface="Proxima Nova"/>
                        <a:sym typeface="Proxima Nova"/>
                      </a:endParaRPr>
                    </a:p>
                  </a:txBody>
                  <a:tcPr marL="91425" marR="91425" marT="91425" marB="91425">
                    <a:lnL w="9525" cap="flat" cmpd="sng">
                      <a:solidFill>
                        <a:schemeClr val="lt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extLst>
                  <a:ext uri="{0D108BD9-81ED-4DB2-BD59-A6C34878D82A}">
                    <a16:rowId xmlns:a16="http://schemas.microsoft.com/office/drawing/2014/main" val="10000"/>
                  </a:ext>
                </a:extLst>
              </a:tr>
              <a:tr h="585125">
                <a:tc vMerge="1">
                  <a:txBody>
                    <a:bodyPr/>
                    <a:lstStyle/>
                    <a:p>
                      <a:endParaRPr lang="en-US"/>
                    </a:p>
                  </a:txBody>
                  <a:tcPr/>
                </a:tc>
                <a:tc>
                  <a:txBody>
                    <a:bodyPr/>
                    <a:lstStyle/>
                    <a:p>
                      <a:pPr marL="228600" lvl="0" indent="0" algn="l" rtl="0">
                        <a:spcBef>
                          <a:spcPts val="0"/>
                        </a:spcBef>
                        <a:spcAft>
                          <a:spcPts val="0"/>
                        </a:spcAft>
                        <a:buNone/>
                      </a:pPr>
                      <a:r>
                        <a:rPr lang="en-US" sz="1400" dirty="0">
                          <a:latin typeface="Proxima Nova"/>
                          <a:ea typeface="Proxima Nova"/>
                          <a:cs typeface="Proxima Nova"/>
                          <a:sym typeface="Proxima Nova"/>
                        </a:rPr>
                        <a:t>PM</a:t>
                      </a:r>
                      <a:endParaRPr sz="1400" dirty="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Introduction to movement ecology </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bl>
          </a:graphicData>
        </a:graphic>
      </p:graphicFrame>
      <p:graphicFrame>
        <p:nvGraphicFramePr>
          <p:cNvPr id="239" name="Google Shape;239;p29"/>
          <p:cNvGraphicFramePr/>
          <p:nvPr>
            <p:extLst>
              <p:ext uri="{D42A27DB-BD31-4B8C-83A1-F6EECF244321}">
                <p14:modId xmlns:p14="http://schemas.microsoft.com/office/powerpoint/2010/main" val="1147174950"/>
              </p:ext>
            </p:extLst>
          </p:nvPr>
        </p:nvGraphicFramePr>
        <p:xfrm>
          <a:off x="1608863" y="2473754"/>
          <a:ext cx="8974275" cy="1188660"/>
        </p:xfrm>
        <a:graphic>
          <a:graphicData uri="http://schemas.openxmlformats.org/drawingml/2006/table">
            <a:tbl>
              <a:tblPr>
                <a:noFill/>
                <a:tableStyleId>{D1531778-2F68-415F-B23B-7F697ECEBDDE}</a:tableStyleId>
              </a:tblPr>
              <a:tblGrid>
                <a:gridCol w="1341531">
                  <a:extLst>
                    <a:ext uri="{9D8B030D-6E8A-4147-A177-3AD203B41FA5}">
                      <a16:colId xmlns:a16="http://schemas.microsoft.com/office/drawing/2014/main" val="20000"/>
                    </a:ext>
                  </a:extLst>
                </a:gridCol>
                <a:gridCol w="987013">
                  <a:extLst>
                    <a:ext uri="{9D8B030D-6E8A-4147-A177-3AD203B41FA5}">
                      <a16:colId xmlns:a16="http://schemas.microsoft.com/office/drawing/2014/main" val="20001"/>
                    </a:ext>
                  </a:extLst>
                </a:gridCol>
                <a:gridCol w="6645731">
                  <a:extLst>
                    <a:ext uri="{9D8B030D-6E8A-4147-A177-3AD203B41FA5}">
                      <a16:colId xmlns:a16="http://schemas.microsoft.com/office/drawing/2014/main" val="20002"/>
                    </a:ext>
                  </a:extLst>
                </a:gridCol>
              </a:tblGrid>
              <a:tr h="408700">
                <a:tc rowSpan="2">
                  <a:txBody>
                    <a:bodyPr/>
                    <a:lstStyle/>
                    <a:p>
                      <a:pPr marL="0" lvl="0" indent="0" algn="ctr" rtl="0">
                        <a:spcBef>
                          <a:spcPts val="0"/>
                        </a:spcBef>
                        <a:spcAft>
                          <a:spcPts val="0"/>
                        </a:spcAft>
                        <a:buNone/>
                      </a:pPr>
                      <a:r>
                        <a:rPr lang="en-US" sz="1600" dirty="0">
                          <a:solidFill>
                            <a:schemeClr val="dk2"/>
                          </a:solidFill>
                          <a:latin typeface="Proxima Nova"/>
                          <a:ea typeface="Proxima Nova"/>
                          <a:cs typeface="Proxima Nova"/>
                          <a:sym typeface="Proxima Nova"/>
                        </a:rPr>
                        <a:t>Jul 29</a:t>
                      </a:r>
                      <a:endParaRPr sz="1600" dirty="0">
                        <a:solidFill>
                          <a:schemeClr val="dk2"/>
                        </a:solidFill>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dirty="0">
                          <a:latin typeface="Proxima Nova"/>
                          <a:ea typeface="Proxima Nova"/>
                          <a:cs typeface="Proxima Nova"/>
                          <a:sym typeface="Proxima Nova"/>
                        </a:rPr>
                        <a:t>AM</a:t>
                      </a:r>
                      <a:endParaRPr dirty="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Movement metrics (discrete methods) + </a:t>
                      </a:r>
                      <a:br>
                        <a:rPr lang="en-US" sz="1800" b="1" dirty="0">
                          <a:latin typeface="Proxima Nova"/>
                          <a:ea typeface="Proxima Nova"/>
                          <a:cs typeface="Proxima Nova"/>
                          <a:sym typeface="Proxima Nova"/>
                        </a:rPr>
                      </a:br>
                      <a:r>
                        <a:rPr lang="en-US" sz="1800" b="1" dirty="0">
                          <a:latin typeface="Proxima Nova"/>
                          <a:ea typeface="Proxima Nova"/>
                          <a:cs typeface="Proxima Nova"/>
                          <a:sym typeface="Proxima Nova"/>
                        </a:rPr>
                        <a:t>introduction to continuous time movement model (CTMM) </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extLst>
                  <a:ext uri="{0D108BD9-81ED-4DB2-BD59-A6C34878D82A}">
                    <a16:rowId xmlns:a16="http://schemas.microsoft.com/office/drawing/2014/main" val="10000"/>
                  </a:ext>
                </a:extLst>
              </a:tr>
              <a:tr h="381000">
                <a:tc vMerge="1">
                  <a:txBody>
                    <a:bodyPr/>
                    <a:lstStyle/>
                    <a:p>
                      <a:endParaRPr lang="en-US"/>
                    </a:p>
                  </a:txBody>
                  <a:tcPr/>
                </a:tc>
                <a:tc>
                  <a:txBody>
                    <a:bodyPr/>
                    <a:lstStyle/>
                    <a:p>
                      <a:pPr marL="0" lvl="0" indent="0" algn="ctr" rtl="0">
                        <a:spcBef>
                          <a:spcPts val="0"/>
                        </a:spcBef>
                        <a:spcAft>
                          <a:spcPts val="0"/>
                        </a:spcAft>
                        <a:buNone/>
                      </a:pPr>
                      <a:r>
                        <a:rPr lang="en-US">
                          <a:latin typeface="Proxima Nova"/>
                          <a:ea typeface="Proxima Nova"/>
                          <a:cs typeface="Proxima Nova"/>
                          <a:sym typeface="Proxima Nova"/>
                        </a:rPr>
                        <a:t>PM</a:t>
                      </a:r>
                      <a:endParaRPr>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Movement metrics (CTMM-based methods)</a:t>
                      </a:r>
                      <a:endParaRPr sz="1800" b="1" dirty="0">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B43C91CE-8770-A386-FD56-5E9F13511973}"/>
              </a:ext>
            </a:extLst>
          </p:cNvPr>
          <p:cNvSpPr/>
          <p:nvPr/>
        </p:nvSpPr>
        <p:spPr>
          <a:xfrm>
            <a:off x="-35903" y="5638860"/>
            <a:ext cx="415600" cy="121914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Google Shape;248;p30">
            <a:extLst>
              <a:ext uri="{FF2B5EF4-FFF2-40B4-BE49-F238E27FC236}">
                <a16:creationId xmlns:a16="http://schemas.microsoft.com/office/drawing/2014/main" id="{8006CEEC-C1B7-4F71-09C3-530965006862}"/>
              </a:ext>
            </a:extLst>
          </p:cNvPr>
          <p:cNvGraphicFramePr/>
          <p:nvPr>
            <p:extLst>
              <p:ext uri="{D42A27DB-BD31-4B8C-83A1-F6EECF244321}">
                <p14:modId xmlns:p14="http://schemas.microsoft.com/office/powerpoint/2010/main" val="3019941671"/>
              </p:ext>
            </p:extLst>
          </p:nvPr>
        </p:nvGraphicFramePr>
        <p:xfrm>
          <a:off x="1608864" y="3991409"/>
          <a:ext cx="8974275" cy="1042295"/>
        </p:xfrm>
        <a:graphic>
          <a:graphicData uri="http://schemas.openxmlformats.org/drawingml/2006/table">
            <a:tbl>
              <a:tblPr>
                <a:noFill/>
                <a:tableStyleId>{D1531778-2F68-415F-B23B-7F697ECEBDDE}</a:tableStyleId>
              </a:tblPr>
              <a:tblGrid>
                <a:gridCol w="1341531">
                  <a:extLst>
                    <a:ext uri="{9D8B030D-6E8A-4147-A177-3AD203B41FA5}">
                      <a16:colId xmlns:a16="http://schemas.microsoft.com/office/drawing/2014/main" val="20000"/>
                    </a:ext>
                  </a:extLst>
                </a:gridCol>
                <a:gridCol w="828746">
                  <a:extLst>
                    <a:ext uri="{9D8B030D-6E8A-4147-A177-3AD203B41FA5}">
                      <a16:colId xmlns:a16="http://schemas.microsoft.com/office/drawing/2014/main" val="20001"/>
                    </a:ext>
                  </a:extLst>
                </a:gridCol>
                <a:gridCol w="6803998">
                  <a:extLst>
                    <a:ext uri="{9D8B030D-6E8A-4147-A177-3AD203B41FA5}">
                      <a16:colId xmlns:a16="http://schemas.microsoft.com/office/drawing/2014/main" val="20002"/>
                    </a:ext>
                  </a:extLst>
                </a:gridCol>
              </a:tblGrid>
              <a:tr h="428353">
                <a:tc rowSpan="2">
                  <a:txBody>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Jul 30</a:t>
                      </a:r>
                      <a:endParaRPr sz="1800" dirty="0">
                        <a:solidFill>
                          <a:schemeClr val="dk2"/>
                        </a:solidFill>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171450" marR="0" lvl="0" indent="0" algn="ctr" rtl="0">
                        <a:spcBef>
                          <a:spcPts val="0"/>
                        </a:spcBef>
                        <a:spcAft>
                          <a:spcPts val="0"/>
                        </a:spcAft>
                        <a:buNone/>
                      </a:pPr>
                      <a:r>
                        <a:rPr lang="en-US" sz="1600">
                          <a:latin typeface="Proxima Nova"/>
                          <a:ea typeface="Proxima Nova"/>
                          <a:cs typeface="Proxima Nova"/>
                          <a:sym typeface="Proxima Nova"/>
                        </a:rPr>
                        <a:t>AM</a:t>
                      </a:r>
                      <a:endParaRPr sz="16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tc>
                  <a:txBody>
                    <a:bodyPr/>
                    <a:lstStyle/>
                    <a:p>
                      <a:pPr marL="228600" lvl="0" indent="0" algn="l" rtl="0">
                        <a:spcBef>
                          <a:spcPts val="0"/>
                        </a:spcBef>
                        <a:spcAft>
                          <a:spcPts val="0"/>
                        </a:spcAft>
                        <a:buNone/>
                      </a:pPr>
                      <a:r>
                        <a:rPr lang="en-US" sz="1800" b="1" dirty="0">
                          <a:solidFill>
                            <a:schemeClr val="accent6"/>
                          </a:solidFill>
                          <a:latin typeface="Proxima Nova"/>
                          <a:ea typeface="Proxima Nova"/>
                          <a:cs typeface="Proxima Nova"/>
                          <a:sym typeface="Proxima Nova"/>
                        </a:rPr>
                        <a:t>FIELD TRIP!</a:t>
                      </a:r>
                      <a:endParaRPr sz="1800" b="1" dirty="0">
                        <a:solidFill>
                          <a:schemeClr val="accent6"/>
                        </a:solidFill>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extLst>
                  <a:ext uri="{0D108BD9-81ED-4DB2-BD59-A6C34878D82A}">
                    <a16:rowId xmlns:a16="http://schemas.microsoft.com/office/drawing/2014/main" val="10000"/>
                  </a:ext>
                </a:extLst>
              </a:tr>
              <a:tr h="585125">
                <a:tc vMerge="1">
                  <a:txBody>
                    <a:bodyPr/>
                    <a:lstStyle/>
                    <a:p>
                      <a:endParaRPr lang="en-US"/>
                    </a:p>
                  </a:txBody>
                  <a:tcPr/>
                </a:tc>
                <a:tc>
                  <a:txBody>
                    <a:bodyPr/>
                    <a:lstStyle/>
                    <a:p>
                      <a:pPr marL="171450" marR="0" lvl="0" indent="0" algn="ctr" rtl="0">
                        <a:spcBef>
                          <a:spcPts val="0"/>
                        </a:spcBef>
                        <a:spcAft>
                          <a:spcPts val="0"/>
                        </a:spcAft>
                        <a:buNone/>
                      </a:pPr>
                      <a:r>
                        <a:rPr lang="en-US" sz="1600">
                          <a:latin typeface="Proxima Nova"/>
                          <a:ea typeface="Proxima Nova"/>
                          <a:cs typeface="Proxima Nova"/>
                          <a:sym typeface="Proxima Nova"/>
                        </a:rPr>
                        <a:t>PM</a:t>
                      </a:r>
                      <a:endParaRPr sz="16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tc>
                  <a:txBody>
                    <a:bodyPr/>
                    <a:lstStyle/>
                    <a:p>
                      <a:pPr marL="228600" lvl="0" indent="0" algn="l" rtl="0">
                        <a:spcBef>
                          <a:spcPts val="0"/>
                        </a:spcBef>
                        <a:spcAft>
                          <a:spcPts val="0"/>
                        </a:spcAft>
                        <a:buNone/>
                      </a:pPr>
                      <a:r>
                        <a:rPr lang="en-US" sz="1800" b="1" dirty="0">
                          <a:latin typeface="Proxima Nova"/>
                          <a:ea typeface="Proxima Nova"/>
                          <a:cs typeface="Proxima Nova"/>
                          <a:sym typeface="Proxima Nova"/>
                        </a:rPr>
                        <a:t>Occurrence &amp; home range</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 name="Rectangle 1">
            <a:extLst>
              <a:ext uri="{FF2B5EF4-FFF2-40B4-BE49-F238E27FC236}">
                <a16:creationId xmlns:a16="http://schemas.microsoft.com/office/drawing/2014/main" id="{1ADC61F9-1DA0-D184-6C3D-AA009CC55CBA}"/>
              </a:ext>
            </a:extLst>
          </p:cNvPr>
          <p:cNvSpPr/>
          <p:nvPr/>
        </p:nvSpPr>
        <p:spPr>
          <a:xfrm>
            <a:off x="-35903" y="5638860"/>
            <a:ext cx="415600" cy="121914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232;p29">
            <a:extLst>
              <a:ext uri="{FF2B5EF4-FFF2-40B4-BE49-F238E27FC236}">
                <a16:creationId xmlns:a16="http://schemas.microsoft.com/office/drawing/2014/main" id="{4E89E6DE-0AF4-C15C-3707-DBA323C984DB}"/>
              </a:ext>
            </a:extLst>
          </p:cNvPr>
          <p:cNvSpPr txBox="1">
            <a:spLocks/>
          </p:cNvSpPr>
          <p:nvPr/>
        </p:nvSpPr>
        <p:spPr>
          <a:xfrm>
            <a:off x="389386" y="5851788"/>
            <a:ext cx="7581900" cy="798300"/>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accent3"/>
              </a:buClr>
              <a:buSzPts val="2400"/>
              <a:buFont typeface="Alfa Slab One"/>
              <a:buNone/>
              <a:defRPr sz="2400" b="0" i="0" u="none" strike="noStrike" cap="none">
                <a:solidFill>
                  <a:schemeClr val="accent3"/>
                </a:solidFill>
                <a:latin typeface="Alfa Slab One"/>
                <a:ea typeface="Alfa Slab One"/>
                <a:cs typeface="Alfa Slab One"/>
                <a:sym typeface="Alfa Slab One"/>
              </a:defRPr>
            </a:lvl1pPr>
            <a:lvl2pPr marL="914400" marR="0" lvl="1"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2pPr>
            <a:lvl3pPr marL="1371600" marR="0" lvl="2"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3pPr>
            <a:lvl4pPr marL="1828800" marR="0" lvl="3"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4pPr>
            <a:lvl5pPr marL="2286000" marR="0" lvl="4"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5pPr>
            <a:lvl6pPr marL="2743200" marR="0" lvl="5"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6pPr>
            <a:lvl7pPr marL="3200400" marR="0" lvl="6"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7pPr>
            <a:lvl8pPr marL="3657600" marR="0" lvl="7"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8pPr>
            <a:lvl9pPr marL="4114800" marR="0" lvl="8"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9pPr>
          </a:lstStyle>
          <a:p>
            <a:pPr marL="0" indent="0"/>
            <a:r>
              <a:rPr lang="en-US" sz="3200" b="1">
                <a:latin typeface="Aptos Black" panose="020B0004020202020204" pitchFamily="34" charset="0"/>
              </a:rPr>
              <a:t>Course Schedule</a:t>
            </a:r>
            <a:endParaRPr lang="en-US" sz="3200" b="1" dirty="0">
              <a:latin typeface="Aptos Black" panose="020B0004020202020204" pitchFamily="34" charset="0"/>
            </a:endParaRPr>
          </a:p>
        </p:txBody>
      </p:sp>
      <p:graphicFrame>
        <p:nvGraphicFramePr>
          <p:cNvPr id="8" name="Google Shape;238;p29">
            <a:extLst>
              <a:ext uri="{FF2B5EF4-FFF2-40B4-BE49-F238E27FC236}">
                <a16:creationId xmlns:a16="http://schemas.microsoft.com/office/drawing/2014/main" id="{399E88FE-6D2A-309E-DF27-ECC48CEF8D1C}"/>
              </a:ext>
            </a:extLst>
          </p:cNvPr>
          <p:cNvGraphicFramePr/>
          <p:nvPr>
            <p:extLst>
              <p:ext uri="{D42A27DB-BD31-4B8C-83A1-F6EECF244321}">
                <p14:modId xmlns:p14="http://schemas.microsoft.com/office/powerpoint/2010/main" val="1735491353"/>
              </p:ext>
            </p:extLst>
          </p:nvPr>
        </p:nvGraphicFramePr>
        <p:xfrm>
          <a:off x="1608863" y="1102465"/>
          <a:ext cx="8974274" cy="1042295"/>
        </p:xfrm>
        <a:graphic>
          <a:graphicData uri="http://schemas.openxmlformats.org/drawingml/2006/table">
            <a:tbl>
              <a:tblPr>
                <a:noFill/>
                <a:tableStyleId>{D1531778-2F68-415F-B23B-7F697ECEBDDE}</a:tableStyleId>
              </a:tblPr>
              <a:tblGrid>
                <a:gridCol w="1341531">
                  <a:extLst>
                    <a:ext uri="{9D8B030D-6E8A-4147-A177-3AD203B41FA5}">
                      <a16:colId xmlns:a16="http://schemas.microsoft.com/office/drawing/2014/main" val="20000"/>
                    </a:ext>
                  </a:extLst>
                </a:gridCol>
                <a:gridCol w="954357">
                  <a:extLst>
                    <a:ext uri="{9D8B030D-6E8A-4147-A177-3AD203B41FA5}">
                      <a16:colId xmlns:a16="http://schemas.microsoft.com/office/drawing/2014/main" val="20001"/>
                    </a:ext>
                  </a:extLst>
                </a:gridCol>
                <a:gridCol w="6678386">
                  <a:extLst>
                    <a:ext uri="{9D8B030D-6E8A-4147-A177-3AD203B41FA5}">
                      <a16:colId xmlns:a16="http://schemas.microsoft.com/office/drawing/2014/main" val="20002"/>
                    </a:ext>
                  </a:extLst>
                </a:gridCol>
              </a:tblGrid>
              <a:tr h="381000">
                <a:tc rowSpan="2">
                  <a:txBody>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Jul 31</a:t>
                      </a:r>
                      <a:endParaRPr sz="1800" dirty="0">
                        <a:solidFill>
                          <a:schemeClr val="dk2"/>
                        </a:solidFill>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28600" lvl="0" indent="0" algn="l" rtl="0">
                        <a:spcBef>
                          <a:spcPts val="0"/>
                        </a:spcBef>
                        <a:spcAft>
                          <a:spcPts val="0"/>
                        </a:spcAft>
                        <a:buNone/>
                      </a:pPr>
                      <a:r>
                        <a:rPr lang="en-US" sz="1400" dirty="0">
                          <a:latin typeface="Proxima Nova"/>
                          <a:ea typeface="Proxima Nova"/>
                          <a:cs typeface="Proxima Nova"/>
                          <a:sym typeface="Proxima Nova"/>
                        </a:rPr>
                        <a:t>AM</a:t>
                      </a:r>
                      <a:endParaRPr sz="1400" dirty="0">
                        <a:latin typeface="Proxima Nova"/>
                        <a:ea typeface="Proxima Nova"/>
                        <a:cs typeface="Proxima Nova"/>
                        <a:sym typeface="Proxima Nova"/>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solidFill>
                      <a:srgbClr val="F7CAAC"/>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Behavioral Inferences (discrete methods)</a:t>
                      </a:r>
                      <a:endParaRPr sz="1800" dirty="0">
                        <a:latin typeface="Proxima Nova"/>
                        <a:ea typeface="Proxima Nova"/>
                        <a:cs typeface="Proxima Nova"/>
                        <a:sym typeface="Proxima Nova"/>
                      </a:endParaRPr>
                    </a:p>
                  </a:txBody>
                  <a:tcPr marL="91425" marR="91425" marT="91425" marB="91425">
                    <a:lnL w="9525" cap="flat" cmpd="sng">
                      <a:solidFill>
                        <a:schemeClr val="lt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extLst>
                  <a:ext uri="{0D108BD9-81ED-4DB2-BD59-A6C34878D82A}">
                    <a16:rowId xmlns:a16="http://schemas.microsoft.com/office/drawing/2014/main" val="10000"/>
                  </a:ext>
                </a:extLst>
              </a:tr>
              <a:tr h="585125">
                <a:tc vMerge="1">
                  <a:txBody>
                    <a:bodyPr/>
                    <a:lstStyle/>
                    <a:p>
                      <a:endParaRPr lang="en-US"/>
                    </a:p>
                  </a:txBody>
                  <a:tcPr/>
                </a:tc>
                <a:tc>
                  <a:txBody>
                    <a:bodyPr/>
                    <a:lstStyle/>
                    <a:p>
                      <a:pPr marL="228600" lvl="0" indent="0" algn="l" rtl="0">
                        <a:spcBef>
                          <a:spcPts val="0"/>
                        </a:spcBef>
                        <a:spcAft>
                          <a:spcPts val="0"/>
                        </a:spcAft>
                        <a:buNone/>
                      </a:pPr>
                      <a:r>
                        <a:rPr lang="en-US" sz="1400" dirty="0">
                          <a:latin typeface="Proxima Nova"/>
                          <a:ea typeface="Proxima Nova"/>
                          <a:cs typeface="Proxima Nova"/>
                          <a:sym typeface="Proxima Nova"/>
                        </a:rPr>
                        <a:t>PM</a:t>
                      </a:r>
                      <a:endParaRPr sz="1400" dirty="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Behavioral Inferences (Continuous-time methods)</a:t>
                      </a:r>
                      <a:endParaRPr sz="1800" dirty="0">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bl>
          </a:graphicData>
        </a:graphic>
      </p:graphicFrame>
      <p:graphicFrame>
        <p:nvGraphicFramePr>
          <p:cNvPr id="9" name="Google Shape;239;p29">
            <a:extLst>
              <a:ext uri="{FF2B5EF4-FFF2-40B4-BE49-F238E27FC236}">
                <a16:creationId xmlns:a16="http://schemas.microsoft.com/office/drawing/2014/main" id="{79814977-1D48-EC32-A170-36EF1EE24EDD}"/>
              </a:ext>
            </a:extLst>
          </p:cNvPr>
          <p:cNvGraphicFramePr/>
          <p:nvPr>
            <p:extLst>
              <p:ext uri="{D42A27DB-BD31-4B8C-83A1-F6EECF244321}">
                <p14:modId xmlns:p14="http://schemas.microsoft.com/office/powerpoint/2010/main" val="3399955448"/>
              </p:ext>
            </p:extLst>
          </p:nvPr>
        </p:nvGraphicFramePr>
        <p:xfrm>
          <a:off x="1608864" y="2619896"/>
          <a:ext cx="8974275" cy="914340"/>
        </p:xfrm>
        <a:graphic>
          <a:graphicData uri="http://schemas.openxmlformats.org/drawingml/2006/table">
            <a:tbl>
              <a:tblPr>
                <a:noFill/>
                <a:tableStyleId>{D1531778-2F68-415F-B23B-7F697ECEBDDE}</a:tableStyleId>
              </a:tblPr>
              <a:tblGrid>
                <a:gridCol w="1341531">
                  <a:extLst>
                    <a:ext uri="{9D8B030D-6E8A-4147-A177-3AD203B41FA5}">
                      <a16:colId xmlns:a16="http://schemas.microsoft.com/office/drawing/2014/main" val="20000"/>
                    </a:ext>
                  </a:extLst>
                </a:gridCol>
                <a:gridCol w="987013">
                  <a:extLst>
                    <a:ext uri="{9D8B030D-6E8A-4147-A177-3AD203B41FA5}">
                      <a16:colId xmlns:a16="http://schemas.microsoft.com/office/drawing/2014/main" val="20001"/>
                    </a:ext>
                  </a:extLst>
                </a:gridCol>
                <a:gridCol w="6645731">
                  <a:extLst>
                    <a:ext uri="{9D8B030D-6E8A-4147-A177-3AD203B41FA5}">
                      <a16:colId xmlns:a16="http://schemas.microsoft.com/office/drawing/2014/main" val="20002"/>
                    </a:ext>
                  </a:extLst>
                </a:gridCol>
              </a:tblGrid>
              <a:tr h="408700">
                <a:tc rowSpan="2">
                  <a:txBody>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Aug 1</a:t>
                      </a:r>
                      <a:endParaRPr sz="1800" dirty="0">
                        <a:solidFill>
                          <a:schemeClr val="dk2"/>
                        </a:solidFill>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dirty="0">
                          <a:latin typeface="Proxima Nova"/>
                          <a:ea typeface="Proxima Nova"/>
                          <a:cs typeface="Proxima Nova"/>
                          <a:sym typeface="Proxima Nova"/>
                        </a:rPr>
                        <a:t>AM</a:t>
                      </a:r>
                      <a:endParaRPr dirty="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Environmental annotation &amp; Hidden Markov Models</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extLst>
                  <a:ext uri="{0D108BD9-81ED-4DB2-BD59-A6C34878D82A}">
                    <a16:rowId xmlns:a16="http://schemas.microsoft.com/office/drawing/2014/main" val="10000"/>
                  </a:ext>
                </a:extLst>
              </a:tr>
              <a:tr h="381000">
                <a:tc vMerge="1">
                  <a:txBody>
                    <a:bodyPr/>
                    <a:lstStyle/>
                    <a:p>
                      <a:endParaRPr lang="en-US"/>
                    </a:p>
                  </a:txBody>
                  <a:tcPr/>
                </a:tc>
                <a:tc>
                  <a:txBody>
                    <a:bodyPr/>
                    <a:lstStyle/>
                    <a:p>
                      <a:pPr marL="0" lvl="0" indent="0" algn="ctr" rtl="0">
                        <a:spcBef>
                          <a:spcPts val="0"/>
                        </a:spcBef>
                        <a:spcAft>
                          <a:spcPts val="0"/>
                        </a:spcAft>
                        <a:buNone/>
                      </a:pPr>
                      <a:r>
                        <a:rPr lang="en-US">
                          <a:latin typeface="Proxima Nova"/>
                          <a:ea typeface="Proxima Nova"/>
                          <a:cs typeface="Proxima Nova"/>
                          <a:sym typeface="Proxima Nova"/>
                        </a:rPr>
                        <a:t>PM</a:t>
                      </a:r>
                      <a:endParaRPr>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tc>
                  <a:txBody>
                    <a:bodyPr/>
                    <a:lstStyle/>
                    <a:p>
                      <a:pPr marL="0" lvl="0" indent="0" algn="l" rtl="0">
                        <a:spcBef>
                          <a:spcPts val="0"/>
                        </a:spcBef>
                        <a:spcAft>
                          <a:spcPts val="0"/>
                        </a:spcAft>
                        <a:buNone/>
                      </a:pPr>
                      <a:r>
                        <a:rPr lang="en-US" sz="1800" b="1" dirty="0">
                          <a:latin typeface="Proxima Nova"/>
                          <a:ea typeface="Proxima Nova"/>
                          <a:cs typeface="Proxima Nova"/>
                          <a:sym typeface="Proxima Nova"/>
                        </a:rPr>
                        <a:t>CTMM location error</a:t>
                      </a:r>
                      <a:endParaRPr sz="1800" b="1" dirty="0">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bl>
          </a:graphicData>
        </a:graphic>
      </p:graphicFrame>
      <p:graphicFrame>
        <p:nvGraphicFramePr>
          <p:cNvPr id="10" name="Google Shape;248;p30">
            <a:extLst>
              <a:ext uri="{FF2B5EF4-FFF2-40B4-BE49-F238E27FC236}">
                <a16:creationId xmlns:a16="http://schemas.microsoft.com/office/drawing/2014/main" id="{E598FA23-8C96-1D1E-89A1-725B95E700E5}"/>
              </a:ext>
            </a:extLst>
          </p:cNvPr>
          <p:cNvGraphicFramePr/>
          <p:nvPr>
            <p:extLst>
              <p:ext uri="{D42A27DB-BD31-4B8C-83A1-F6EECF244321}">
                <p14:modId xmlns:p14="http://schemas.microsoft.com/office/powerpoint/2010/main" val="1558476371"/>
              </p:ext>
            </p:extLst>
          </p:nvPr>
        </p:nvGraphicFramePr>
        <p:xfrm>
          <a:off x="1608863" y="3941164"/>
          <a:ext cx="8974275" cy="1042295"/>
        </p:xfrm>
        <a:graphic>
          <a:graphicData uri="http://schemas.openxmlformats.org/drawingml/2006/table">
            <a:tbl>
              <a:tblPr>
                <a:noFill/>
                <a:tableStyleId>{D1531778-2F68-415F-B23B-7F697ECEBDDE}</a:tableStyleId>
              </a:tblPr>
              <a:tblGrid>
                <a:gridCol w="1341531">
                  <a:extLst>
                    <a:ext uri="{9D8B030D-6E8A-4147-A177-3AD203B41FA5}">
                      <a16:colId xmlns:a16="http://schemas.microsoft.com/office/drawing/2014/main" val="20000"/>
                    </a:ext>
                  </a:extLst>
                </a:gridCol>
                <a:gridCol w="828746">
                  <a:extLst>
                    <a:ext uri="{9D8B030D-6E8A-4147-A177-3AD203B41FA5}">
                      <a16:colId xmlns:a16="http://schemas.microsoft.com/office/drawing/2014/main" val="20001"/>
                    </a:ext>
                  </a:extLst>
                </a:gridCol>
                <a:gridCol w="6803998">
                  <a:extLst>
                    <a:ext uri="{9D8B030D-6E8A-4147-A177-3AD203B41FA5}">
                      <a16:colId xmlns:a16="http://schemas.microsoft.com/office/drawing/2014/main" val="20002"/>
                    </a:ext>
                  </a:extLst>
                </a:gridCol>
              </a:tblGrid>
              <a:tr h="428353">
                <a:tc rowSpan="2">
                  <a:txBody>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Aug 2</a:t>
                      </a:r>
                      <a:endParaRPr sz="1800" dirty="0">
                        <a:solidFill>
                          <a:schemeClr val="dk2"/>
                        </a:solidFill>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171450" marR="0" lvl="0" indent="0" algn="ctr" rtl="0">
                        <a:spcBef>
                          <a:spcPts val="0"/>
                        </a:spcBef>
                        <a:spcAft>
                          <a:spcPts val="0"/>
                        </a:spcAft>
                        <a:buNone/>
                      </a:pPr>
                      <a:r>
                        <a:rPr lang="en-US" sz="1600">
                          <a:latin typeface="Proxima Nova"/>
                          <a:ea typeface="Proxima Nova"/>
                          <a:cs typeface="Proxima Nova"/>
                          <a:sym typeface="Proxima Nova"/>
                        </a:rPr>
                        <a:t>AM</a:t>
                      </a:r>
                      <a:endParaRPr sz="16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tc>
                  <a:txBody>
                    <a:bodyPr/>
                    <a:lstStyle/>
                    <a:p>
                      <a:pPr marL="228600" lvl="0" indent="0" algn="l" rtl="0">
                        <a:spcBef>
                          <a:spcPts val="0"/>
                        </a:spcBef>
                        <a:spcAft>
                          <a:spcPts val="0"/>
                        </a:spcAft>
                        <a:buNone/>
                      </a:pPr>
                      <a:r>
                        <a:rPr lang="en-US" sz="1800" b="1" dirty="0">
                          <a:latin typeface="Proxima Nova"/>
                          <a:ea typeface="Proxima Nova"/>
                          <a:cs typeface="Proxima Nova"/>
                          <a:sym typeface="Proxima Nova"/>
                        </a:rPr>
                        <a:t>Resource &amp; step selection </a:t>
                      </a:r>
                      <a:endParaRPr sz="1800" b="1" dirty="0">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7CAAC"/>
                    </a:solidFill>
                  </a:tcPr>
                </a:tc>
                <a:extLst>
                  <a:ext uri="{0D108BD9-81ED-4DB2-BD59-A6C34878D82A}">
                    <a16:rowId xmlns:a16="http://schemas.microsoft.com/office/drawing/2014/main" val="10000"/>
                  </a:ext>
                </a:extLst>
              </a:tr>
              <a:tr h="585125">
                <a:tc vMerge="1">
                  <a:txBody>
                    <a:bodyPr/>
                    <a:lstStyle/>
                    <a:p>
                      <a:endParaRPr lang="en-US"/>
                    </a:p>
                  </a:txBody>
                  <a:tcPr/>
                </a:tc>
                <a:tc>
                  <a:txBody>
                    <a:bodyPr/>
                    <a:lstStyle/>
                    <a:p>
                      <a:pPr marL="171450" marR="0" lvl="0" indent="0" algn="ctr" rtl="0">
                        <a:spcBef>
                          <a:spcPts val="0"/>
                        </a:spcBef>
                        <a:spcAft>
                          <a:spcPts val="0"/>
                        </a:spcAft>
                        <a:buNone/>
                      </a:pPr>
                      <a:r>
                        <a:rPr lang="en-US" sz="1600">
                          <a:latin typeface="Proxima Nova"/>
                          <a:ea typeface="Proxima Nova"/>
                          <a:cs typeface="Proxima Nova"/>
                          <a:sym typeface="Proxima Nova"/>
                        </a:rPr>
                        <a:t>PM</a:t>
                      </a:r>
                      <a:endParaRPr sz="16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tc>
                  <a:txBody>
                    <a:bodyPr/>
                    <a:lstStyle/>
                    <a:p>
                      <a:pPr marL="228600" lvl="0" indent="0" algn="l" rtl="0">
                        <a:spcBef>
                          <a:spcPts val="0"/>
                        </a:spcBef>
                        <a:spcAft>
                          <a:spcPts val="0"/>
                        </a:spcAft>
                        <a:buNone/>
                      </a:pPr>
                      <a:r>
                        <a:rPr lang="en-US" sz="1800" b="0" dirty="0">
                          <a:latin typeface="Proxima Nova"/>
                          <a:ea typeface="Proxima Nova"/>
                          <a:cs typeface="Proxima Nova"/>
                          <a:sym typeface="Proxima Nova"/>
                        </a:rPr>
                        <a:t>Practice time</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5">
          <a:extLst>
            <a:ext uri="{FF2B5EF4-FFF2-40B4-BE49-F238E27FC236}">
              <a16:creationId xmlns:a16="http://schemas.microsoft.com/office/drawing/2014/main" id="{05068958-BC73-7759-74CE-1F8D37C953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B06B3C-D39A-4C6A-79B0-3AC43B6A8FE8}"/>
              </a:ext>
            </a:extLst>
          </p:cNvPr>
          <p:cNvSpPr/>
          <p:nvPr/>
        </p:nvSpPr>
        <p:spPr>
          <a:xfrm>
            <a:off x="-35903" y="5638860"/>
            <a:ext cx="415600" cy="121914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232;p29">
            <a:extLst>
              <a:ext uri="{FF2B5EF4-FFF2-40B4-BE49-F238E27FC236}">
                <a16:creationId xmlns:a16="http://schemas.microsoft.com/office/drawing/2014/main" id="{2A1B937F-BD52-3E18-5474-AE1F08C62CCD}"/>
              </a:ext>
            </a:extLst>
          </p:cNvPr>
          <p:cNvSpPr txBox="1">
            <a:spLocks/>
          </p:cNvSpPr>
          <p:nvPr/>
        </p:nvSpPr>
        <p:spPr>
          <a:xfrm>
            <a:off x="389386" y="5851788"/>
            <a:ext cx="3937685" cy="798300"/>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accent3"/>
              </a:buClr>
              <a:buSzPts val="2400"/>
              <a:buFont typeface="Alfa Slab One"/>
              <a:buNone/>
              <a:defRPr sz="2400" b="0" i="0" u="none" strike="noStrike" cap="none">
                <a:solidFill>
                  <a:schemeClr val="accent3"/>
                </a:solidFill>
                <a:latin typeface="Alfa Slab One"/>
                <a:ea typeface="Alfa Slab One"/>
                <a:cs typeface="Alfa Slab One"/>
                <a:sym typeface="Alfa Slab One"/>
              </a:defRPr>
            </a:lvl1pPr>
            <a:lvl2pPr marL="914400" marR="0" lvl="1"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2pPr>
            <a:lvl3pPr marL="1371600" marR="0" lvl="2"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3pPr>
            <a:lvl4pPr marL="1828800" marR="0" lvl="3"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4pPr>
            <a:lvl5pPr marL="2286000" marR="0" lvl="4"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5pPr>
            <a:lvl6pPr marL="2743200" marR="0" lvl="5"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6pPr>
            <a:lvl7pPr marL="3200400" marR="0" lvl="6"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7pPr>
            <a:lvl8pPr marL="3657600" marR="0" lvl="7"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8pPr>
            <a:lvl9pPr marL="4114800" marR="0" lvl="8" indent="-349250" algn="l" rtl="0">
              <a:lnSpc>
                <a:spcPct val="115000"/>
              </a:lnSpc>
              <a:spcBef>
                <a:spcPts val="0"/>
              </a:spcBef>
              <a:spcAft>
                <a:spcPts val="0"/>
              </a:spcAft>
              <a:buClr>
                <a:schemeClr val="dk2"/>
              </a:buClr>
              <a:buSzPts val="1900"/>
              <a:buFont typeface="Proxima Nova"/>
              <a:buChar char="■"/>
              <a:defRPr sz="1900" b="0" i="0" u="none" strike="noStrike" cap="none">
                <a:solidFill>
                  <a:schemeClr val="dk2"/>
                </a:solidFill>
                <a:latin typeface="Proxima Nova"/>
                <a:ea typeface="Proxima Nova"/>
                <a:cs typeface="Proxima Nova"/>
                <a:sym typeface="Proxima Nova"/>
              </a:defRPr>
            </a:lvl9pPr>
          </a:lstStyle>
          <a:p>
            <a:pPr marL="0" indent="0"/>
            <a:r>
              <a:rPr lang="en-US" sz="3200" b="1" dirty="0">
                <a:latin typeface="Aptos Black" panose="020B0004020202020204" pitchFamily="34" charset="0"/>
              </a:rPr>
              <a:t>Course Structure</a:t>
            </a:r>
          </a:p>
        </p:txBody>
      </p:sp>
      <p:graphicFrame>
        <p:nvGraphicFramePr>
          <p:cNvPr id="3" name="Diagram 2">
            <a:extLst>
              <a:ext uri="{FF2B5EF4-FFF2-40B4-BE49-F238E27FC236}">
                <a16:creationId xmlns:a16="http://schemas.microsoft.com/office/drawing/2014/main" id="{2701E3B6-2249-D20F-AC40-7E30B06D3CE9}"/>
              </a:ext>
            </a:extLst>
          </p:cNvPr>
          <p:cNvGraphicFramePr/>
          <p:nvPr>
            <p:extLst>
              <p:ext uri="{D42A27DB-BD31-4B8C-83A1-F6EECF244321}">
                <p14:modId xmlns:p14="http://schemas.microsoft.com/office/powerpoint/2010/main" val="1224456874"/>
              </p:ext>
            </p:extLst>
          </p:nvPr>
        </p:nvGraphicFramePr>
        <p:xfrm>
          <a:off x="2358228" y="1266068"/>
          <a:ext cx="8128000" cy="3868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1257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1"/>
          <p:cNvSpPr txBox="1">
            <a:spLocks noGrp="1"/>
          </p:cNvSpPr>
          <p:nvPr>
            <p:ph type="title" idx="4294967295"/>
          </p:nvPr>
        </p:nvSpPr>
        <p:spPr>
          <a:xfrm>
            <a:off x="415600" y="294975"/>
            <a:ext cx="5604000" cy="7635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b="1" dirty="0">
                <a:latin typeface="Aptos Black" panose="020B0004020202020204" pitchFamily="34" charset="0"/>
              </a:rPr>
              <a:t>Core Dataset</a:t>
            </a:r>
            <a:endParaRPr b="1" dirty="0">
              <a:latin typeface="Aptos Black" panose="020B0004020202020204" pitchFamily="34" charset="0"/>
            </a:endParaRPr>
          </a:p>
        </p:txBody>
      </p:sp>
      <p:sp>
        <p:nvSpPr>
          <p:cNvPr id="262" name="Google Shape;262;p31"/>
          <p:cNvSpPr txBox="1"/>
          <p:nvPr/>
        </p:nvSpPr>
        <p:spPr>
          <a:xfrm>
            <a:off x="491796" y="1332972"/>
            <a:ext cx="8613900" cy="206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a:solidFill>
                  <a:schemeClr val="accent4"/>
                </a:solidFill>
              </a:rPr>
              <a:t>White-bearded Wildebeest (</a:t>
            </a:r>
            <a:r>
              <a:rPr lang="en-US" sz="1800" b="1" i="1">
                <a:solidFill>
                  <a:schemeClr val="accent4"/>
                </a:solidFill>
              </a:rPr>
              <a:t>Connochaetes taurinus</a:t>
            </a:r>
            <a:r>
              <a:rPr lang="en-US" sz="1800" b="1">
                <a:solidFill>
                  <a:schemeClr val="accent4"/>
                </a:solidFill>
              </a:rPr>
              <a:t>)</a:t>
            </a:r>
            <a:endParaRPr sz="1800" b="1">
              <a:solidFill>
                <a:schemeClr val="accent4"/>
              </a:solidFill>
            </a:endParaRPr>
          </a:p>
          <a:p>
            <a:pPr marL="0" marR="0" lvl="0" indent="457200" algn="l" rtl="0">
              <a:lnSpc>
                <a:spcPct val="100000"/>
              </a:lnSpc>
              <a:spcBef>
                <a:spcPts val="0"/>
              </a:spcBef>
              <a:spcAft>
                <a:spcPts val="0"/>
              </a:spcAft>
              <a:buNone/>
            </a:pPr>
            <a:r>
              <a:rPr lang="en-US"/>
              <a:t>Total individuals monitored: 36</a:t>
            </a:r>
            <a:endParaRPr/>
          </a:p>
          <a:p>
            <a:pPr marL="0" marR="0" lvl="0" indent="457200" algn="l" rtl="0">
              <a:lnSpc>
                <a:spcPct val="100000"/>
              </a:lnSpc>
              <a:spcBef>
                <a:spcPts val="0"/>
              </a:spcBef>
              <a:spcAft>
                <a:spcPts val="0"/>
              </a:spcAft>
              <a:buNone/>
            </a:pPr>
            <a:r>
              <a:rPr lang="en-US"/>
              <a:t>Total populations: 3</a:t>
            </a:r>
            <a:endParaRPr/>
          </a:p>
          <a:p>
            <a:pPr marL="0" marR="0" lvl="0" indent="457200" algn="l" rtl="0">
              <a:lnSpc>
                <a:spcPct val="100000"/>
              </a:lnSpc>
              <a:spcBef>
                <a:spcPts val="0"/>
              </a:spcBef>
              <a:spcAft>
                <a:spcPts val="0"/>
              </a:spcAft>
              <a:buNone/>
            </a:pPr>
            <a:r>
              <a:rPr lang="en-US" sz="1300"/>
              <a:t>	Amboseli Basin (</a:t>
            </a:r>
            <a:r>
              <a:rPr lang="en-US" sz="1300" i="1"/>
              <a:t>n</a:t>
            </a:r>
            <a:r>
              <a:rPr lang="en-US" sz="1300"/>
              <a:t> = 9)</a:t>
            </a:r>
            <a:endParaRPr sz="1300"/>
          </a:p>
          <a:p>
            <a:pPr marL="0" marR="0" lvl="0" indent="457200" algn="l" rtl="0">
              <a:lnSpc>
                <a:spcPct val="100000"/>
              </a:lnSpc>
              <a:spcBef>
                <a:spcPts val="0"/>
              </a:spcBef>
              <a:spcAft>
                <a:spcPts val="0"/>
              </a:spcAft>
              <a:buNone/>
            </a:pPr>
            <a:r>
              <a:rPr lang="en-US" sz="1300"/>
              <a:t>	Athi-Kaputiei Plains (</a:t>
            </a:r>
            <a:r>
              <a:rPr lang="en-US" sz="1300" i="1"/>
              <a:t>n</a:t>
            </a:r>
            <a:r>
              <a:rPr lang="en-US" sz="1300"/>
              <a:t> = 12)</a:t>
            </a:r>
            <a:endParaRPr sz="1300"/>
          </a:p>
          <a:p>
            <a:pPr marL="0" marR="0" lvl="0" indent="457200" algn="l" rtl="0">
              <a:lnSpc>
                <a:spcPct val="100000"/>
              </a:lnSpc>
              <a:spcBef>
                <a:spcPts val="0"/>
              </a:spcBef>
              <a:spcAft>
                <a:spcPts val="0"/>
              </a:spcAft>
              <a:buNone/>
            </a:pPr>
            <a:r>
              <a:rPr lang="en-US" sz="1300"/>
              <a:t>	Mara-Loita Plains (</a:t>
            </a:r>
            <a:r>
              <a:rPr lang="en-US" sz="1300" i="1"/>
              <a:t>n</a:t>
            </a:r>
            <a:r>
              <a:rPr lang="en-US" sz="1300"/>
              <a:t> = 15)</a:t>
            </a:r>
            <a:endParaRPr sz="1300"/>
          </a:p>
          <a:p>
            <a:pPr marL="0" marR="0" lvl="0" indent="457200" algn="l" rtl="0">
              <a:lnSpc>
                <a:spcPct val="100000"/>
              </a:lnSpc>
              <a:spcBef>
                <a:spcPts val="0"/>
              </a:spcBef>
              <a:spcAft>
                <a:spcPts val="0"/>
              </a:spcAft>
              <a:buNone/>
            </a:pPr>
            <a:r>
              <a:rPr lang="en-US"/>
              <a:t>Collection date: 2010-2013</a:t>
            </a:r>
            <a:endParaRPr/>
          </a:p>
          <a:p>
            <a:pPr marL="0" marR="0" lvl="0" indent="457200" algn="l" rtl="0">
              <a:lnSpc>
                <a:spcPct val="100000"/>
              </a:lnSpc>
              <a:spcBef>
                <a:spcPts val="0"/>
              </a:spcBef>
              <a:spcAft>
                <a:spcPts val="0"/>
              </a:spcAft>
              <a:buNone/>
            </a:pPr>
            <a:r>
              <a:rPr lang="en-US"/>
              <a:t>Total number of points: 276,706</a:t>
            </a:r>
            <a:endParaRPr/>
          </a:p>
          <a:p>
            <a:pPr marL="0" marR="0" lvl="0" indent="457200" algn="l" rtl="0">
              <a:lnSpc>
                <a:spcPct val="100000"/>
              </a:lnSpc>
              <a:spcBef>
                <a:spcPts val="0"/>
              </a:spcBef>
              <a:spcAft>
                <a:spcPts val="0"/>
              </a:spcAft>
              <a:buNone/>
            </a:pPr>
            <a:r>
              <a:rPr lang="en-US" sz="1500"/>
              <a:t> </a:t>
            </a:r>
            <a:endParaRPr sz="1500"/>
          </a:p>
        </p:txBody>
      </p:sp>
      <p:pic>
        <p:nvPicPr>
          <p:cNvPr id="263" name="Google Shape;263;p31"/>
          <p:cNvPicPr preferRelativeResize="0"/>
          <p:nvPr/>
        </p:nvPicPr>
        <p:blipFill>
          <a:blip r:embed="rId3">
            <a:alphaModFix/>
          </a:blip>
          <a:stretch>
            <a:fillRect/>
          </a:stretch>
        </p:blipFill>
        <p:spPr>
          <a:xfrm>
            <a:off x="6552800" y="294975"/>
            <a:ext cx="5221399" cy="5215475"/>
          </a:xfrm>
          <a:prstGeom prst="rect">
            <a:avLst/>
          </a:prstGeom>
          <a:noFill/>
          <a:ln>
            <a:noFill/>
          </a:ln>
        </p:spPr>
      </p:pic>
      <p:pic>
        <p:nvPicPr>
          <p:cNvPr id="264" name="Google Shape;264;p31"/>
          <p:cNvPicPr preferRelativeResize="0"/>
          <p:nvPr/>
        </p:nvPicPr>
        <p:blipFill>
          <a:blip r:embed="rId4">
            <a:alphaModFix/>
          </a:blip>
          <a:stretch>
            <a:fillRect/>
          </a:stretch>
        </p:blipFill>
        <p:spPr>
          <a:xfrm>
            <a:off x="1420475" y="4585150"/>
            <a:ext cx="1138276" cy="1699000"/>
          </a:xfrm>
          <a:prstGeom prst="rect">
            <a:avLst/>
          </a:prstGeom>
          <a:noFill/>
          <a:ln>
            <a:noFill/>
          </a:ln>
        </p:spPr>
      </p:pic>
      <p:pic>
        <p:nvPicPr>
          <p:cNvPr id="265" name="Google Shape;265;p31"/>
          <p:cNvPicPr preferRelativeResize="0"/>
          <p:nvPr/>
        </p:nvPicPr>
        <p:blipFill>
          <a:blip r:embed="rId5">
            <a:alphaModFix/>
          </a:blip>
          <a:stretch>
            <a:fillRect/>
          </a:stretch>
        </p:blipFill>
        <p:spPr>
          <a:xfrm>
            <a:off x="914400" y="3305250"/>
            <a:ext cx="4449900" cy="2978899"/>
          </a:xfrm>
          <a:prstGeom prst="rect">
            <a:avLst/>
          </a:prstGeom>
          <a:noFill/>
          <a:ln>
            <a:noFill/>
          </a:ln>
          <a:effectLst>
            <a:outerShdw blurRad="57150" dist="19050" dir="5400000" algn="bl" rotWithShape="0">
              <a:srgbClr val="000000">
                <a:alpha val="50000"/>
              </a:srgbClr>
            </a:outerShdw>
          </a:effectLst>
        </p:spPr>
      </p:pic>
      <p:pic>
        <p:nvPicPr>
          <p:cNvPr id="266" name="Google Shape;266;p31"/>
          <p:cNvPicPr preferRelativeResize="0"/>
          <p:nvPr/>
        </p:nvPicPr>
        <p:blipFill>
          <a:blip r:embed="rId6">
            <a:alphaModFix/>
          </a:blip>
          <a:stretch>
            <a:fillRect/>
          </a:stretch>
        </p:blipFill>
        <p:spPr>
          <a:xfrm>
            <a:off x="9839425" y="5652799"/>
            <a:ext cx="2194426" cy="1118175"/>
          </a:xfrm>
          <a:prstGeom prst="rect">
            <a:avLst/>
          </a:prstGeom>
          <a:noFill/>
          <a:ln>
            <a:noFill/>
          </a:ln>
        </p:spPr>
      </p:pic>
      <p:sp>
        <p:nvSpPr>
          <p:cNvPr id="267" name="Google Shape;267;p31"/>
          <p:cNvSpPr txBox="1"/>
          <p:nvPr/>
        </p:nvSpPr>
        <p:spPr>
          <a:xfrm>
            <a:off x="41250" y="6429500"/>
            <a:ext cx="389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Data publicly available on </a:t>
            </a:r>
            <a:r>
              <a:rPr lang="en-US" u="sng">
                <a:hlinkClick r:id="rId7"/>
              </a:rPr>
              <a:t>Movebank</a:t>
            </a:r>
            <a:endParaRPr sz="1300"/>
          </a:p>
        </p:txBody>
      </p:sp>
      <p:sp>
        <p:nvSpPr>
          <p:cNvPr id="2" name="Rectangle 1">
            <a:extLst>
              <a:ext uri="{FF2B5EF4-FFF2-40B4-BE49-F238E27FC236}">
                <a16:creationId xmlns:a16="http://schemas.microsoft.com/office/drawing/2014/main" id="{61677982-9275-F549-2135-ADE18BE68848}"/>
              </a:ext>
            </a:extLst>
          </p:cNvPr>
          <p:cNvSpPr/>
          <p:nvPr/>
        </p:nvSpPr>
        <p:spPr>
          <a:xfrm>
            <a:off x="0" y="0"/>
            <a:ext cx="415600" cy="121914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2"/>
          <p:cNvSpPr txBox="1">
            <a:spLocks noGrp="1"/>
          </p:cNvSpPr>
          <p:nvPr>
            <p:ph type="title"/>
          </p:nvPr>
        </p:nvSpPr>
        <p:spPr>
          <a:xfrm>
            <a:off x="415600" y="1557233"/>
            <a:ext cx="11360700" cy="2640000"/>
          </a:xfrm>
          <a:prstGeom prst="rect">
            <a:avLst/>
          </a:prstGeom>
        </p:spPr>
        <p:txBody>
          <a:bodyPr spcFirstLastPara="1" wrap="square" lIns="121900" tIns="121900" rIns="121900" bIns="121900" anchor="ctr" anchorCtr="0">
            <a:normAutofit/>
          </a:bodyPr>
          <a:lstStyle/>
          <a:p>
            <a:pPr marL="0" lvl="0" indent="0" algn="ctr" rtl="0">
              <a:spcBef>
                <a:spcPts val="0"/>
              </a:spcBef>
              <a:spcAft>
                <a:spcPts val="0"/>
              </a:spcAft>
              <a:buNone/>
            </a:pPr>
            <a:r>
              <a:rPr lang="en-US" sz="6000" b="1" dirty="0">
                <a:solidFill>
                  <a:srgbClr val="FF5722"/>
                </a:solidFill>
                <a:latin typeface="Aptos Black" panose="020B0004020202020204" pitchFamily="34" charset="0"/>
              </a:rPr>
              <a:t>Questions?</a:t>
            </a:r>
            <a:endParaRPr sz="6000" b="1" dirty="0">
              <a:solidFill>
                <a:srgbClr val="FF5722"/>
              </a:solidFill>
              <a:latin typeface="Aptos Black" panose="020B00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78"/>
        <p:cNvGrpSpPr/>
        <p:nvPr/>
      </p:nvGrpSpPr>
      <p:grpSpPr>
        <a:xfrm>
          <a:off x="0" y="0"/>
          <a:ext cx="0" cy="0"/>
          <a:chOff x="0" y="0"/>
          <a:chExt cx="0" cy="0"/>
        </a:xfrm>
      </p:grpSpPr>
      <p:pic>
        <p:nvPicPr>
          <p:cNvPr id="279" name="Google Shape;279;p33" descr="How acoustic telemetry works | The receiver can hear a tag u… | Flickr"/>
          <p:cNvPicPr preferRelativeResize="0"/>
          <p:nvPr/>
        </p:nvPicPr>
        <p:blipFill rotWithShape="1">
          <a:blip r:embed="rId3">
            <a:alphaModFix/>
          </a:blip>
          <a:srcRect/>
          <a:stretch/>
        </p:blipFill>
        <p:spPr>
          <a:xfrm>
            <a:off x="185740" y="1379189"/>
            <a:ext cx="7691438" cy="4326434"/>
          </a:xfrm>
          <a:prstGeom prst="rect">
            <a:avLst/>
          </a:prstGeom>
          <a:noFill/>
          <a:ln>
            <a:noFill/>
          </a:ln>
        </p:spPr>
      </p:pic>
      <p:sp>
        <p:nvSpPr>
          <p:cNvPr id="280" name="Google Shape;280;p33"/>
          <p:cNvSpPr txBox="1"/>
          <p:nvPr/>
        </p:nvSpPr>
        <p:spPr>
          <a:xfrm>
            <a:off x="0" y="392102"/>
            <a:ext cx="12192000" cy="523220"/>
          </a:xfrm>
          <a:prstGeom prst="rect">
            <a:avLst/>
          </a:prstGeom>
          <a:solidFill>
            <a:srgbClr val="F7C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chemeClr val="dk1"/>
                </a:solidFill>
                <a:latin typeface="Calibri"/>
                <a:ea typeface="Calibri"/>
                <a:cs typeface="Calibri"/>
                <a:sym typeface="Calibri"/>
              </a:rPr>
              <a:t>      How to track animals </a:t>
            </a:r>
            <a:r>
              <a:rPr lang="en-US" sz="2000" b="0" i="0" u="none" strike="noStrike" cap="none">
                <a:solidFill>
                  <a:srgbClr val="000000"/>
                </a:solidFill>
                <a:latin typeface="Arial"/>
                <a:ea typeface="Arial"/>
                <a:cs typeface="Arial"/>
                <a:sym typeface="Arial"/>
              </a:rPr>
              <a:t> </a:t>
            </a:r>
            <a:r>
              <a:rPr lang="en-US" sz="2000" b="1" i="0" u="none" strike="noStrike" cap="none">
                <a:solidFill>
                  <a:schemeClr val="accent2"/>
                </a:solidFill>
                <a:latin typeface="Arial"/>
                <a:ea typeface="Arial"/>
                <a:cs typeface="Arial"/>
                <a:sym typeface="Arial"/>
              </a:rPr>
              <a:t>Eulerian sampling</a:t>
            </a:r>
            <a:endParaRPr sz="2800" b="1" i="0" u="none" strike="noStrike" cap="none">
              <a:solidFill>
                <a:schemeClr val="accent2"/>
              </a:solidFill>
              <a:latin typeface="Arial"/>
              <a:ea typeface="Arial"/>
              <a:cs typeface="Arial"/>
              <a:sym typeface="Arial"/>
            </a:endParaRPr>
          </a:p>
        </p:txBody>
      </p:sp>
      <p:sp>
        <p:nvSpPr>
          <p:cNvPr id="281" name="Google Shape;281;p33"/>
          <p:cNvSpPr txBox="1"/>
          <p:nvPr/>
        </p:nvSpPr>
        <p:spPr>
          <a:xfrm>
            <a:off x="8012912" y="2289302"/>
            <a:ext cx="3993348" cy="378565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highlight>
                  <a:srgbClr val="FFFFFF"/>
                </a:highlight>
                <a:latin typeface="Arial"/>
                <a:ea typeface="Arial"/>
                <a:cs typeface="Arial"/>
                <a:sym typeface="Arial"/>
              </a:rPr>
              <a:t>X–Y at predetermined frame of reference </a:t>
            </a:r>
            <a:endParaRPr/>
          </a:p>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highlight>
                  <a:srgbClr val="FFFFFF"/>
                </a:highlight>
                <a:latin typeface="Arial"/>
                <a:ea typeface="Arial"/>
                <a:cs typeface="Arial"/>
                <a:sym typeface="Arial"/>
              </a:rPr>
              <a:t>Often replicated through time</a:t>
            </a:r>
            <a:endParaRPr/>
          </a:p>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highlight>
                  <a:srgbClr val="FFFFFF"/>
                </a:highlight>
                <a:latin typeface="Arial"/>
                <a:ea typeface="Arial"/>
                <a:cs typeface="Arial"/>
                <a:sym typeface="Arial"/>
              </a:rPr>
              <a:t>Movement needs to be reconstructed </a:t>
            </a:r>
            <a:endParaRPr/>
          </a:p>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highlight>
                  <a:srgbClr val="FFFFFF"/>
                </a:highlight>
                <a:latin typeface="Arial"/>
                <a:ea typeface="Arial"/>
                <a:cs typeface="Arial"/>
                <a:sym typeface="Arial"/>
              </a:rPr>
              <a:t>Individual sampling intervals cannot be guaranteed</a:t>
            </a:r>
            <a:endParaRPr/>
          </a:p>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highlight>
                  <a:srgbClr val="FFFFFF"/>
                </a:highlight>
                <a:latin typeface="Arial"/>
                <a:ea typeface="Arial"/>
                <a:cs typeface="Arial"/>
                <a:sym typeface="Arial"/>
              </a:rPr>
              <a:t>Great for enclosed system</a:t>
            </a:r>
            <a:endParaRPr/>
          </a:p>
          <a:p>
            <a:pPr marL="285750" marR="0" lvl="0" indent="-13335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282" name="Google Shape;282;p33"/>
          <p:cNvSpPr txBox="1"/>
          <p:nvPr/>
        </p:nvSpPr>
        <p:spPr>
          <a:xfrm>
            <a:off x="4031459" y="4320628"/>
            <a:ext cx="134043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Transmitter </a:t>
            </a:r>
            <a:endParaRPr/>
          </a:p>
        </p:txBody>
      </p:sp>
      <p:sp>
        <p:nvSpPr>
          <p:cNvPr id="283" name="Google Shape;283;p33"/>
          <p:cNvSpPr txBox="1"/>
          <p:nvPr/>
        </p:nvSpPr>
        <p:spPr>
          <a:xfrm>
            <a:off x="5388140" y="5110189"/>
            <a:ext cx="233230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Fixed location receiver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87"/>
        <p:cNvGrpSpPr/>
        <p:nvPr/>
      </p:nvGrpSpPr>
      <p:grpSpPr>
        <a:xfrm>
          <a:off x="0" y="0"/>
          <a:ext cx="0" cy="0"/>
          <a:chOff x="0" y="0"/>
          <a:chExt cx="0" cy="0"/>
        </a:xfrm>
      </p:grpSpPr>
      <p:pic>
        <p:nvPicPr>
          <p:cNvPr id="288" name="Google Shape;288;p34" descr="Lynx telemetry - tracking Lynx lynx with GPS GSM transmitter collar"/>
          <p:cNvPicPr preferRelativeResize="0"/>
          <p:nvPr/>
        </p:nvPicPr>
        <p:blipFill rotWithShape="1">
          <a:blip r:embed="rId3">
            <a:alphaModFix/>
          </a:blip>
          <a:srcRect l="269" r="-268"/>
          <a:stretch/>
        </p:blipFill>
        <p:spPr>
          <a:xfrm flipH="1">
            <a:off x="3687850" y="1265783"/>
            <a:ext cx="8217745" cy="4326434"/>
          </a:xfrm>
          <a:prstGeom prst="rect">
            <a:avLst/>
          </a:prstGeom>
          <a:noFill/>
          <a:ln>
            <a:noFill/>
          </a:ln>
        </p:spPr>
      </p:pic>
      <p:sp>
        <p:nvSpPr>
          <p:cNvPr id="289" name="Google Shape;289;p34"/>
          <p:cNvSpPr txBox="1"/>
          <p:nvPr/>
        </p:nvSpPr>
        <p:spPr>
          <a:xfrm>
            <a:off x="286405" y="2914561"/>
            <a:ext cx="3240171" cy="267765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latin typeface="Arial"/>
                <a:ea typeface="Arial"/>
                <a:cs typeface="Arial"/>
                <a:sym typeface="Arial"/>
              </a:rPr>
              <a:t>Animal-borne tracking devices</a:t>
            </a:r>
            <a:endParaRPr/>
          </a:p>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latin typeface="Arial"/>
                <a:ea typeface="Arial"/>
                <a:cs typeface="Arial"/>
                <a:sym typeface="Arial"/>
              </a:rPr>
              <a:t>Pre-determined data collection intervals</a:t>
            </a:r>
            <a:endParaRPr/>
          </a:p>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212121"/>
                </a:solidFill>
                <a:latin typeface="Arial"/>
                <a:ea typeface="Arial"/>
                <a:cs typeface="Arial"/>
                <a:sym typeface="Arial"/>
              </a:rPr>
              <a:t>Raw data already contains continuous X-Y-T information</a:t>
            </a:r>
            <a:endParaRPr/>
          </a:p>
        </p:txBody>
      </p:sp>
      <p:sp>
        <p:nvSpPr>
          <p:cNvPr id="290" name="Google Shape;290;p34"/>
          <p:cNvSpPr/>
          <p:nvPr/>
        </p:nvSpPr>
        <p:spPr>
          <a:xfrm rot="587994">
            <a:off x="8872535" y="4514854"/>
            <a:ext cx="71438" cy="428625"/>
          </a:xfrm>
          <a:prstGeom prst="rect">
            <a:avLst/>
          </a:prstGeom>
          <a:solidFill>
            <a:schemeClr val="dk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1" name="Google Shape;291;p34"/>
          <p:cNvSpPr txBox="1"/>
          <p:nvPr/>
        </p:nvSpPr>
        <p:spPr>
          <a:xfrm>
            <a:off x="2" y="388440"/>
            <a:ext cx="12192000" cy="523220"/>
          </a:xfrm>
          <a:prstGeom prst="rect">
            <a:avLst/>
          </a:prstGeom>
          <a:solidFill>
            <a:srgbClr val="F7C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chemeClr val="dk1"/>
                </a:solidFill>
                <a:latin typeface="Calibri"/>
                <a:ea typeface="Calibri"/>
                <a:cs typeface="Calibri"/>
                <a:sym typeface="Calibri"/>
              </a:rPr>
              <a:t>      How to track animals </a:t>
            </a:r>
            <a:r>
              <a:rPr lang="en-US" sz="2000" b="0" i="0" u="none" strike="noStrike" cap="none">
                <a:solidFill>
                  <a:srgbClr val="000000"/>
                </a:solidFill>
                <a:latin typeface="Arial"/>
                <a:ea typeface="Arial"/>
                <a:cs typeface="Arial"/>
                <a:sym typeface="Arial"/>
              </a:rPr>
              <a:t> </a:t>
            </a:r>
            <a:r>
              <a:rPr lang="en-US" sz="2000" b="1" i="0" u="none" strike="noStrike" cap="none">
                <a:solidFill>
                  <a:schemeClr val="accent2"/>
                </a:solidFill>
                <a:latin typeface="Arial"/>
                <a:ea typeface="Arial"/>
                <a:cs typeface="Arial"/>
                <a:sym typeface="Arial"/>
              </a:rPr>
              <a:t>Lagrangian sampling</a:t>
            </a:r>
            <a:endParaRPr sz="2800" b="1" i="0" u="none" strike="noStrike" cap="none">
              <a:solidFill>
                <a:schemeClr val="accent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296"/>
        <p:cNvGrpSpPr/>
        <p:nvPr/>
      </p:nvGrpSpPr>
      <p:grpSpPr>
        <a:xfrm>
          <a:off x="0" y="0"/>
          <a:ext cx="0" cy="0"/>
          <a:chOff x="0" y="0"/>
          <a:chExt cx="0" cy="0"/>
        </a:xfrm>
      </p:grpSpPr>
      <p:sp>
        <p:nvSpPr>
          <p:cNvPr id="297" name="Google Shape;297;p35"/>
          <p:cNvSpPr txBox="1"/>
          <p:nvPr/>
        </p:nvSpPr>
        <p:spPr>
          <a:xfrm>
            <a:off x="0" y="388440"/>
            <a:ext cx="12192000" cy="523220"/>
          </a:xfrm>
          <a:prstGeom prst="rect">
            <a:avLst/>
          </a:prstGeom>
          <a:solidFill>
            <a:srgbClr val="F7C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     </a:t>
            </a:r>
            <a:r>
              <a:rPr lang="en-US" sz="2800" b="0" i="0" u="none" strike="noStrike" cap="none">
                <a:solidFill>
                  <a:schemeClr val="dk1"/>
                </a:solidFill>
                <a:latin typeface="Calibri"/>
                <a:ea typeface="Calibri"/>
                <a:cs typeface="Calibri"/>
                <a:sym typeface="Calibri"/>
              </a:rPr>
              <a:t>How to track animals</a:t>
            </a:r>
            <a:endParaRPr sz="2800" b="1" i="0" u="none" strike="noStrike" cap="none">
              <a:solidFill>
                <a:schemeClr val="accent2"/>
              </a:solidFill>
              <a:latin typeface="Arial"/>
              <a:ea typeface="Arial"/>
              <a:cs typeface="Arial"/>
              <a:sym typeface="Arial"/>
            </a:endParaRPr>
          </a:p>
        </p:txBody>
      </p:sp>
      <p:pic>
        <p:nvPicPr>
          <p:cNvPr id="298" name="Google Shape;298;p35"/>
          <p:cNvPicPr preferRelativeResize="0"/>
          <p:nvPr/>
        </p:nvPicPr>
        <p:blipFill rotWithShape="1">
          <a:blip r:embed="rId3">
            <a:alphaModFix/>
          </a:blip>
          <a:srcRect l="6885" t="10293" r="21562"/>
          <a:stretch/>
        </p:blipFill>
        <p:spPr>
          <a:xfrm>
            <a:off x="2057198" y="4356214"/>
            <a:ext cx="2053567" cy="2113346"/>
          </a:xfrm>
          <a:prstGeom prst="rect">
            <a:avLst/>
          </a:prstGeom>
          <a:noFill/>
          <a:ln>
            <a:noFill/>
          </a:ln>
        </p:spPr>
      </p:pic>
      <p:pic>
        <p:nvPicPr>
          <p:cNvPr id="299" name="Google Shape;299;p35"/>
          <p:cNvPicPr preferRelativeResize="0"/>
          <p:nvPr/>
        </p:nvPicPr>
        <p:blipFill rotWithShape="1">
          <a:blip r:embed="rId4">
            <a:alphaModFix/>
          </a:blip>
          <a:srcRect t="6861" r="19894"/>
          <a:stretch/>
        </p:blipFill>
        <p:spPr>
          <a:xfrm>
            <a:off x="2057198" y="2338405"/>
            <a:ext cx="2053567" cy="1966894"/>
          </a:xfrm>
          <a:prstGeom prst="rect">
            <a:avLst/>
          </a:prstGeom>
          <a:noFill/>
          <a:ln>
            <a:noFill/>
          </a:ln>
        </p:spPr>
      </p:pic>
      <p:pic>
        <p:nvPicPr>
          <p:cNvPr id="300" name="Google Shape;300;p35" descr="Mongolian Gazelle (Procapra gutturosa) · iNaturalist"/>
          <p:cNvPicPr preferRelativeResize="0"/>
          <p:nvPr/>
        </p:nvPicPr>
        <p:blipFill rotWithShape="1">
          <a:blip r:embed="rId5">
            <a:alphaModFix/>
          </a:blip>
          <a:srcRect/>
          <a:stretch/>
        </p:blipFill>
        <p:spPr>
          <a:xfrm>
            <a:off x="4257541" y="2317765"/>
            <a:ext cx="6215198" cy="4151794"/>
          </a:xfrm>
          <a:prstGeom prst="rect">
            <a:avLst/>
          </a:prstGeom>
          <a:noFill/>
          <a:ln>
            <a:noFill/>
          </a:ln>
        </p:spPr>
      </p:pic>
      <p:sp>
        <p:nvSpPr>
          <p:cNvPr id="301" name="Google Shape;301;p35"/>
          <p:cNvSpPr txBox="1"/>
          <p:nvPr/>
        </p:nvSpPr>
        <p:spPr>
          <a:xfrm>
            <a:off x="9346624" y="5981718"/>
            <a:ext cx="101181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Times"/>
                <a:ea typeface="Times"/>
                <a:cs typeface="Times"/>
                <a:sym typeface="Times"/>
              </a:rPr>
              <a:t>20-39 kg</a:t>
            </a:r>
            <a:endParaRPr/>
          </a:p>
        </p:txBody>
      </p:sp>
      <p:sp>
        <p:nvSpPr>
          <p:cNvPr id="302" name="Google Shape;302;p35"/>
          <p:cNvSpPr txBox="1"/>
          <p:nvPr/>
        </p:nvSpPr>
        <p:spPr>
          <a:xfrm>
            <a:off x="566611" y="1403134"/>
            <a:ext cx="9423549" cy="646331"/>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Helvetica Neue Light"/>
                <a:ea typeface="Helvetica Neue Light"/>
                <a:cs typeface="Helvetica Neue Light"/>
                <a:sym typeface="Helvetica Neue Light"/>
              </a:rPr>
              <a:t>Choose tracking device &amp; think about how to attach to the animal safely</a:t>
            </a:r>
            <a:endParaRPr sz="2000" b="1"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None/>
            </a:pPr>
            <a:r>
              <a:rPr lang="en-US" sz="1600" b="0" i="1" u="none" strike="noStrike" cap="none">
                <a:solidFill>
                  <a:srgbClr val="C00000"/>
                </a:solidFill>
                <a:latin typeface="Helvetica Neue Light"/>
                <a:ea typeface="Helvetica Neue Light"/>
                <a:cs typeface="Helvetica Neue Light"/>
                <a:sym typeface="Helvetica Neue Light"/>
              </a:rPr>
              <a:t>species biology and ecology, body size and weight, sex, age, shape, research goals…</a:t>
            </a:r>
            <a:endParaRPr sz="1600" b="0" i="1" u="none" strike="noStrike" cap="none">
              <a:solidFill>
                <a:srgbClr val="C00000"/>
              </a:solidFill>
              <a:latin typeface="Helvetica Neue Light"/>
              <a:ea typeface="Helvetica Neue Light"/>
              <a:cs typeface="Helvetica Neue Light"/>
              <a:sym typeface="Helvetica Neue Light"/>
            </a:endParaRPr>
          </a:p>
        </p:txBody>
      </p:sp>
      <p:sp>
        <p:nvSpPr>
          <p:cNvPr id="303" name="Google Shape;303;p35"/>
          <p:cNvSpPr txBox="1"/>
          <p:nvPr/>
        </p:nvSpPr>
        <p:spPr>
          <a:xfrm>
            <a:off x="2258433" y="6162186"/>
            <a:ext cx="192572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3D4B5F"/>
                </a:solidFill>
                <a:latin typeface="Arial"/>
                <a:ea typeface="Arial"/>
                <a:cs typeface="Arial"/>
                <a:sym typeface="Arial"/>
              </a:rPr>
              <a:t>© Nandingstesteg Dejid</a:t>
            </a:r>
            <a:endParaRPr sz="1400" b="0" i="0" u="none" strike="noStrike" cap="none">
              <a:solidFill>
                <a:srgbClr val="3D4B5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par>
                                <p:cTn id="8" presetID="10" presetClass="entr" presetSubtype="0" fill="hold" nodeType="withEffect">
                                  <p:stCondLst>
                                    <p:cond delay="0"/>
                                  </p:stCondLst>
                                  <p:childTnLst>
                                    <p:set>
                                      <p:cBhvr>
                                        <p:cTn id="9" dur="1" fill="hold">
                                          <p:stCondLst>
                                            <p:cond delay="0"/>
                                          </p:stCondLst>
                                        </p:cTn>
                                        <p:tgtEl>
                                          <p:spTgt spid="299"/>
                                        </p:tgtEl>
                                        <p:attrNameLst>
                                          <p:attrName>style.visibility</p:attrName>
                                        </p:attrNameLst>
                                      </p:cBhvr>
                                      <p:to>
                                        <p:strVal val="visible"/>
                                      </p:to>
                                    </p:set>
                                    <p:animEffect transition="in" filter="fade">
                                      <p:cBhvr>
                                        <p:cTn id="10" dur="500"/>
                                        <p:tgtEl>
                                          <p:spTgt spid="299"/>
                                        </p:tgtEl>
                                      </p:cBhvr>
                                    </p:animEffect>
                                  </p:childTnLst>
                                </p:cTn>
                              </p:par>
                              <p:par>
                                <p:cTn id="11" presetID="10" presetClass="entr" presetSubtype="0" fill="hold" nodeType="withEffect">
                                  <p:stCondLst>
                                    <p:cond delay="0"/>
                                  </p:stCondLst>
                                  <p:childTnLst>
                                    <p:set>
                                      <p:cBhvr>
                                        <p:cTn id="12" dur="1" fill="hold">
                                          <p:stCondLst>
                                            <p:cond delay="0"/>
                                          </p:stCondLst>
                                        </p:cTn>
                                        <p:tgtEl>
                                          <p:spTgt spid="300"/>
                                        </p:tgtEl>
                                        <p:attrNameLst>
                                          <p:attrName>style.visibility</p:attrName>
                                        </p:attrNameLst>
                                      </p:cBhvr>
                                      <p:to>
                                        <p:strVal val="visible"/>
                                      </p:to>
                                    </p:set>
                                    <p:animEffect transition="in" filter="fade">
                                      <p:cBhvr>
                                        <p:cTn id="13" dur="500"/>
                                        <p:tgtEl>
                                          <p:spTgt spid="300"/>
                                        </p:tgtEl>
                                      </p:cBhvr>
                                    </p:animEffect>
                                  </p:childTnLst>
                                </p:cTn>
                              </p:par>
                              <p:par>
                                <p:cTn id="14" presetID="10" presetClass="entr" presetSubtype="0" fill="hold" nodeType="withEffect">
                                  <p:stCondLst>
                                    <p:cond delay="0"/>
                                  </p:stCondLst>
                                  <p:childTnLst>
                                    <p:set>
                                      <p:cBhvr>
                                        <p:cTn id="15" dur="1" fill="hold">
                                          <p:stCondLst>
                                            <p:cond delay="0"/>
                                          </p:stCondLst>
                                        </p:cTn>
                                        <p:tgtEl>
                                          <p:spTgt spid="301"/>
                                        </p:tgtEl>
                                        <p:attrNameLst>
                                          <p:attrName>style.visibility</p:attrName>
                                        </p:attrNameLst>
                                      </p:cBhvr>
                                      <p:to>
                                        <p:strVal val="visible"/>
                                      </p:to>
                                    </p:set>
                                    <p:animEffect transition="in" filter="fade">
                                      <p:cBhvr>
                                        <p:cTn id="16" dur="500"/>
                                        <p:tgtEl>
                                          <p:spTgt spid="301"/>
                                        </p:tgtEl>
                                      </p:cBhvr>
                                    </p:animEffect>
                                  </p:childTnLst>
                                </p:cTn>
                              </p:par>
                              <p:par>
                                <p:cTn id="17" presetID="10" presetClass="entr" presetSubtype="0" fill="hold" nodeType="withEffect">
                                  <p:stCondLst>
                                    <p:cond delay="0"/>
                                  </p:stCondLst>
                                  <p:childTnLst>
                                    <p:set>
                                      <p:cBhvr>
                                        <p:cTn id="18" dur="1" fill="hold">
                                          <p:stCondLst>
                                            <p:cond delay="0"/>
                                          </p:stCondLst>
                                        </p:cTn>
                                        <p:tgtEl>
                                          <p:spTgt spid="302"/>
                                        </p:tgtEl>
                                        <p:attrNameLst>
                                          <p:attrName>style.visibility</p:attrName>
                                        </p:attrNameLst>
                                      </p:cBhvr>
                                      <p:to>
                                        <p:strVal val="visible"/>
                                      </p:to>
                                    </p:set>
                                    <p:animEffect transition="in" filter="fade">
                                      <p:cBhvr>
                                        <p:cTn id="19" dur="500"/>
                                        <p:tgtEl>
                                          <p:spTgt spid="302"/>
                                        </p:tgtEl>
                                      </p:cBhvr>
                                    </p:animEffect>
                                  </p:childTnLst>
                                </p:cTn>
                              </p:par>
                              <p:par>
                                <p:cTn id="20" presetID="10" presetClass="entr" presetSubtype="0" fill="hold" nodeType="withEffect">
                                  <p:stCondLst>
                                    <p:cond delay="0"/>
                                  </p:stCondLst>
                                  <p:childTnLst>
                                    <p:set>
                                      <p:cBhvr>
                                        <p:cTn id="21" dur="1" fill="hold">
                                          <p:stCondLst>
                                            <p:cond delay="0"/>
                                          </p:stCondLst>
                                        </p:cTn>
                                        <p:tgtEl>
                                          <p:spTgt spid="303"/>
                                        </p:tgtEl>
                                        <p:attrNameLst>
                                          <p:attrName>style.visibility</p:attrName>
                                        </p:attrNameLst>
                                      </p:cBhvr>
                                      <p:to>
                                        <p:strVal val="visible"/>
                                      </p:to>
                                    </p:set>
                                    <p:animEffect transition="in" filter="fade">
                                      <p:cBhvr>
                                        <p:cTn id="22"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308"/>
        <p:cNvGrpSpPr/>
        <p:nvPr/>
      </p:nvGrpSpPr>
      <p:grpSpPr>
        <a:xfrm>
          <a:off x="0" y="0"/>
          <a:ext cx="0" cy="0"/>
          <a:chOff x="0" y="0"/>
          <a:chExt cx="0" cy="0"/>
        </a:xfrm>
      </p:grpSpPr>
      <p:pic>
        <p:nvPicPr>
          <p:cNvPr id="309" name="Google Shape;309;p36" descr="Tiny sensor platform to enable monarch butterfly tracking ..."/>
          <p:cNvPicPr preferRelativeResize="0"/>
          <p:nvPr/>
        </p:nvPicPr>
        <p:blipFill rotWithShape="1">
          <a:blip r:embed="rId3">
            <a:alphaModFix/>
          </a:blip>
          <a:srcRect/>
          <a:stretch/>
        </p:blipFill>
        <p:spPr>
          <a:xfrm>
            <a:off x="0" y="2472796"/>
            <a:ext cx="4059663" cy="3044747"/>
          </a:xfrm>
          <a:prstGeom prst="rect">
            <a:avLst/>
          </a:prstGeom>
          <a:noFill/>
          <a:ln>
            <a:noFill/>
          </a:ln>
        </p:spPr>
      </p:pic>
      <p:pic>
        <p:nvPicPr>
          <p:cNvPr id="310" name="Google Shape;310;p36" descr="Seals released with GPS trackers by Vancouver Aquarium | CBC News"/>
          <p:cNvPicPr preferRelativeResize="0"/>
          <p:nvPr/>
        </p:nvPicPr>
        <p:blipFill rotWithShape="1">
          <a:blip r:embed="rId4">
            <a:alphaModFix/>
          </a:blip>
          <a:srcRect/>
          <a:stretch/>
        </p:blipFill>
        <p:spPr>
          <a:xfrm>
            <a:off x="4059028" y="2472795"/>
            <a:ext cx="4059663" cy="3044748"/>
          </a:xfrm>
          <a:prstGeom prst="rect">
            <a:avLst/>
          </a:prstGeom>
          <a:noFill/>
          <a:ln>
            <a:noFill/>
          </a:ln>
        </p:spPr>
      </p:pic>
      <p:pic>
        <p:nvPicPr>
          <p:cNvPr id="311" name="Google Shape;311;p36" descr="Tracking devices for giraffes win international award , Safari2Go"/>
          <p:cNvPicPr preferRelativeResize="0"/>
          <p:nvPr/>
        </p:nvPicPr>
        <p:blipFill rotWithShape="1">
          <a:blip r:embed="rId5">
            <a:alphaModFix/>
          </a:blip>
          <a:srcRect l="10760"/>
          <a:stretch/>
        </p:blipFill>
        <p:spPr>
          <a:xfrm>
            <a:off x="7915701" y="2472795"/>
            <a:ext cx="4276299" cy="3044747"/>
          </a:xfrm>
          <a:prstGeom prst="rect">
            <a:avLst/>
          </a:prstGeom>
          <a:noFill/>
          <a:ln>
            <a:noFill/>
          </a:ln>
        </p:spPr>
      </p:pic>
      <p:sp>
        <p:nvSpPr>
          <p:cNvPr id="312" name="Google Shape;312;p36"/>
          <p:cNvSpPr txBox="1"/>
          <p:nvPr/>
        </p:nvSpPr>
        <p:spPr>
          <a:xfrm>
            <a:off x="0" y="388440"/>
            <a:ext cx="12192000" cy="523220"/>
          </a:xfrm>
          <a:prstGeom prst="rect">
            <a:avLst/>
          </a:prstGeom>
          <a:solidFill>
            <a:srgbClr val="F7C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     </a:t>
            </a:r>
            <a:r>
              <a:rPr lang="en-US" sz="2800" b="0" i="0" u="none" strike="noStrike" cap="none">
                <a:solidFill>
                  <a:schemeClr val="dk1"/>
                </a:solidFill>
                <a:latin typeface="Calibri"/>
                <a:ea typeface="Calibri"/>
                <a:cs typeface="Calibri"/>
                <a:sym typeface="Calibri"/>
              </a:rPr>
              <a:t>How to track animals</a:t>
            </a:r>
            <a:endParaRPr sz="2800" b="1" i="0" u="none" strike="noStrike" cap="none">
              <a:solidFill>
                <a:schemeClr val="accent2"/>
              </a:solidFill>
              <a:latin typeface="Arial"/>
              <a:ea typeface="Arial"/>
              <a:cs typeface="Arial"/>
              <a:sym typeface="Arial"/>
            </a:endParaRPr>
          </a:p>
        </p:txBody>
      </p:sp>
      <p:sp>
        <p:nvSpPr>
          <p:cNvPr id="313" name="Google Shape;313;p36"/>
          <p:cNvSpPr txBox="1"/>
          <p:nvPr/>
        </p:nvSpPr>
        <p:spPr>
          <a:xfrm>
            <a:off x="566611" y="1403134"/>
            <a:ext cx="9423549" cy="646331"/>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Helvetica Neue Light"/>
                <a:ea typeface="Helvetica Neue Light"/>
                <a:cs typeface="Helvetica Neue Light"/>
                <a:sym typeface="Helvetica Neue Light"/>
              </a:rPr>
              <a:t>Choose tracking device &amp; think about how to attach to the animal safely</a:t>
            </a:r>
            <a:endParaRPr sz="2000" b="1"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None/>
            </a:pPr>
            <a:r>
              <a:rPr lang="en-US" sz="1600" b="0" i="1" u="none" strike="noStrike" cap="none">
                <a:solidFill>
                  <a:srgbClr val="C00000"/>
                </a:solidFill>
                <a:latin typeface="Helvetica Neue Light"/>
                <a:ea typeface="Helvetica Neue Light"/>
                <a:cs typeface="Helvetica Neue Light"/>
                <a:sym typeface="Helvetica Neue Light"/>
              </a:rPr>
              <a:t>species biology and ecology, body size and weight, sex, age, shape, research goals…</a:t>
            </a:r>
            <a:endParaRPr sz="1600" b="0" i="1" u="none" strike="noStrike" cap="none">
              <a:solidFill>
                <a:srgbClr val="C00000"/>
              </a:solidFill>
              <a:latin typeface="Helvetica Neue Light"/>
              <a:ea typeface="Helvetica Neue Light"/>
              <a:cs typeface="Helvetica Neue Light"/>
              <a:sym typeface="Helvetica Neue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18"/>
        <p:cNvGrpSpPr/>
        <p:nvPr/>
      </p:nvGrpSpPr>
      <p:grpSpPr>
        <a:xfrm>
          <a:off x="0" y="0"/>
          <a:ext cx="0" cy="0"/>
          <a:chOff x="0" y="0"/>
          <a:chExt cx="0" cy="0"/>
        </a:xfrm>
      </p:grpSpPr>
      <p:pic>
        <p:nvPicPr>
          <p:cNvPr id="319" name="Google Shape;319;p37" descr="Helicopter capture, net gun capture, wildlife capture, aerial darting, net  gunning – nativerangecaptureservices.com"/>
          <p:cNvPicPr preferRelativeResize="0"/>
          <p:nvPr/>
        </p:nvPicPr>
        <p:blipFill rotWithShape="1">
          <a:blip r:embed="rId3">
            <a:alphaModFix/>
          </a:blip>
          <a:srcRect/>
          <a:stretch/>
        </p:blipFill>
        <p:spPr>
          <a:xfrm>
            <a:off x="418156" y="2150542"/>
            <a:ext cx="6704672" cy="4469781"/>
          </a:xfrm>
          <a:prstGeom prst="rect">
            <a:avLst/>
          </a:prstGeom>
          <a:noFill/>
          <a:ln>
            <a:noFill/>
          </a:ln>
        </p:spPr>
      </p:pic>
      <p:pic>
        <p:nvPicPr>
          <p:cNvPr id="320" name="Google Shape;320;p37" descr="Wildlife captures for multi-year research project set for early 2021 in  units 1, 6 and 10A | Idaho Fish and Game"/>
          <p:cNvPicPr preferRelativeResize="0"/>
          <p:nvPr/>
        </p:nvPicPr>
        <p:blipFill rotWithShape="1">
          <a:blip r:embed="rId4">
            <a:alphaModFix/>
          </a:blip>
          <a:srcRect l="35810" t="30663" r="10278" b="1"/>
          <a:stretch/>
        </p:blipFill>
        <p:spPr>
          <a:xfrm>
            <a:off x="7263967" y="2150542"/>
            <a:ext cx="4594928" cy="2314574"/>
          </a:xfrm>
          <a:prstGeom prst="rect">
            <a:avLst/>
          </a:prstGeom>
          <a:noFill/>
          <a:ln>
            <a:noFill/>
          </a:ln>
        </p:spPr>
      </p:pic>
      <p:pic>
        <p:nvPicPr>
          <p:cNvPr id="321" name="Google Shape;321;p37"/>
          <p:cNvPicPr preferRelativeResize="0"/>
          <p:nvPr/>
        </p:nvPicPr>
        <p:blipFill rotWithShape="1">
          <a:blip r:embed="rId5">
            <a:alphaModFix/>
          </a:blip>
          <a:srcRect t="7092" b="28972"/>
          <a:stretch/>
        </p:blipFill>
        <p:spPr>
          <a:xfrm>
            <a:off x="7263967" y="4571170"/>
            <a:ext cx="4610430" cy="2049153"/>
          </a:xfrm>
          <a:prstGeom prst="rect">
            <a:avLst/>
          </a:prstGeom>
          <a:noFill/>
          <a:ln>
            <a:noFill/>
          </a:ln>
        </p:spPr>
      </p:pic>
      <p:sp>
        <p:nvSpPr>
          <p:cNvPr id="322" name="Google Shape;322;p37"/>
          <p:cNvSpPr txBox="1"/>
          <p:nvPr/>
        </p:nvSpPr>
        <p:spPr>
          <a:xfrm>
            <a:off x="566612" y="1403134"/>
            <a:ext cx="859167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Helvetica Neue Light"/>
                <a:ea typeface="Helvetica Neue Light"/>
                <a:cs typeface="Helvetica Neue Light"/>
                <a:sym typeface="Helvetica Neue Light"/>
              </a:rPr>
              <a:t>2. Choose a capture and handling methods </a:t>
            </a:r>
            <a:endParaRPr sz="2000" b="1"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None/>
            </a:pPr>
            <a:r>
              <a:rPr lang="en-US" sz="1600" b="0" i="1" u="none" strike="noStrike" cap="none">
                <a:solidFill>
                  <a:srgbClr val="C00000"/>
                </a:solidFill>
                <a:latin typeface="Helvetica Neue Light"/>
                <a:ea typeface="Helvetica Neue Light"/>
                <a:cs typeface="Helvetica Neue Light"/>
                <a:sym typeface="Helvetica Neue Light"/>
              </a:rPr>
              <a:t>Species ecology, body size, timing, landscape, funding, local community relationships</a:t>
            </a:r>
            <a:endParaRPr sz="1600" b="0" i="1" u="none" strike="noStrike" cap="none">
              <a:solidFill>
                <a:srgbClr val="C00000"/>
              </a:solidFill>
              <a:latin typeface="Helvetica Neue Light"/>
              <a:ea typeface="Helvetica Neue Light"/>
              <a:cs typeface="Helvetica Neue Light"/>
              <a:sym typeface="Helvetica Neue Light"/>
            </a:endParaRPr>
          </a:p>
        </p:txBody>
      </p:sp>
      <p:sp>
        <p:nvSpPr>
          <p:cNvPr id="323" name="Google Shape;323;p37"/>
          <p:cNvSpPr txBox="1"/>
          <p:nvPr/>
        </p:nvSpPr>
        <p:spPr>
          <a:xfrm>
            <a:off x="0" y="388440"/>
            <a:ext cx="12192000" cy="523220"/>
          </a:xfrm>
          <a:prstGeom prst="rect">
            <a:avLst/>
          </a:prstGeom>
          <a:solidFill>
            <a:srgbClr val="F7C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     </a:t>
            </a:r>
            <a:r>
              <a:rPr lang="en-US" sz="2800" b="0" i="0" u="none" strike="noStrike" cap="none">
                <a:solidFill>
                  <a:schemeClr val="dk1"/>
                </a:solidFill>
                <a:latin typeface="Calibri"/>
                <a:ea typeface="Calibri"/>
                <a:cs typeface="Calibri"/>
                <a:sym typeface="Calibri"/>
              </a:rPr>
              <a:t>How to track animals</a:t>
            </a:r>
            <a:endParaRPr sz="2800" b="1" i="0" u="none" strike="noStrike" cap="none">
              <a:solidFill>
                <a:schemeClr val="accent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Gameday">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Editorial</Template>
  <TotalTime>31</TotalTime>
  <Words>791</Words>
  <Application>Microsoft Macintosh PowerPoint</Application>
  <PresentationFormat>Widescreen</PresentationFormat>
  <Paragraphs>188</Paragraphs>
  <Slides>25</Slides>
  <Notes>25</Notes>
  <HiddenSlides>8</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Times</vt:lpstr>
      <vt:lpstr>Proxima Nova</vt:lpstr>
      <vt:lpstr>Corbel</vt:lpstr>
      <vt:lpstr>Helvetica Neue Light</vt:lpstr>
      <vt:lpstr>Calibri</vt:lpstr>
      <vt:lpstr>Aptos</vt:lpstr>
      <vt:lpstr>Alfa Slab One</vt:lpstr>
      <vt:lpstr>Helvetica Neue</vt:lpstr>
      <vt:lpstr>Aptos Black</vt:lpstr>
      <vt:lpstr>Arial</vt:lpstr>
      <vt:lpstr>Gameday</vt:lpstr>
      <vt:lpstr>PowerPoint Presentation</vt:lpstr>
      <vt:lpstr>Welcome!</vt:lpstr>
      <vt:lpstr>Please introduce yourself</vt:lpstr>
      <vt:lpstr>PowerPoint Presentation</vt:lpstr>
      <vt:lpstr>Animal Tracking</vt:lpstr>
      <vt:lpstr>Animal Tracking</vt:lpstr>
      <vt:lpstr>Animal Tracking</vt:lpstr>
      <vt:lpstr>Why care about animal movement?</vt:lpstr>
      <vt:lpstr>Why care about animal movement?</vt:lpstr>
      <vt:lpstr>Why care about animal movement?</vt:lpstr>
      <vt:lpstr>Why care about animal movement?</vt:lpstr>
      <vt:lpstr>Why care about animal movement?</vt:lpstr>
      <vt:lpstr>PowerPoint Presentation</vt:lpstr>
      <vt:lpstr>Why care about animal movement?</vt:lpstr>
      <vt:lpstr>Why care about animal movement?</vt:lpstr>
      <vt:lpstr>PowerPoint Presentation</vt:lpstr>
      <vt:lpstr>PowerPoint Presentation</vt:lpstr>
      <vt:lpstr>PowerPoint Presentation</vt:lpstr>
      <vt:lpstr>Core Dataset</vt:lpstr>
      <vt:lpstr>Questions?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Wenjing Xu</cp:lastModifiedBy>
  <cp:revision>20</cp:revision>
  <dcterms:modified xsi:type="dcterms:W3CDTF">2026-07-20T04:59:46Z</dcterms:modified>
</cp:coreProperties>
</file>