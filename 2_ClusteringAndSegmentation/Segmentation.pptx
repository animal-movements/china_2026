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494" r:id="rId2"/>
    <p:sldId id="496" r:id="rId3"/>
    <p:sldId id="497" r:id="rId4"/>
    <p:sldId id="49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ABD61-4652-6A49-B204-24C965B4931B}" type="datetimeFigureOut">
              <a:rPr lang="en-US" smtClean="0"/>
              <a:t>7/1/25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D163A-7C92-8C49-B637-D9A49B733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98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BA7BD-28DB-4308-A11C-CB4B020DAEBB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7931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CCA3-5DF3-2522-742F-120FE38FA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AD691D-CC01-E658-75C4-6C7CB756F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EDF25-3372-D597-B551-711101534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C84D9-AECA-2844-BDEE-50B3F97E6EA7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AC0E2-8B60-4E75-EEDE-2D611ACFD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1F30B-0C85-23D0-125B-D3B747718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CA5C7-1780-5440-9962-66FA0707F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29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1EE1E-1BC9-1203-EC7E-A6E3061F2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D88E6-2ADD-91C5-AAC8-51F052926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5A94F-F108-2E91-C476-87E7AF4B8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C84D9-AECA-2844-BDEE-50B3F97E6EA7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D6362-94BF-1F70-7F9C-8FF94B9F1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64A43-D5FA-0237-D8EA-65DC7C4C3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CA5C7-1780-5440-9962-66FA0707F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592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91AAB-648D-25D0-72BA-AAF4BB57D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4E4CB-F513-1D73-579D-ABDEFCFE0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C8D91-212E-25D4-618D-C07813D07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C84D9-AECA-2844-BDEE-50B3F97E6EA7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25C5A-D5A2-DD2C-8E29-9B6C00255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53F80-C163-FAE2-5B96-F9D1FCB16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CA5C7-1780-5440-9962-66FA0707F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303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25D62-42AE-2B4A-8320-01C548352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231C4-9847-92AB-BD75-78E1B708D3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3F049-C53D-F9A4-98C7-A2BF5C13E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31897-62ED-A25D-47BB-39FD3BEB8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C84D9-AECA-2844-BDEE-50B3F97E6EA7}" type="datetimeFigureOut">
              <a:rPr lang="en-US" smtClean="0"/>
              <a:t>7/1/25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7A71D-07E1-D167-CADF-9D5AF6387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36F3D-E4A9-8A89-F346-349B266C3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CA5C7-1780-5440-9962-66FA0707F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593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F9531-BD26-3E58-A384-EBCE1B0F0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32E1A-F71A-627B-EA6F-F723D0327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96D5A-E368-3000-D830-0C67B49D9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A14E6-A29A-7FDA-B670-07916034F5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300A2-BB7A-9F0E-2B5D-6938A62A9F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0A3F2-DAD6-897C-C1CD-C3299B048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C84D9-AECA-2844-BDEE-50B3F97E6EA7}" type="datetimeFigureOut">
              <a:rPr lang="en-US" smtClean="0"/>
              <a:t>7/1/25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491AAA-D699-7CDB-53B8-6B9F57329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51BA1-B883-84FA-F0AA-16E7F1A07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CA5C7-1780-5440-9962-66FA0707F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69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E4641-718B-D05C-AAE0-B23FAF26D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13992-5BB1-2E65-C13D-46D1A5E4C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C84D9-AECA-2844-BDEE-50B3F97E6EA7}" type="datetimeFigureOut">
              <a:rPr lang="en-US" smtClean="0"/>
              <a:t>7/1/25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DCB300-55E0-C34B-6F8F-860424D42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E11CE3-B838-6284-CF1E-D0237DE18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CA5C7-1780-5440-9962-66FA0707F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82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A1FB97-DBDD-1A81-E020-45AF97CD9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C84D9-AECA-2844-BDEE-50B3F97E6EA7}" type="datetimeFigureOut">
              <a:rPr lang="en-US" smtClean="0"/>
              <a:t>7/1/25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0AAA1-AF75-1CD0-EED8-FA579C88A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7E33C-6AA3-E9AE-2098-96AEDB543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CA5C7-1780-5440-9962-66FA0707F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43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DD201-A6AE-9066-EFA1-7DB9ADA14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710DE-A082-76DC-D95A-010B40640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60482-08ED-467E-FCE4-585BE59D0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3C74D-4AE1-93F2-9373-A21A3FA2A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C84D9-AECA-2844-BDEE-50B3F97E6EA7}" type="datetimeFigureOut">
              <a:rPr lang="en-US" smtClean="0"/>
              <a:t>7/1/25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A2FC8-55B4-C7EE-918A-972D833CB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F22DE-F119-24B1-8699-D2BA1167A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CA5C7-1780-5440-9962-66FA0707F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64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9BCC6-D6F9-D3EF-733B-B18160E5A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BB7B4C-7713-2B18-B7EA-47752FAA7B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7BF31-A6B1-CAC7-B2D6-6227E677F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F6A376-6E55-390F-D6A2-62036FB3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C84D9-AECA-2844-BDEE-50B3F97E6EA7}" type="datetimeFigureOut">
              <a:rPr lang="en-US" smtClean="0"/>
              <a:t>7/1/25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BBF734-5036-95B3-51A7-2FF60E06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6EDF46-B3E7-E4A6-FD09-E04640CD6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CA5C7-1780-5440-9962-66FA0707F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05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7A4E7-A1EE-654C-2826-55208F54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B5F8CC-86A4-FD12-F05E-3F2AF134E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D6640-5AF0-00EF-7DBE-A3A2C71B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C84D9-AECA-2844-BDEE-50B3F97E6EA7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227FA-28CB-F7D1-0091-8CEFC9A17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709E6-F8FE-5297-81CC-EBA5AA6D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CA5C7-1780-5440-9962-66FA0707F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425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21B256-3E2C-CAB4-CF68-B5AB796F4C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5B017F-460B-722F-3A52-FCC5383DB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4F56-8F90-2CEC-99A8-149CF2B32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C84D9-AECA-2844-BDEE-50B3F97E6EA7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723A6-1076-E5CC-30A2-3D1E133AB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5AF69-6BDC-9B16-6F88-EF2CC649F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CA5C7-1780-5440-9962-66FA0707F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6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F7CCA-BDCD-E8BE-6C66-B331DAF59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4FDE8-F956-605B-12AF-8834B7449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C59AF-4754-C0A8-DC58-0E51CC6A95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C84D9-AECA-2844-BDEE-50B3F97E6EA7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BFF7F-4B55-F413-F825-B6B76D4CE8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CABDB-F1C7-9C0D-AD80-153CB59D7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CA5C7-1780-5440-9962-66FA0707F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003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besjournals.onlinelibrary.wiley.com/doi/full/10.1111/1365-2656.13116#jane13116-bib-0080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oofed Migration: New Science Study Chronicles World's Great Overland  Mammal Migrations &gt; Newsroom">
            <a:extLst>
              <a:ext uri="{FF2B5EF4-FFF2-40B4-BE49-F238E27FC236}">
                <a16:creationId xmlns:a16="http://schemas.microsoft.com/office/drawing/2014/main" id="{375DDEE5-9B49-4E50-95B4-10DA6F859A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0" r="-3" b="26276"/>
          <a:stretch/>
        </p:blipFill>
        <p:spPr bwMode="auto">
          <a:xfrm>
            <a:off x="20" y="9"/>
            <a:ext cx="7326755" cy="3015127"/>
          </a:xfrm>
          <a:custGeom>
            <a:avLst/>
            <a:gdLst/>
            <a:ahLst/>
            <a:cxnLst/>
            <a:rect l="l" t="t" r="r" b="b"/>
            <a:pathLst>
              <a:path w="7215401" h="2969304">
                <a:moveTo>
                  <a:pt x="0" y="0"/>
                </a:moveTo>
                <a:lnTo>
                  <a:pt x="677334" y="0"/>
                </a:lnTo>
                <a:lnTo>
                  <a:pt x="1168036" y="0"/>
                </a:lnTo>
                <a:lnTo>
                  <a:pt x="1205499" y="0"/>
                </a:lnTo>
                <a:lnTo>
                  <a:pt x="1647632" y="0"/>
                </a:lnTo>
                <a:lnTo>
                  <a:pt x="7215401" y="0"/>
                </a:lnTo>
                <a:lnTo>
                  <a:pt x="5840224" y="2969304"/>
                </a:lnTo>
                <a:lnTo>
                  <a:pt x="0" y="296930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he Monarch Butterfly – A Migration in Peril – REP Provisions">
            <a:extLst>
              <a:ext uri="{FF2B5EF4-FFF2-40B4-BE49-F238E27FC236}">
                <a16:creationId xmlns:a16="http://schemas.microsoft.com/office/drawing/2014/main" id="{FF58CC93-F785-F3F6-7A22-B395547287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3" b="1"/>
          <a:stretch/>
        </p:blipFill>
        <p:spPr bwMode="auto">
          <a:xfrm>
            <a:off x="5460857" y="9"/>
            <a:ext cx="6731146" cy="3842855"/>
          </a:xfrm>
          <a:custGeom>
            <a:avLst/>
            <a:gdLst/>
            <a:ahLst/>
            <a:cxnLst/>
            <a:rect l="l" t="t" r="r" b="b"/>
            <a:pathLst>
              <a:path w="6569769" h="3750734">
                <a:moveTo>
                  <a:pt x="1738471" y="0"/>
                </a:moveTo>
                <a:lnTo>
                  <a:pt x="6569769" y="0"/>
                </a:lnTo>
                <a:lnTo>
                  <a:pt x="6569769" y="3750734"/>
                </a:lnTo>
                <a:lnTo>
                  <a:pt x="0" y="375073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Whales on the move - mapping threats and solutions for our ocean giants —  WWF Protecting Whales &amp; Dolphins Initiative">
            <a:extLst>
              <a:ext uri="{FF2B5EF4-FFF2-40B4-BE49-F238E27FC236}">
                <a16:creationId xmlns:a16="http://schemas.microsoft.com/office/drawing/2014/main" id="{AFBA86C1-8DE4-6C7A-A580-1BBF97F4C5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33" b="25842"/>
          <a:stretch/>
        </p:blipFill>
        <p:spPr bwMode="auto">
          <a:xfrm>
            <a:off x="4060571" y="3842864"/>
            <a:ext cx="8131431" cy="3015136"/>
          </a:xfrm>
          <a:custGeom>
            <a:avLst/>
            <a:gdLst/>
            <a:ahLst/>
            <a:cxnLst/>
            <a:rect l="l" t="t" r="r" b="b"/>
            <a:pathLst>
              <a:path w="8009991" h="2970106">
                <a:moveTo>
                  <a:pt x="1376648" y="0"/>
                </a:moveTo>
                <a:lnTo>
                  <a:pt x="8009991" y="0"/>
                </a:lnTo>
                <a:lnTo>
                  <a:pt x="8009991" y="2970106"/>
                </a:lnTo>
                <a:lnTo>
                  <a:pt x="0" y="297010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Bar-tailed godwit | Kuaka | New Zealand Birds Online">
            <a:extLst>
              <a:ext uri="{FF2B5EF4-FFF2-40B4-BE49-F238E27FC236}">
                <a16:creationId xmlns:a16="http://schemas.microsoft.com/office/drawing/2014/main" id="{FF5B2C7D-1D7C-B087-3732-0FA55FC230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0" r="1" b="1"/>
          <a:stretch/>
        </p:blipFill>
        <p:spPr bwMode="auto">
          <a:xfrm>
            <a:off x="1" y="3011900"/>
            <a:ext cx="6366075" cy="3846100"/>
          </a:xfrm>
          <a:custGeom>
            <a:avLst/>
            <a:gdLst/>
            <a:ahLst/>
            <a:cxnLst/>
            <a:rect l="l" t="t" r="r" b="b"/>
            <a:pathLst>
              <a:path w="6209553" h="3751536">
                <a:moveTo>
                  <a:pt x="0" y="0"/>
                </a:moveTo>
                <a:lnTo>
                  <a:pt x="5776701" y="0"/>
                </a:lnTo>
                <a:lnTo>
                  <a:pt x="4041567" y="3746529"/>
                </a:lnTo>
                <a:lnTo>
                  <a:pt x="6209553" y="3746529"/>
                </a:lnTo>
                <a:lnTo>
                  <a:pt x="6209553" y="3746530"/>
                </a:lnTo>
                <a:lnTo>
                  <a:pt x="1647632" y="3746530"/>
                </a:lnTo>
                <a:lnTo>
                  <a:pt x="1647632" y="3751536"/>
                </a:lnTo>
                <a:lnTo>
                  <a:pt x="0" y="375153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9235C0C-A2BD-5750-2777-1CAB825D0F99}"/>
              </a:ext>
            </a:extLst>
          </p:cNvPr>
          <p:cNvSpPr txBox="1">
            <a:spLocks/>
          </p:cNvSpPr>
          <p:nvPr/>
        </p:nvSpPr>
        <p:spPr>
          <a:xfrm>
            <a:off x="21" y="2619910"/>
            <a:ext cx="12191979" cy="723014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bg1"/>
                </a:solidFill>
                <a:latin typeface="Helvetica" pitchFamily="2" charset="0"/>
              </a:rPr>
              <a:t>Clustering, Segmentation, and Behavior Classification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5A73692-1CA5-61CD-E2E5-215B455E6B65}"/>
              </a:ext>
            </a:extLst>
          </p:cNvPr>
          <p:cNvSpPr txBox="1">
            <a:spLocks/>
          </p:cNvSpPr>
          <p:nvPr/>
        </p:nvSpPr>
        <p:spPr>
          <a:xfrm>
            <a:off x="-21" y="5913057"/>
            <a:ext cx="12192000" cy="289368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800" dirty="0">
                <a:solidFill>
                  <a:schemeClr val="bg2"/>
                </a:solidFill>
                <a:latin typeface="Helvetica" pitchFamily="2" charset="0"/>
              </a:rPr>
              <a:t>Wenjing Xu</a:t>
            </a:r>
            <a:r>
              <a:rPr lang="zh-CN" altLang="en-US" sz="1800" dirty="0">
                <a:solidFill>
                  <a:schemeClr val="bg2"/>
                </a:solidFill>
                <a:latin typeface="Helvetica" pitchFamily="2" charset="0"/>
              </a:rPr>
              <a:t> </a:t>
            </a:r>
            <a:r>
              <a:rPr lang="zh-CN" altLang="en-US" sz="1800" b="1" dirty="0">
                <a:solidFill>
                  <a:schemeClr val="bg2"/>
                </a:solidFill>
              </a:rPr>
              <a:t>徐雯靓</a:t>
            </a:r>
            <a:r>
              <a:rPr lang="en-US" sz="1800" b="1" dirty="0">
                <a:solidFill>
                  <a:schemeClr val="bg2"/>
                </a:solidFill>
              </a:rPr>
              <a:t> | </a:t>
            </a:r>
            <a:r>
              <a:rPr lang="en-US" sz="1800" u="sng" dirty="0" err="1">
                <a:solidFill>
                  <a:schemeClr val="bg2"/>
                </a:solidFill>
                <a:latin typeface="Helvetica" pitchFamily="2" charset="0"/>
              </a:rPr>
              <a:t>wenjingxu@umass.edu</a:t>
            </a:r>
            <a:endParaRPr lang="en-US" sz="1800" dirty="0">
              <a:solidFill>
                <a:schemeClr val="bg2"/>
              </a:solidFill>
              <a:latin typeface="Helvetica" pitchFamily="2" charset="0"/>
            </a:endParaRPr>
          </a:p>
          <a:p>
            <a:pPr marL="0" indent="0" algn="r">
              <a:buNone/>
            </a:pPr>
            <a:r>
              <a:rPr lang="en-US" sz="1800" dirty="0">
                <a:solidFill>
                  <a:schemeClr val="bg2"/>
                </a:solidFill>
                <a:latin typeface="Helvetica" pitchFamily="2" charset="0"/>
              </a:rPr>
              <a:t>Movement Ecology Workshop @ Fudan | August 2025</a:t>
            </a:r>
          </a:p>
        </p:txBody>
      </p:sp>
    </p:spTree>
    <p:extLst>
      <p:ext uri="{BB962C8B-B14F-4D97-AF65-F5344CB8AC3E}">
        <p14:creationId xmlns:p14="http://schemas.microsoft.com/office/powerpoint/2010/main" val="2700419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C5C95B-BD8F-E211-5357-FC7B96BDC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84303"/>
            <a:ext cx="7772400" cy="388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377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57C751-4EC1-DED2-7E09-875B40B51DB6}"/>
              </a:ext>
            </a:extLst>
          </p:cNvPr>
          <p:cNvSpPr txBox="1"/>
          <p:nvPr/>
        </p:nvSpPr>
        <p:spPr>
          <a:xfrm>
            <a:off x="3048000" y="677027"/>
            <a:ext cx="60960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Another common goal in movement ecology is to get a proxy of the individual's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behaviour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through the observed movement patterns, based on either the locations themselves or second-/third-order variables such as distance, speed or turning angles. Covariates, mainly related to the environment, are frequently used for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behavioural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pattern identification.</a:t>
            </a:r>
          </a:p>
          <a:p>
            <a:pPr algn="l">
              <a:spcAft>
                <a:spcPts val="1200"/>
              </a:spcAft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We classify the methods in this section as follows: (a) non-sequential classification or clustering techniques, where each fix in the track is classified as a given type of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behaviour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independently of the classification of the preceding or following fixes (i.e. independently of the temporal sequence); (b) segmentation methods, which identify change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behaviour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time series of movement patterns to cut them into several segments; and (c) hidden Markov models,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centred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upon a hidden state Markovian process (representing the sequence of non-observed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behaviours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) that conditions the observed movement patterns (Langrock et al., </a:t>
            </a:r>
            <a:r>
              <a:rPr lang="en-US" b="1" i="0" dirty="0">
                <a:solidFill>
                  <a:srgbClr val="123D80"/>
                </a:solidFill>
                <a:effectLst/>
                <a:latin typeface="Open Sans" panose="020B0606030504020204" pitchFamily="34" charset="0"/>
                <a:hlinkClick r:id="rId2"/>
              </a:rPr>
              <a:t>2012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665821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21A1D0-0F5D-22D3-E694-229832F7EDC9}"/>
              </a:ext>
            </a:extLst>
          </p:cNvPr>
          <p:cNvSpPr txBox="1"/>
          <p:nvPr/>
        </p:nvSpPr>
        <p:spPr>
          <a:xfrm>
            <a:off x="3048000" y="310846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▪TRESHOLDING/CLUSTERING  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Helvetica" pitchFamily="2" charset="0"/>
              </a:rPr>
              <a:t>▪ Changepoints 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(BPMM / BCPA)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▪ Hidden Markov Models</a:t>
            </a:r>
          </a:p>
        </p:txBody>
      </p:sp>
    </p:spTree>
    <p:extLst>
      <p:ext uri="{BB962C8B-B14F-4D97-AF65-F5344CB8AC3E}">
        <p14:creationId xmlns:p14="http://schemas.microsoft.com/office/powerpoint/2010/main" val="3526873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214</Words>
  <Application>Microsoft Macintosh PowerPoint</Application>
  <PresentationFormat>Widescreen</PresentationFormat>
  <Paragraphs>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Wenjing Xu</dc:creator>
  <cp:lastModifiedBy>Wenjing Xu</cp:lastModifiedBy>
  <cp:revision>3</cp:revision>
  <dcterms:created xsi:type="dcterms:W3CDTF">2025-06-16T16:58:00Z</dcterms:created>
  <dcterms:modified xsi:type="dcterms:W3CDTF">2025-07-01T17:34:18Z</dcterms:modified>
</cp:coreProperties>
</file>