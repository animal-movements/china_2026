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88" r:id="rId3"/>
    <p:sldId id="269" r:id="rId4"/>
    <p:sldId id="290" r:id="rId5"/>
    <p:sldId id="291" r:id="rId6"/>
    <p:sldId id="282" r:id="rId7"/>
    <p:sldId id="279" r:id="rId8"/>
    <p:sldId id="287" r:id="rId9"/>
    <p:sldId id="284" r:id="rId10"/>
    <p:sldId id="280" r:id="rId11"/>
    <p:sldId id="257" r:id="rId12"/>
    <p:sldId id="259" r:id="rId13"/>
    <p:sldId id="262" r:id="rId14"/>
    <p:sldId id="263" r:id="rId15"/>
    <p:sldId id="264" r:id="rId16"/>
    <p:sldId id="265" r:id="rId17"/>
    <p:sldId id="266" r:id="rId18"/>
    <p:sldId id="268" r:id="rId19"/>
    <p:sldId id="267" r:id="rId20"/>
    <p:sldId id="258" r:id="rId21"/>
    <p:sldId id="271" r:id="rId22"/>
    <p:sldId id="277" r:id="rId23"/>
    <p:sldId id="272" r:id="rId24"/>
    <p:sldId id="273" r:id="rId25"/>
    <p:sldId id="274" r:id="rId26"/>
    <p:sldId id="276" r:id="rId27"/>
    <p:sldId id="278" r:id="rId28"/>
    <p:sldId id="275" r:id="rId29"/>
    <p:sldId id="289" r:id="rId30"/>
    <p:sldId id="260" r:id="rId31"/>
    <p:sldId id="27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89605" autoAdjust="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7A3FF0-AA51-0047-89E4-48AE165B7F65}" type="datetimeFigureOut">
              <a:rPr lang="en-US" smtClean="0"/>
              <a:t>7/31/2026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A5D6D0-9DE1-274A-B744-9C334D22C796}" type="slidenum">
              <a:rPr lang="en-US" smtClean="0"/>
              <a:t>‹#›</a:t>
            </a:fld>
            <a:endParaRPr lang="en-US"/>
          </a:p>
        </p:txBody>
      </p:sp>
    </p:spTree>
    <p:extLst>
      <p:ext uri="{BB962C8B-B14F-4D97-AF65-F5344CB8AC3E}">
        <p14:creationId xmlns:p14="http://schemas.microsoft.com/office/powerpoint/2010/main" val="1417821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Electromagnetic energy travels in waves and spans a broad spectrum from very long radio waves to very short gamma rays. The human eye can only detect only a small portion of this spectrum called visible light. A radio detects a different portion of the spectrum, and an x-ray machine uses yet another portion. </a:t>
            </a:r>
            <a:endParaRPr lang="en-US" dirty="0"/>
          </a:p>
        </p:txBody>
      </p:sp>
      <p:sp>
        <p:nvSpPr>
          <p:cNvPr id="4" name="Slide Number Placeholder 3"/>
          <p:cNvSpPr>
            <a:spLocks noGrp="1"/>
          </p:cNvSpPr>
          <p:nvPr>
            <p:ph type="sldNum" sz="quarter" idx="5"/>
          </p:nvPr>
        </p:nvSpPr>
        <p:spPr/>
        <p:txBody>
          <a:bodyPr/>
          <a:lstStyle/>
          <a:p>
            <a:fld id="{3EA5D6D0-9DE1-274A-B744-9C334D22C796}" type="slidenum">
              <a:rPr lang="en-US" smtClean="0"/>
              <a:t>3</a:t>
            </a:fld>
            <a:endParaRPr lang="en-US"/>
          </a:p>
        </p:txBody>
      </p:sp>
    </p:spTree>
    <p:extLst>
      <p:ext uri="{BB962C8B-B14F-4D97-AF65-F5344CB8AC3E}">
        <p14:creationId xmlns:p14="http://schemas.microsoft.com/office/powerpoint/2010/main" val="2946771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A5D6D0-9DE1-274A-B744-9C334D22C796}" type="slidenum">
              <a:rPr lang="en-US" smtClean="0"/>
              <a:t>8</a:t>
            </a:fld>
            <a:endParaRPr lang="en-US"/>
          </a:p>
        </p:txBody>
      </p:sp>
    </p:spTree>
    <p:extLst>
      <p:ext uri="{BB962C8B-B14F-4D97-AF65-F5344CB8AC3E}">
        <p14:creationId xmlns:p14="http://schemas.microsoft.com/office/powerpoint/2010/main" val="2215065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FA678-4A0B-A6E5-4D84-B8AD8E7347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B72169-4BE4-A1F8-515C-296C4B4C49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B93872-D92A-D146-5EBE-418D68D2CC22}"/>
              </a:ext>
            </a:extLst>
          </p:cNvPr>
          <p:cNvSpPr>
            <a:spLocks noGrp="1"/>
          </p:cNvSpPr>
          <p:nvPr>
            <p:ph type="dt" sz="half" idx="10"/>
          </p:nvPr>
        </p:nvSpPr>
        <p:spPr/>
        <p:txBody>
          <a:bodyPr/>
          <a:lstStyle/>
          <a:p>
            <a:fld id="{4657380C-1F89-4ADF-A887-B33E03B25DDC}" type="datetimeFigureOut">
              <a:rPr lang="en-US" smtClean="0"/>
              <a:t>7/31/2026</a:t>
            </a:fld>
            <a:endParaRPr lang="en-US"/>
          </a:p>
        </p:txBody>
      </p:sp>
      <p:sp>
        <p:nvSpPr>
          <p:cNvPr id="5" name="Footer Placeholder 4">
            <a:extLst>
              <a:ext uri="{FF2B5EF4-FFF2-40B4-BE49-F238E27FC236}">
                <a16:creationId xmlns:a16="http://schemas.microsoft.com/office/drawing/2014/main" id="{01C283ED-C070-1A10-065E-D855C7B0AB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0DC073-63A9-6C4F-833C-3C8EF5D8FABB}"/>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55705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9865F-AB24-3B02-5CC3-A9BBA9D00E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5C5799-82BA-C3B8-39B2-82499D9C17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A7D19F-8C2D-E30D-DB02-E2BEBED7F8EC}"/>
              </a:ext>
            </a:extLst>
          </p:cNvPr>
          <p:cNvSpPr>
            <a:spLocks noGrp="1"/>
          </p:cNvSpPr>
          <p:nvPr>
            <p:ph type="dt" sz="half" idx="10"/>
          </p:nvPr>
        </p:nvSpPr>
        <p:spPr/>
        <p:txBody>
          <a:bodyPr/>
          <a:lstStyle/>
          <a:p>
            <a:fld id="{4657380C-1F89-4ADF-A887-B33E03B25DDC}" type="datetimeFigureOut">
              <a:rPr lang="en-US" smtClean="0"/>
              <a:t>7/31/2026</a:t>
            </a:fld>
            <a:endParaRPr lang="en-US"/>
          </a:p>
        </p:txBody>
      </p:sp>
      <p:sp>
        <p:nvSpPr>
          <p:cNvPr id="5" name="Footer Placeholder 4">
            <a:extLst>
              <a:ext uri="{FF2B5EF4-FFF2-40B4-BE49-F238E27FC236}">
                <a16:creationId xmlns:a16="http://schemas.microsoft.com/office/drawing/2014/main" id="{B29A475B-6AFB-CA91-12E5-8F518F9DF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F5289F-5D10-2E27-522E-5DFC1503951F}"/>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419497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C2D44-B1E4-C172-9DE3-E49F607A2B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298C4F-C98A-518B-21D6-5D4FB7F496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140A08-37F5-9645-2409-C573EB794487}"/>
              </a:ext>
            </a:extLst>
          </p:cNvPr>
          <p:cNvSpPr>
            <a:spLocks noGrp="1"/>
          </p:cNvSpPr>
          <p:nvPr>
            <p:ph type="dt" sz="half" idx="10"/>
          </p:nvPr>
        </p:nvSpPr>
        <p:spPr/>
        <p:txBody>
          <a:bodyPr/>
          <a:lstStyle/>
          <a:p>
            <a:fld id="{4657380C-1F89-4ADF-A887-B33E03B25DDC}" type="datetimeFigureOut">
              <a:rPr lang="en-US" smtClean="0"/>
              <a:t>7/31/2026</a:t>
            </a:fld>
            <a:endParaRPr lang="en-US"/>
          </a:p>
        </p:txBody>
      </p:sp>
      <p:sp>
        <p:nvSpPr>
          <p:cNvPr id="5" name="Footer Placeholder 4">
            <a:extLst>
              <a:ext uri="{FF2B5EF4-FFF2-40B4-BE49-F238E27FC236}">
                <a16:creationId xmlns:a16="http://schemas.microsoft.com/office/drawing/2014/main" id="{9E75654E-8D5C-F180-CC71-DE2EF4EE0D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694CBA-EF3A-593D-45E9-F79C74B84E51}"/>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3803863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CE1CF-EA2B-BCA1-91BA-05BEF5BB15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D8F741-C368-E6E7-8C15-F384452930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06DDFF-18BA-E662-DEF4-7CFFF13627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AD622C-3A7E-A86D-E972-207513E33F94}"/>
              </a:ext>
            </a:extLst>
          </p:cNvPr>
          <p:cNvSpPr>
            <a:spLocks noGrp="1"/>
          </p:cNvSpPr>
          <p:nvPr>
            <p:ph type="dt" sz="half" idx="10"/>
          </p:nvPr>
        </p:nvSpPr>
        <p:spPr/>
        <p:txBody>
          <a:bodyPr/>
          <a:lstStyle/>
          <a:p>
            <a:fld id="{4657380C-1F89-4ADF-A887-B33E03B25DDC}" type="datetimeFigureOut">
              <a:rPr lang="en-US" smtClean="0"/>
              <a:t>7/31/2026</a:t>
            </a:fld>
            <a:endParaRPr lang="en-US"/>
          </a:p>
        </p:txBody>
      </p:sp>
      <p:sp>
        <p:nvSpPr>
          <p:cNvPr id="6" name="Footer Placeholder 5">
            <a:extLst>
              <a:ext uri="{FF2B5EF4-FFF2-40B4-BE49-F238E27FC236}">
                <a16:creationId xmlns:a16="http://schemas.microsoft.com/office/drawing/2014/main" id="{189F2881-A273-93DE-C373-D3C8644DB3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C06E56-4177-5183-A2F6-CE7D249926CA}"/>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72337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7ECE4-AC51-3679-9D29-C4C99F5DA5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05403A8-8C21-A2BB-738C-B40A255DF1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72FAC0-AEDE-B2F1-D592-94E8B4B553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85D15F-6C16-C840-9327-F6BCFA3C3E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75CCF0-7EA1-D500-5F33-74A2D90E44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9400AB-0E19-BB28-01BE-9B6173CC497E}"/>
              </a:ext>
            </a:extLst>
          </p:cNvPr>
          <p:cNvSpPr>
            <a:spLocks noGrp="1"/>
          </p:cNvSpPr>
          <p:nvPr>
            <p:ph type="dt" sz="half" idx="10"/>
          </p:nvPr>
        </p:nvSpPr>
        <p:spPr/>
        <p:txBody>
          <a:bodyPr/>
          <a:lstStyle/>
          <a:p>
            <a:fld id="{4657380C-1F89-4ADF-A887-B33E03B25DDC}" type="datetimeFigureOut">
              <a:rPr lang="en-US" smtClean="0"/>
              <a:t>7/31/2026</a:t>
            </a:fld>
            <a:endParaRPr lang="en-US"/>
          </a:p>
        </p:txBody>
      </p:sp>
      <p:sp>
        <p:nvSpPr>
          <p:cNvPr id="8" name="Footer Placeholder 7">
            <a:extLst>
              <a:ext uri="{FF2B5EF4-FFF2-40B4-BE49-F238E27FC236}">
                <a16:creationId xmlns:a16="http://schemas.microsoft.com/office/drawing/2014/main" id="{64C36457-399A-A756-7477-2164D9647F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49AFF6-4BC8-B108-58D0-86DE38852481}"/>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1723222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C6388-A8C3-9F01-A7B4-87696177D5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5EA00FD-8DED-95AC-76AD-5202612323DE}"/>
              </a:ext>
            </a:extLst>
          </p:cNvPr>
          <p:cNvSpPr>
            <a:spLocks noGrp="1"/>
          </p:cNvSpPr>
          <p:nvPr>
            <p:ph type="dt" sz="half" idx="10"/>
          </p:nvPr>
        </p:nvSpPr>
        <p:spPr/>
        <p:txBody>
          <a:bodyPr/>
          <a:lstStyle/>
          <a:p>
            <a:fld id="{4657380C-1F89-4ADF-A887-B33E03B25DDC}" type="datetimeFigureOut">
              <a:rPr lang="en-US" smtClean="0"/>
              <a:t>7/31/2026</a:t>
            </a:fld>
            <a:endParaRPr lang="en-US"/>
          </a:p>
        </p:txBody>
      </p:sp>
      <p:sp>
        <p:nvSpPr>
          <p:cNvPr id="4" name="Footer Placeholder 3">
            <a:extLst>
              <a:ext uri="{FF2B5EF4-FFF2-40B4-BE49-F238E27FC236}">
                <a16:creationId xmlns:a16="http://schemas.microsoft.com/office/drawing/2014/main" id="{85E4178A-86EA-7AE5-E36D-7661D75074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989D36-0C0C-59A2-9227-4305AB0812E6}"/>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687644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A25C36-7281-80A0-D2AD-C6790CFC7A50}"/>
              </a:ext>
            </a:extLst>
          </p:cNvPr>
          <p:cNvSpPr>
            <a:spLocks noGrp="1"/>
          </p:cNvSpPr>
          <p:nvPr>
            <p:ph type="dt" sz="half" idx="10"/>
          </p:nvPr>
        </p:nvSpPr>
        <p:spPr/>
        <p:txBody>
          <a:bodyPr/>
          <a:lstStyle/>
          <a:p>
            <a:fld id="{4657380C-1F89-4ADF-A887-B33E03B25DDC}" type="datetimeFigureOut">
              <a:rPr lang="en-US" smtClean="0"/>
              <a:t>7/31/2026</a:t>
            </a:fld>
            <a:endParaRPr lang="en-US"/>
          </a:p>
        </p:txBody>
      </p:sp>
      <p:sp>
        <p:nvSpPr>
          <p:cNvPr id="3" name="Footer Placeholder 2">
            <a:extLst>
              <a:ext uri="{FF2B5EF4-FFF2-40B4-BE49-F238E27FC236}">
                <a16:creationId xmlns:a16="http://schemas.microsoft.com/office/drawing/2014/main" id="{10A78C29-F68D-3A65-6615-4ED57FB997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18B088-E025-BF48-F0F3-0F97FA55995E}"/>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2916813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8AC53-0073-08F7-0FD6-3EB7E18A02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90F582-B33A-4861-8A53-93AF05CDBB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1FB0C6-75F3-6C06-695E-D25FA18D48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E56D51-08D0-DF61-66FB-767E68776887}"/>
              </a:ext>
            </a:extLst>
          </p:cNvPr>
          <p:cNvSpPr>
            <a:spLocks noGrp="1"/>
          </p:cNvSpPr>
          <p:nvPr>
            <p:ph type="dt" sz="half" idx="10"/>
          </p:nvPr>
        </p:nvSpPr>
        <p:spPr/>
        <p:txBody>
          <a:bodyPr/>
          <a:lstStyle/>
          <a:p>
            <a:fld id="{4657380C-1F89-4ADF-A887-B33E03B25DDC}" type="datetimeFigureOut">
              <a:rPr lang="en-US" smtClean="0"/>
              <a:t>7/31/2026</a:t>
            </a:fld>
            <a:endParaRPr lang="en-US"/>
          </a:p>
        </p:txBody>
      </p:sp>
      <p:sp>
        <p:nvSpPr>
          <p:cNvPr id="6" name="Footer Placeholder 5">
            <a:extLst>
              <a:ext uri="{FF2B5EF4-FFF2-40B4-BE49-F238E27FC236}">
                <a16:creationId xmlns:a16="http://schemas.microsoft.com/office/drawing/2014/main" id="{EB5B8CC5-598E-358E-C52D-DC9DDFA915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73CD1E-AA16-AD4E-8A99-757BC381E182}"/>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585972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10594-5971-7EF2-23A7-DFC45012AA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DC92B5-7755-5066-CFBA-03C444E424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1E1DF1D-23EB-33B4-CD39-C87B19989D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13EF9D-FEED-975B-8CB9-A42AE2C65275}"/>
              </a:ext>
            </a:extLst>
          </p:cNvPr>
          <p:cNvSpPr>
            <a:spLocks noGrp="1"/>
          </p:cNvSpPr>
          <p:nvPr>
            <p:ph type="dt" sz="half" idx="10"/>
          </p:nvPr>
        </p:nvSpPr>
        <p:spPr/>
        <p:txBody>
          <a:bodyPr/>
          <a:lstStyle/>
          <a:p>
            <a:fld id="{4657380C-1F89-4ADF-A887-B33E03B25DDC}" type="datetimeFigureOut">
              <a:rPr lang="en-US" smtClean="0"/>
              <a:t>7/31/2026</a:t>
            </a:fld>
            <a:endParaRPr lang="en-US"/>
          </a:p>
        </p:txBody>
      </p:sp>
      <p:sp>
        <p:nvSpPr>
          <p:cNvPr id="6" name="Footer Placeholder 5">
            <a:extLst>
              <a:ext uri="{FF2B5EF4-FFF2-40B4-BE49-F238E27FC236}">
                <a16:creationId xmlns:a16="http://schemas.microsoft.com/office/drawing/2014/main" id="{C93652A6-DC6B-4830-5E59-E9076F6CE2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FD68AC-44E1-284B-EA98-DDADEB26971D}"/>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1948464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3B424-3B8F-C2D0-6C75-E0AA365FF8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53C2C14-B2E2-5F79-AF38-EC5F3845DD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FBA9DE-06D8-810A-A275-012C49603C0A}"/>
              </a:ext>
            </a:extLst>
          </p:cNvPr>
          <p:cNvSpPr>
            <a:spLocks noGrp="1"/>
          </p:cNvSpPr>
          <p:nvPr>
            <p:ph type="dt" sz="half" idx="10"/>
          </p:nvPr>
        </p:nvSpPr>
        <p:spPr/>
        <p:txBody>
          <a:bodyPr/>
          <a:lstStyle/>
          <a:p>
            <a:fld id="{4657380C-1F89-4ADF-A887-B33E03B25DDC}" type="datetimeFigureOut">
              <a:rPr lang="en-US" smtClean="0"/>
              <a:t>7/31/2026</a:t>
            </a:fld>
            <a:endParaRPr lang="en-US"/>
          </a:p>
        </p:txBody>
      </p:sp>
      <p:sp>
        <p:nvSpPr>
          <p:cNvPr id="5" name="Footer Placeholder 4">
            <a:extLst>
              <a:ext uri="{FF2B5EF4-FFF2-40B4-BE49-F238E27FC236}">
                <a16:creationId xmlns:a16="http://schemas.microsoft.com/office/drawing/2014/main" id="{7BF0AA9E-1AE5-4621-4CC0-DB868F19D9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160B39-F1EC-8326-8579-79ECA2A29DFB}"/>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3696588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EE51A9-4BBC-301B-C6BC-F8D40E64179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7581BF-3AA7-9A61-CDCD-40B0F04CBB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378DCB-FECE-8385-8B00-65A86C26BDEF}"/>
              </a:ext>
            </a:extLst>
          </p:cNvPr>
          <p:cNvSpPr>
            <a:spLocks noGrp="1"/>
          </p:cNvSpPr>
          <p:nvPr>
            <p:ph type="dt" sz="half" idx="10"/>
          </p:nvPr>
        </p:nvSpPr>
        <p:spPr/>
        <p:txBody>
          <a:bodyPr/>
          <a:lstStyle/>
          <a:p>
            <a:fld id="{4657380C-1F89-4ADF-A887-B33E03B25DDC}" type="datetimeFigureOut">
              <a:rPr lang="en-US" smtClean="0"/>
              <a:t>7/31/2026</a:t>
            </a:fld>
            <a:endParaRPr lang="en-US"/>
          </a:p>
        </p:txBody>
      </p:sp>
      <p:sp>
        <p:nvSpPr>
          <p:cNvPr id="5" name="Footer Placeholder 4">
            <a:extLst>
              <a:ext uri="{FF2B5EF4-FFF2-40B4-BE49-F238E27FC236}">
                <a16:creationId xmlns:a16="http://schemas.microsoft.com/office/drawing/2014/main" id="{86067C8D-F670-F4D7-9614-669B811EFA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5C9ADF-2644-B7EB-A546-E40670105C24}"/>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2289541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34173B-4A5A-B3FC-FECC-19D382957B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B03E768-F658-856C-C728-4775CA599A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4DD578-6A10-5302-2B74-C686083620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657380C-1F89-4ADF-A887-B33E03B25DDC}" type="datetimeFigureOut">
              <a:rPr lang="en-US" smtClean="0"/>
              <a:t>7/31/2026</a:t>
            </a:fld>
            <a:endParaRPr lang="en-US"/>
          </a:p>
        </p:txBody>
      </p:sp>
      <p:sp>
        <p:nvSpPr>
          <p:cNvPr id="5" name="Footer Placeholder 4">
            <a:extLst>
              <a:ext uri="{FF2B5EF4-FFF2-40B4-BE49-F238E27FC236}">
                <a16:creationId xmlns:a16="http://schemas.microsoft.com/office/drawing/2014/main" id="{C3322947-1EB4-CC36-F94A-F4E1D0DE87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8A12362-49E7-3226-5EAF-9765B0B3CA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ACC7BE5-7375-49F8-8A62-CAC21F82732C}" type="slidenum">
              <a:rPr lang="en-US" smtClean="0"/>
              <a:t>‹#›</a:t>
            </a:fld>
            <a:endParaRPr lang="en-US"/>
          </a:p>
        </p:txBody>
      </p:sp>
    </p:spTree>
    <p:extLst>
      <p:ext uri="{BB962C8B-B14F-4D97-AF65-F5344CB8AC3E}">
        <p14:creationId xmlns:p14="http://schemas.microsoft.com/office/powerpoint/2010/main" val="1933312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www.movebank.org/cms/movebank-content/env-data" TargetMode="External"/><Relationship Id="rId7" Type="http://schemas.openxmlformats.org/officeDocument/2006/relationships/image" Target="../media/image14.png"/><Relationship Id="rId2" Type="http://schemas.openxmlformats.org/officeDocument/2006/relationships/hyperlink" Target="https://search.earthdata.nasa.gov/search" TargetMode="Externa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hyperlink" Target="https://earthengine.google.com/"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search.earthdata.nasa.gov/search"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movebank.org/cms/movebank-content/env-data" TargetMode="Externa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earthengine.google.com/"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atellite in space above earth&#10;&#10;AI-generated content may be incorrect.">
            <a:extLst>
              <a:ext uri="{FF2B5EF4-FFF2-40B4-BE49-F238E27FC236}">
                <a16:creationId xmlns:a16="http://schemas.microsoft.com/office/drawing/2014/main" id="{B490F67D-541D-E21A-D307-88F72AFAA976}"/>
              </a:ext>
            </a:extLst>
          </p:cNvPr>
          <p:cNvPicPr>
            <a:picLocks noChangeAspect="1"/>
          </p:cNvPicPr>
          <p:nvPr/>
        </p:nvPicPr>
        <p:blipFill>
          <a:blip r:embed="rId2">
            <a:extLst>
              <a:ext uri="{28A0092B-C50C-407E-A947-70E740481C1C}">
                <a14:useLocalDpi xmlns:a14="http://schemas.microsoft.com/office/drawing/2010/main" val="0"/>
              </a:ext>
            </a:extLst>
          </a:blip>
          <a:srcRect l="1"/>
          <a:stretch>
            <a:fillRect/>
          </a:stretch>
        </p:blipFill>
        <p:spPr>
          <a:xfrm>
            <a:off x="20" y="-22"/>
            <a:ext cx="12191977" cy="6858022"/>
          </a:xfrm>
          <a:prstGeom prst="rect">
            <a:avLst/>
          </a:prstGeom>
        </p:spPr>
      </p:pic>
      <p:sp>
        <p:nvSpPr>
          <p:cNvPr id="1053" name="Rectangle 1052">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696AC9-6883-C475-E649-3C719CFD2749}"/>
              </a:ext>
            </a:extLst>
          </p:cNvPr>
          <p:cNvSpPr txBox="1">
            <a:spLocks/>
          </p:cNvSpPr>
          <p:nvPr/>
        </p:nvSpPr>
        <p:spPr>
          <a:xfrm>
            <a:off x="643466" y="643467"/>
            <a:ext cx="5452529" cy="3569242"/>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5200">
                <a:solidFill>
                  <a:srgbClr val="FFFFFF"/>
                </a:solidFill>
              </a:rPr>
              <a:t>Remote Sensing Applications</a:t>
            </a:r>
          </a:p>
        </p:txBody>
      </p:sp>
      <p:sp>
        <p:nvSpPr>
          <p:cNvPr id="1054" name="Rectangle 1053">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7541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map of the world&#10;&#10;AI-generated content may be incorrect.">
            <a:extLst>
              <a:ext uri="{FF2B5EF4-FFF2-40B4-BE49-F238E27FC236}">
                <a16:creationId xmlns:a16="http://schemas.microsoft.com/office/drawing/2014/main" id="{4BBC98F4-5C51-DE60-CE58-CE938B67B4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77"/>
            <a:ext cx="12192000" cy="6862354"/>
          </a:xfrm>
          <a:prstGeom prst="rect">
            <a:avLst/>
          </a:prstGeom>
        </p:spPr>
      </p:pic>
    </p:spTree>
    <p:extLst>
      <p:ext uri="{BB962C8B-B14F-4D97-AF65-F5344CB8AC3E}">
        <p14:creationId xmlns:p14="http://schemas.microsoft.com/office/powerpoint/2010/main" val="1858572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ntroduction to the Electromagnetic Spectrum - NASA Science">
            <a:extLst>
              <a:ext uri="{FF2B5EF4-FFF2-40B4-BE49-F238E27FC236}">
                <a16:creationId xmlns:a16="http://schemas.microsoft.com/office/drawing/2014/main" id="{46F475AB-0EDF-9804-8510-73CA73629A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41325"/>
            <a:ext cx="12192000" cy="5973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2340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FC6997-631E-D34B-6AD0-75B9443F811F}"/>
              </a:ext>
            </a:extLst>
          </p:cNvPr>
          <p:cNvPicPr>
            <a:picLocks noChangeAspect="1"/>
          </p:cNvPicPr>
          <p:nvPr/>
        </p:nvPicPr>
        <p:blipFill>
          <a:blip r:embed="rId2"/>
          <a:stretch>
            <a:fillRect/>
          </a:stretch>
        </p:blipFill>
        <p:spPr>
          <a:xfrm>
            <a:off x="487483" y="1789318"/>
            <a:ext cx="4511431" cy="4816257"/>
          </a:xfrm>
          <a:prstGeom prst="rect">
            <a:avLst/>
          </a:prstGeom>
        </p:spPr>
      </p:pic>
      <p:sp>
        <p:nvSpPr>
          <p:cNvPr id="6" name="Title 1">
            <a:extLst>
              <a:ext uri="{FF2B5EF4-FFF2-40B4-BE49-F238E27FC236}">
                <a16:creationId xmlns:a16="http://schemas.microsoft.com/office/drawing/2014/main" id="{1F1CCC71-6620-5BCB-5DCD-1BEBC1F95923}"/>
              </a:ext>
            </a:extLst>
          </p:cNvPr>
          <p:cNvSpPr>
            <a:spLocks noGrp="1"/>
          </p:cNvSpPr>
          <p:nvPr>
            <p:ph type="title"/>
          </p:nvPr>
        </p:nvSpPr>
        <p:spPr>
          <a:xfrm>
            <a:off x="838200" y="365125"/>
            <a:ext cx="10515600" cy="878459"/>
          </a:xfrm>
        </p:spPr>
        <p:txBody>
          <a:bodyPr>
            <a:normAutofit/>
          </a:bodyPr>
          <a:lstStyle/>
          <a:p>
            <a:r>
              <a:rPr lang="en-US" dirty="0"/>
              <a:t>Key Concept</a:t>
            </a:r>
            <a:endParaRPr lang="en-US" sz="2000" dirty="0"/>
          </a:p>
        </p:txBody>
      </p:sp>
      <p:sp>
        <p:nvSpPr>
          <p:cNvPr id="7" name="TextBox 6">
            <a:extLst>
              <a:ext uri="{FF2B5EF4-FFF2-40B4-BE49-F238E27FC236}">
                <a16:creationId xmlns:a16="http://schemas.microsoft.com/office/drawing/2014/main" id="{D627283A-876C-BDBE-E47B-8C3AB4AAABC8}"/>
              </a:ext>
            </a:extLst>
          </p:cNvPr>
          <p:cNvSpPr txBox="1"/>
          <p:nvPr/>
        </p:nvSpPr>
        <p:spPr>
          <a:xfrm>
            <a:off x="1746504" y="1091660"/>
            <a:ext cx="4656916" cy="461665"/>
          </a:xfrm>
          <a:prstGeom prst="rect">
            <a:avLst/>
          </a:prstGeom>
          <a:noFill/>
        </p:spPr>
        <p:txBody>
          <a:bodyPr wrap="none" rtlCol="0">
            <a:spAutoFit/>
          </a:bodyPr>
          <a:lstStyle/>
          <a:p>
            <a:r>
              <a:rPr lang="en-US" sz="2400" dirty="0">
                <a:solidFill>
                  <a:srgbClr val="0070C0"/>
                </a:solidFill>
              </a:rPr>
              <a:t>Active vs Passive Remote Sensing</a:t>
            </a:r>
          </a:p>
        </p:txBody>
      </p:sp>
      <p:pic>
        <p:nvPicPr>
          <p:cNvPr id="9" name="Picture 8">
            <a:extLst>
              <a:ext uri="{FF2B5EF4-FFF2-40B4-BE49-F238E27FC236}">
                <a16:creationId xmlns:a16="http://schemas.microsoft.com/office/drawing/2014/main" id="{E39FC875-B404-40F9-791D-D77CF5F40B24}"/>
              </a:ext>
            </a:extLst>
          </p:cNvPr>
          <p:cNvPicPr>
            <a:picLocks noChangeAspect="1"/>
          </p:cNvPicPr>
          <p:nvPr/>
        </p:nvPicPr>
        <p:blipFill>
          <a:blip r:embed="rId3"/>
          <a:stretch>
            <a:fillRect/>
          </a:stretch>
        </p:blipFill>
        <p:spPr>
          <a:xfrm>
            <a:off x="6403420" y="1724048"/>
            <a:ext cx="4656917" cy="4881527"/>
          </a:xfrm>
          <a:prstGeom prst="rect">
            <a:avLst/>
          </a:prstGeom>
        </p:spPr>
      </p:pic>
      <p:sp>
        <p:nvSpPr>
          <p:cNvPr id="18" name="TextBox 17">
            <a:extLst>
              <a:ext uri="{FF2B5EF4-FFF2-40B4-BE49-F238E27FC236}">
                <a16:creationId xmlns:a16="http://schemas.microsoft.com/office/drawing/2014/main" id="{BC9332EC-4494-CC45-C158-0F1C6EE0A4D1}"/>
              </a:ext>
            </a:extLst>
          </p:cNvPr>
          <p:cNvSpPr txBox="1"/>
          <p:nvPr/>
        </p:nvSpPr>
        <p:spPr>
          <a:xfrm>
            <a:off x="4998915" y="3795479"/>
            <a:ext cx="1404505" cy="369332"/>
          </a:xfrm>
          <a:prstGeom prst="rect">
            <a:avLst/>
          </a:prstGeom>
          <a:noFill/>
        </p:spPr>
        <p:txBody>
          <a:bodyPr wrap="square">
            <a:spAutoFit/>
          </a:bodyPr>
          <a:lstStyle/>
          <a:p>
            <a:pPr algn="ctr"/>
            <a:r>
              <a:rPr lang="en-US" sz="1800" b="0" i="0" u="none" strike="noStrike" baseline="0" dirty="0">
                <a:latin typeface="TimesNewRomanPSMT"/>
              </a:rPr>
              <a:t>Versus</a:t>
            </a:r>
            <a:endParaRPr lang="en-US" dirty="0"/>
          </a:p>
        </p:txBody>
      </p:sp>
    </p:spTree>
    <p:extLst>
      <p:ext uri="{BB962C8B-B14F-4D97-AF65-F5344CB8AC3E}">
        <p14:creationId xmlns:p14="http://schemas.microsoft.com/office/powerpoint/2010/main" val="233370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4EDE5-FEFD-56A1-400D-6EF316B396E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27B2134-658D-0EAE-D4C1-97F6EA804C0C}"/>
              </a:ext>
            </a:extLst>
          </p:cNvPr>
          <p:cNvSpPr>
            <a:spLocks noGrp="1"/>
          </p:cNvSpPr>
          <p:nvPr>
            <p:ph type="title"/>
          </p:nvPr>
        </p:nvSpPr>
        <p:spPr>
          <a:xfrm>
            <a:off x="838200" y="365125"/>
            <a:ext cx="10515600" cy="878459"/>
          </a:xfrm>
        </p:spPr>
        <p:txBody>
          <a:bodyPr>
            <a:normAutofit/>
          </a:bodyPr>
          <a:lstStyle/>
          <a:p>
            <a:r>
              <a:rPr lang="en-US" dirty="0"/>
              <a:t>Key Concept</a:t>
            </a:r>
            <a:endParaRPr lang="en-US" sz="2000" dirty="0"/>
          </a:p>
        </p:txBody>
      </p:sp>
      <p:sp>
        <p:nvSpPr>
          <p:cNvPr id="7" name="TextBox 6">
            <a:extLst>
              <a:ext uri="{FF2B5EF4-FFF2-40B4-BE49-F238E27FC236}">
                <a16:creationId xmlns:a16="http://schemas.microsoft.com/office/drawing/2014/main" id="{E6B15040-13D2-3AAC-C986-C47AE35EACB8}"/>
              </a:ext>
            </a:extLst>
          </p:cNvPr>
          <p:cNvSpPr txBox="1"/>
          <p:nvPr/>
        </p:nvSpPr>
        <p:spPr>
          <a:xfrm>
            <a:off x="1746504" y="1091660"/>
            <a:ext cx="7591565" cy="461665"/>
          </a:xfrm>
          <a:prstGeom prst="rect">
            <a:avLst/>
          </a:prstGeom>
          <a:noFill/>
        </p:spPr>
        <p:txBody>
          <a:bodyPr wrap="none" rtlCol="0">
            <a:spAutoFit/>
          </a:bodyPr>
          <a:lstStyle/>
          <a:p>
            <a:r>
              <a:rPr lang="en-US" sz="2400" dirty="0">
                <a:solidFill>
                  <a:srgbClr val="0070C0"/>
                </a:solidFill>
              </a:rPr>
              <a:t>Spatial, Spectral, Temporal, and Radiometric Resolution</a:t>
            </a:r>
          </a:p>
        </p:txBody>
      </p:sp>
      <p:pic>
        <p:nvPicPr>
          <p:cNvPr id="1026" name="Picture 2" descr="examples of spatial, spectral, temporal, and radiometric resolutions">
            <a:extLst>
              <a:ext uri="{FF2B5EF4-FFF2-40B4-BE49-F238E27FC236}">
                <a16:creationId xmlns:a16="http://schemas.microsoft.com/office/drawing/2014/main" id="{7F552096-2D60-33DA-81DA-331AFEA8EB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6850" y="1647825"/>
            <a:ext cx="9258300" cy="521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520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2217-D789-5558-D099-ED6E9639EB6C}"/>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5004C774-93F4-6CE4-39FC-79B7D74069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254" y="0"/>
            <a:ext cx="10444189" cy="68532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0089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a:extLst>
              <a:ext uri="{FF2B5EF4-FFF2-40B4-BE49-F238E27FC236}">
                <a16:creationId xmlns:a16="http://schemas.microsoft.com/office/drawing/2014/main" id="{19E57C40-3A99-9E07-6108-B035944D1CE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150" name="Picture 6">
            <a:extLst>
              <a:ext uri="{FF2B5EF4-FFF2-40B4-BE49-F238E27FC236}">
                <a16:creationId xmlns:a16="http://schemas.microsoft.com/office/drawing/2014/main" id="{DB784CAA-4D39-0378-45C2-59802C6BA25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a:fillRect/>
          </a:stretch>
        </p:blipFill>
        <p:spPr bwMode="auto">
          <a:xfrm>
            <a:off x="0" y="720725"/>
            <a:ext cx="12192000" cy="5416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146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undefined">
            <a:extLst>
              <a:ext uri="{FF2B5EF4-FFF2-40B4-BE49-F238E27FC236}">
                <a16:creationId xmlns:a16="http://schemas.microsoft.com/office/drawing/2014/main" id="{BC6E3762-A06F-4C24-6037-F60641E65E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174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EC2D183-B202-32B3-C346-4D9B5BB25628}"/>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CAA57898-0155-AF5C-9830-93D9261CDF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73175"/>
            <a:ext cx="12192000" cy="431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4555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out NDVI – Normalized Difference Vegetation Index">
            <a:extLst>
              <a:ext uri="{FF2B5EF4-FFF2-40B4-BE49-F238E27FC236}">
                <a16:creationId xmlns:a16="http://schemas.microsoft.com/office/drawing/2014/main" id="{988114FB-3EAF-1B06-B8D6-C5022C69B8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4252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48B28-FA85-0360-A883-33955B2C367C}"/>
              </a:ext>
            </a:extLst>
          </p:cNvPr>
          <p:cNvSpPr>
            <a:spLocks noGrp="1"/>
          </p:cNvSpPr>
          <p:nvPr>
            <p:ph type="title"/>
          </p:nvPr>
        </p:nvSpPr>
        <p:spPr>
          <a:xfrm>
            <a:off x="838200" y="365125"/>
            <a:ext cx="10515600" cy="878459"/>
          </a:xfrm>
        </p:spPr>
        <p:txBody>
          <a:bodyPr>
            <a:normAutofit/>
          </a:bodyPr>
          <a:lstStyle/>
          <a:p>
            <a:r>
              <a:rPr lang="en-US" dirty="0"/>
              <a:t>Where to Locate Satellite Data</a:t>
            </a:r>
            <a:endParaRPr lang="en-US" sz="2000" dirty="0"/>
          </a:p>
        </p:txBody>
      </p:sp>
      <p:sp>
        <p:nvSpPr>
          <p:cNvPr id="3" name="Content Placeholder 2">
            <a:extLst>
              <a:ext uri="{FF2B5EF4-FFF2-40B4-BE49-F238E27FC236}">
                <a16:creationId xmlns:a16="http://schemas.microsoft.com/office/drawing/2014/main" id="{6376585D-8FF0-3E29-DF46-8FE8C3476274}"/>
              </a:ext>
            </a:extLst>
          </p:cNvPr>
          <p:cNvSpPr>
            <a:spLocks noGrp="1"/>
          </p:cNvSpPr>
          <p:nvPr>
            <p:ph idx="1"/>
          </p:nvPr>
        </p:nvSpPr>
        <p:spPr>
          <a:xfrm>
            <a:off x="838200" y="1551701"/>
            <a:ext cx="10515600" cy="4351338"/>
          </a:xfrm>
        </p:spPr>
        <p:txBody>
          <a:bodyPr/>
          <a:lstStyle/>
          <a:p>
            <a:r>
              <a:rPr lang="en-US" dirty="0"/>
              <a:t>Navigate to:</a:t>
            </a:r>
          </a:p>
          <a:p>
            <a:pPr lvl="1"/>
            <a:r>
              <a:rPr lang="en-US" dirty="0"/>
              <a:t>NASA Earth Data - </a:t>
            </a:r>
            <a:r>
              <a:rPr lang="en-US" sz="1800" dirty="0">
                <a:hlinkClick r:id="rId2"/>
              </a:rPr>
              <a:t>https://search.earthdata.nasa.gov/search</a:t>
            </a:r>
            <a:endParaRPr lang="en-US" sz="1800" dirty="0"/>
          </a:p>
          <a:p>
            <a:pPr lvl="1"/>
            <a:r>
              <a:rPr lang="en-US" dirty="0"/>
              <a:t>Movebank ENV Data Tool - </a:t>
            </a:r>
            <a:r>
              <a:rPr lang="en-US" sz="1800" dirty="0">
                <a:hlinkClick r:id="rId3"/>
              </a:rPr>
              <a:t>https://www.movebank.org/cms/movebank-content/env-data</a:t>
            </a:r>
            <a:endParaRPr lang="en-US" sz="1800" dirty="0"/>
          </a:p>
          <a:p>
            <a:pPr lvl="1"/>
            <a:r>
              <a:rPr lang="en-US" dirty="0"/>
              <a:t>Google Earth Engine - </a:t>
            </a:r>
            <a:r>
              <a:rPr lang="en-US" sz="1800" dirty="0">
                <a:hlinkClick r:id="rId4"/>
              </a:rPr>
              <a:t>https://earthengine.google.com/</a:t>
            </a:r>
            <a:endParaRPr lang="en-US" sz="1800" dirty="0"/>
          </a:p>
          <a:p>
            <a:endParaRPr lang="en-US" dirty="0"/>
          </a:p>
        </p:txBody>
      </p:sp>
      <p:pic>
        <p:nvPicPr>
          <p:cNvPr id="5" name="Picture 4">
            <a:extLst>
              <a:ext uri="{FF2B5EF4-FFF2-40B4-BE49-F238E27FC236}">
                <a16:creationId xmlns:a16="http://schemas.microsoft.com/office/drawing/2014/main" id="{BBB66958-2662-EF58-8D4B-24A9AF99814D}"/>
              </a:ext>
            </a:extLst>
          </p:cNvPr>
          <p:cNvPicPr>
            <a:picLocks noChangeAspect="1"/>
          </p:cNvPicPr>
          <p:nvPr/>
        </p:nvPicPr>
        <p:blipFill>
          <a:blip r:embed="rId5"/>
          <a:stretch>
            <a:fillRect/>
          </a:stretch>
        </p:blipFill>
        <p:spPr>
          <a:xfrm>
            <a:off x="580690" y="3284541"/>
            <a:ext cx="3802536" cy="2040046"/>
          </a:xfrm>
          <a:prstGeom prst="rect">
            <a:avLst/>
          </a:prstGeom>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4E9062FE-5E62-372D-8533-07D5F122C50D}"/>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7" name="TextBox 6">
            <a:extLst>
              <a:ext uri="{FF2B5EF4-FFF2-40B4-BE49-F238E27FC236}">
                <a16:creationId xmlns:a16="http://schemas.microsoft.com/office/drawing/2014/main" id="{4916C68A-3343-67B5-D326-923A0E8067F3}"/>
              </a:ext>
            </a:extLst>
          </p:cNvPr>
          <p:cNvSpPr txBox="1"/>
          <p:nvPr/>
        </p:nvSpPr>
        <p:spPr>
          <a:xfrm>
            <a:off x="1746504" y="1091660"/>
            <a:ext cx="3252814" cy="369332"/>
          </a:xfrm>
          <a:prstGeom prst="rect">
            <a:avLst/>
          </a:prstGeom>
          <a:noFill/>
        </p:spPr>
        <p:txBody>
          <a:bodyPr wrap="none" rtlCol="0">
            <a:spAutoFit/>
          </a:bodyPr>
          <a:lstStyle/>
          <a:p>
            <a:r>
              <a:rPr lang="en-US" dirty="0">
                <a:solidFill>
                  <a:srgbClr val="0070C0"/>
                </a:solidFill>
              </a:rPr>
              <a:t>Many sites exist to access data</a:t>
            </a:r>
          </a:p>
        </p:txBody>
      </p:sp>
      <p:pic>
        <p:nvPicPr>
          <p:cNvPr id="9" name="Picture 8">
            <a:extLst>
              <a:ext uri="{FF2B5EF4-FFF2-40B4-BE49-F238E27FC236}">
                <a16:creationId xmlns:a16="http://schemas.microsoft.com/office/drawing/2014/main" id="{D9E9CD16-133B-7B15-197B-C52D858A00D2}"/>
              </a:ext>
            </a:extLst>
          </p:cNvPr>
          <p:cNvPicPr>
            <a:picLocks noChangeAspect="1"/>
          </p:cNvPicPr>
          <p:nvPr/>
        </p:nvPicPr>
        <p:blipFill>
          <a:blip r:embed="rId6"/>
          <a:stretch>
            <a:fillRect/>
          </a:stretch>
        </p:blipFill>
        <p:spPr>
          <a:xfrm>
            <a:off x="4198996" y="3797944"/>
            <a:ext cx="3609780" cy="2297133"/>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A74B8A50-FA77-65A3-A90A-BBFDCFB50B8E}"/>
              </a:ext>
            </a:extLst>
          </p:cNvPr>
          <p:cNvPicPr>
            <a:picLocks noChangeAspect="1"/>
          </p:cNvPicPr>
          <p:nvPr/>
        </p:nvPicPr>
        <p:blipFill>
          <a:blip r:embed="rId7"/>
          <a:stretch>
            <a:fillRect/>
          </a:stretch>
        </p:blipFill>
        <p:spPr>
          <a:xfrm>
            <a:off x="7641468" y="4295402"/>
            <a:ext cx="4253030" cy="219747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68277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32E67-1E9A-FD8A-7BAC-DDCFB382E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FDA64-EDB5-B17E-B27C-D2A9652E5378}"/>
              </a:ext>
            </a:extLst>
          </p:cNvPr>
          <p:cNvSpPr>
            <a:spLocks noGrp="1"/>
          </p:cNvSpPr>
          <p:nvPr>
            <p:ph type="title"/>
          </p:nvPr>
        </p:nvSpPr>
        <p:spPr>
          <a:xfrm>
            <a:off x="838200" y="365125"/>
            <a:ext cx="10515600" cy="878459"/>
          </a:xfrm>
        </p:spPr>
        <p:txBody>
          <a:bodyPr>
            <a:normAutofit/>
          </a:bodyPr>
          <a:lstStyle/>
          <a:p>
            <a:r>
              <a:rPr lang="en-US" dirty="0"/>
              <a:t>NASA Earth Data</a:t>
            </a:r>
            <a:endParaRPr lang="en-US" sz="2000" dirty="0"/>
          </a:p>
        </p:txBody>
      </p:sp>
      <p:sp>
        <p:nvSpPr>
          <p:cNvPr id="3" name="Content Placeholder 2">
            <a:extLst>
              <a:ext uri="{FF2B5EF4-FFF2-40B4-BE49-F238E27FC236}">
                <a16:creationId xmlns:a16="http://schemas.microsoft.com/office/drawing/2014/main" id="{DE7DD1E9-5E2C-F22E-D60A-F8AE154B784C}"/>
              </a:ext>
            </a:extLst>
          </p:cNvPr>
          <p:cNvSpPr>
            <a:spLocks noGrp="1"/>
          </p:cNvSpPr>
          <p:nvPr>
            <p:ph idx="1"/>
          </p:nvPr>
        </p:nvSpPr>
        <p:spPr>
          <a:xfrm>
            <a:off x="838200" y="1551701"/>
            <a:ext cx="10515600" cy="4351338"/>
          </a:xfrm>
        </p:spPr>
        <p:txBody>
          <a:bodyPr/>
          <a:lstStyle/>
          <a:p>
            <a:r>
              <a:rPr lang="en-US" dirty="0"/>
              <a:t>Navigate to:</a:t>
            </a:r>
          </a:p>
          <a:p>
            <a:pPr lvl="1"/>
            <a:r>
              <a:rPr lang="en-US" sz="1800" dirty="0">
                <a:hlinkClick r:id="rId2"/>
              </a:rPr>
              <a:t>https://search.earthdata.nasa.gov/search</a:t>
            </a:r>
            <a:endParaRPr lang="en-US" sz="1800" dirty="0"/>
          </a:p>
        </p:txBody>
      </p:sp>
      <p:pic>
        <p:nvPicPr>
          <p:cNvPr id="5" name="Picture 4">
            <a:extLst>
              <a:ext uri="{FF2B5EF4-FFF2-40B4-BE49-F238E27FC236}">
                <a16:creationId xmlns:a16="http://schemas.microsoft.com/office/drawing/2014/main" id="{929FFBB3-8E40-CC83-3355-2995A7F2EE76}"/>
              </a:ext>
            </a:extLst>
          </p:cNvPr>
          <p:cNvPicPr>
            <a:picLocks noChangeAspect="1"/>
          </p:cNvPicPr>
          <p:nvPr/>
        </p:nvPicPr>
        <p:blipFill>
          <a:blip r:embed="rId3"/>
          <a:stretch>
            <a:fillRect/>
          </a:stretch>
        </p:blipFill>
        <p:spPr>
          <a:xfrm>
            <a:off x="2446949" y="2549765"/>
            <a:ext cx="7092902" cy="3805315"/>
          </a:xfrm>
          <a:prstGeom prst="rect">
            <a:avLst/>
          </a:prstGeom>
        </p:spPr>
      </p:pic>
      <p:sp>
        <p:nvSpPr>
          <p:cNvPr id="6" name="TextBox 5">
            <a:extLst>
              <a:ext uri="{FF2B5EF4-FFF2-40B4-BE49-F238E27FC236}">
                <a16:creationId xmlns:a16="http://schemas.microsoft.com/office/drawing/2014/main" id="{54A1423D-58E6-0CC8-45F4-6030BB39BD0F}"/>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Tree>
    <p:extLst>
      <p:ext uri="{BB962C8B-B14F-4D97-AF65-F5344CB8AC3E}">
        <p14:creationId xmlns:p14="http://schemas.microsoft.com/office/powerpoint/2010/main" val="384991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25A01-2B93-AE17-D8E3-9E1CFFE6B287}"/>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E21CB720-2B1C-24AD-3E2A-34B67FE75921}"/>
              </a:ext>
            </a:extLst>
          </p:cNvPr>
          <p:cNvPicPr>
            <a:picLocks noChangeAspect="1"/>
          </p:cNvPicPr>
          <p:nvPr/>
        </p:nvPicPr>
        <p:blipFill>
          <a:blip r:embed="rId2"/>
          <a:stretch>
            <a:fillRect/>
          </a:stretch>
        </p:blipFill>
        <p:spPr>
          <a:xfrm>
            <a:off x="4610100" y="3086521"/>
            <a:ext cx="7223584" cy="3397118"/>
          </a:xfrm>
          <a:prstGeom prst="rect">
            <a:avLst/>
          </a:prstGeom>
        </p:spPr>
      </p:pic>
      <p:sp>
        <p:nvSpPr>
          <p:cNvPr id="2" name="Title 1">
            <a:extLst>
              <a:ext uri="{FF2B5EF4-FFF2-40B4-BE49-F238E27FC236}">
                <a16:creationId xmlns:a16="http://schemas.microsoft.com/office/drawing/2014/main" id="{D8A276DF-D21B-5C04-BA00-2E167A055F8D}"/>
              </a:ext>
            </a:extLst>
          </p:cNvPr>
          <p:cNvSpPr>
            <a:spLocks noGrp="1"/>
          </p:cNvSpPr>
          <p:nvPr>
            <p:ph type="title"/>
          </p:nvPr>
        </p:nvSpPr>
        <p:spPr>
          <a:xfrm>
            <a:off x="838200" y="365125"/>
            <a:ext cx="10515600" cy="878459"/>
          </a:xfrm>
        </p:spPr>
        <p:txBody>
          <a:bodyPr>
            <a:normAutofit/>
          </a:bodyPr>
          <a:lstStyle/>
          <a:p>
            <a:r>
              <a:rPr lang="en-US" dirty="0"/>
              <a:t>NASA Earth Data</a:t>
            </a:r>
            <a:endParaRPr lang="en-US" sz="2000" dirty="0"/>
          </a:p>
        </p:txBody>
      </p:sp>
      <p:sp>
        <p:nvSpPr>
          <p:cNvPr id="3" name="Content Placeholder 2">
            <a:extLst>
              <a:ext uri="{FF2B5EF4-FFF2-40B4-BE49-F238E27FC236}">
                <a16:creationId xmlns:a16="http://schemas.microsoft.com/office/drawing/2014/main" id="{7A6C687E-2882-26DA-AF8C-8EA211209988}"/>
              </a:ext>
            </a:extLst>
          </p:cNvPr>
          <p:cNvSpPr>
            <a:spLocks noGrp="1"/>
          </p:cNvSpPr>
          <p:nvPr>
            <p:ph idx="1"/>
          </p:nvPr>
        </p:nvSpPr>
        <p:spPr>
          <a:xfrm>
            <a:off x="838200" y="1551701"/>
            <a:ext cx="10515600" cy="4351338"/>
          </a:xfrm>
        </p:spPr>
        <p:txBody>
          <a:bodyPr>
            <a:normAutofit/>
          </a:bodyPr>
          <a:lstStyle/>
          <a:p>
            <a:r>
              <a:rPr lang="en-US" sz="2400" dirty="0"/>
              <a:t>Enter Search Terms (vegetation, sea surface temperature, land cover, elevation, NDVI, …)</a:t>
            </a:r>
          </a:p>
        </p:txBody>
      </p:sp>
      <p:sp>
        <p:nvSpPr>
          <p:cNvPr id="6" name="TextBox 5">
            <a:extLst>
              <a:ext uri="{FF2B5EF4-FFF2-40B4-BE49-F238E27FC236}">
                <a16:creationId xmlns:a16="http://schemas.microsoft.com/office/drawing/2014/main" id="{FE840715-76F1-6070-6E30-A61E3755D0DE}"/>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pic>
        <p:nvPicPr>
          <p:cNvPr id="8" name="Picture 7">
            <a:extLst>
              <a:ext uri="{FF2B5EF4-FFF2-40B4-BE49-F238E27FC236}">
                <a16:creationId xmlns:a16="http://schemas.microsoft.com/office/drawing/2014/main" id="{2E8C1448-5B18-E2DE-EB5D-FD3B73BC3A7C}"/>
              </a:ext>
            </a:extLst>
          </p:cNvPr>
          <p:cNvPicPr>
            <a:picLocks noChangeAspect="1"/>
          </p:cNvPicPr>
          <p:nvPr/>
        </p:nvPicPr>
        <p:blipFill>
          <a:blip r:embed="rId3"/>
          <a:stretch>
            <a:fillRect/>
          </a:stretch>
        </p:blipFill>
        <p:spPr>
          <a:xfrm>
            <a:off x="348763" y="2697946"/>
            <a:ext cx="3315163" cy="2095792"/>
          </a:xfrm>
          <a:prstGeom prst="rect">
            <a:avLst/>
          </a:prstGeom>
          <a:ln w="25400">
            <a:solidFill>
              <a:srgbClr val="FF0000"/>
            </a:solidFill>
          </a:ln>
        </p:spPr>
      </p:pic>
      <p:sp>
        <p:nvSpPr>
          <p:cNvPr id="9" name="Rectangle 8">
            <a:extLst>
              <a:ext uri="{FF2B5EF4-FFF2-40B4-BE49-F238E27FC236}">
                <a16:creationId xmlns:a16="http://schemas.microsoft.com/office/drawing/2014/main" id="{A7FADB68-F9BB-6BC2-A760-7B122C20274A}"/>
              </a:ext>
            </a:extLst>
          </p:cNvPr>
          <p:cNvSpPr/>
          <p:nvPr/>
        </p:nvSpPr>
        <p:spPr>
          <a:xfrm>
            <a:off x="4610100" y="3054096"/>
            <a:ext cx="1306068" cy="83210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66FE960C-A47A-AE7E-E501-2D9D0C2AEABF}"/>
              </a:ext>
            </a:extLst>
          </p:cNvPr>
          <p:cNvCxnSpPr>
            <a:cxnSpLocks/>
          </p:cNvCxnSpPr>
          <p:nvPr/>
        </p:nvCxnSpPr>
        <p:spPr>
          <a:xfrm>
            <a:off x="3663926" y="2679474"/>
            <a:ext cx="2252242" cy="374622"/>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9E3E756E-A854-27B9-4D1A-D9E24CDC1614}"/>
              </a:ext>
            </a:extLst>
          </p:cNvPr>
          <p:cNvCxnSpPr>
            <a:cxnSpLocks/>
          </p:cNvCxnSpPr>
          <p:nvPr/>
        </p:nvCxnSpPr>
        <p:spPr>
          <a:xfrm flipV="1">
            <a:off x="3663926" y="3886200"/>
            <a:ext cx="2252242" cy="907538"/>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1946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5E54B-4FD0-B48B-F2CC-320A987709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F014B6-072F-BF10-6BF6-0338E685BACC}"/>
              </a:ext>
            </a:extLst>
          </p:cNvPr>
          <p:cNvSpPr>
            <a:spLocks noGrp="1"/>
          </p:cNvSpPr>
          <p:nvPr>
            <p:ph type="title"/>
          </p:nvPr>
        </p:nvSpPr>
        <p:spPr>
          <a:xfrm>
            <a:off x="838200" y="365125"/>
            <a:ext cx="10515600" cy="878459"/>
          </a:xfrm>
        </p:spPr>
        <p:txBody>
          <a:bodyPr>
            <a:normAutofit/>
          </a:bodyPr>
          <a:lstStyle/>
          <a:p>
            <a:r>
              <a:rPr lang="en-US" dirty="0"/>
              <a:t>NASA Earth Data</a:t>
            </a:r>
            <a:endParaRPr lang="en-US" sz="2000" dirty="0"/>
          </a:p>
        </p:txBody>
      </p:sp>
      <p:sp>
        <p:nvSpPr>
          <p:cNvPr id="3" name="Content Placeholder 2">
            <a:extLst>
              <a:ext uri="{FF2B5EF4-FFF2-40B4-BE49-F238E27FC236}">
                <a16:creationId xmlns:a16="http://schemas.microsoft.com/office/drawing/2014/main" id="{390562AC-56A4-214E-28B5-DB1BE3804A9A}"/>
              </a:ext>
            </a:extLst>
          </p:cNvPr>
          <p:cNvSpPr>
            <a:spLocks noGrp="1"/>
          </p:cNvSpPr>
          <p:nvPr>
            <p:ph idx="1"/>
          </p:nvPr>
        </p:nvSpPr>
        <p:spPr>
          <a:xfrm>
            <a:off x="838200" y="1551701"/>
            <a:ext cx="10515600" cy="4351338"/>
          </a:xfrm>
        </p:spPr>
        <p:txBody>
          <a:bodyPr>
            <a:normAutofit/>
          </a:bodyPr>
          <a:lstStyle/>
          <a:p>
            <a:r>
              <a:rPr lang="en-US" sz="2400" dirty="0"/>
              <a:t>Select product</a:t>
            </a:r>
          </a:p>
        </p:txBody>
      </p:sp>
      <p:sp>
        <p:nvSpPr>
          <p:cNvPr id="6" name="TextBox 5">
            <a:extLst>
              <a:ext uri="{FF2B5EF4-FFF2-40B4-BE49-F238E27FC236}">
                <a16:creationId xmlns:a16="http://schemas.microsoft.com/office/drawing/2014/main" id="{23A2FF0E-A942-9AA2-2B92-67DE4B81A56D}"/>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pic>
        <p:nvPicPr>
          <p:cNvPr id="4" name="Picture 3">
            <a:extLst>
              <a:ext uri="{FF2B5EF4-FFF2-40B4-BE49-F238E27FC236}">
                <a16:creationId xmlns:a16="http://schemas.microsoft.com/office/drawing/2014/main" id="{441FBD0D-9412-7D40-E309-AD86CADC75D0}"/>
              </a:ext>
            </a:extLst>
          </p:cNvPr>
          <p:cNvPicPr>
            <a:picLocks noChangeAspect="1"/>
          </p:cNvPicPr>
          <p:nvPr/>
        </p:nvPicPr>
        <p:blipFill>
          <a:blip r:embed="rId2"/>
          <a:srcRect l="17193" t="11897" r="52724" b="35169"/>
          <a:stretch>
            <a:fillRect/>
          </a:stretch>
        </p:blipFill>
        <p:spPr>
          <a:xfrm>
            <a:off x="4068618" y="1601336"/>
            <a:ext cx="5911271" cy="4891539"/>
          </a:xfrm>
          <a:prstGeom prst="rect">
            <a:avLst/>
          </a:prstGeom>
        </p:spPr>
      </p:pic>
      <p:sp>
        <p:nvSpPr>
          <p:cNvPr id="7" name="Oval 6">
            <a:extLst>
              <a:ext uri="{FF2B5EF4-FFF2-40B4-BE49-F238E27FC236}">
                <a16:creationId xmlns:a16="http://schemas.microsoft.com/office/drawing/2014/main" id="{2D3D9315-70B5-74F9-26B6-E94E6F042E8A}"/>
              </a:ext>
            </a:extLst>
          </p:cNvPr>
          <p:cNvSpPr/>
          <p:nvPr/>
        </p:nvSpPr>
        <p:spPr>
          <a:xfrm>
            <a:off x="3574471" y="1218112"/>
            <a:ext cx="6899564" cy="2214490"/>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3942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28192-377D-3416-AE2D-1F7F1022FA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6DE1A-0F49-F3F1-B37E-8EA49E04DB3E}"/>
              </a:ext>
            </a:extLst>
          </p:cNvPr>
          <p:cNvSpPr>
            <a:spLocks noGrp="1"/>
          </p:cNvSpPr>
          <p:nvPr>
            <p:ph type="title"/>
          </p:nvPr>
        </p:nvSpPr>
        <p:spPr>
          <a:xfrm>
            <a:off x="838200" y="365125"/>
            <a:ext cx="10515600" cy="878459"/>
          </a:xfrm>
        </p:spPr>
        <p:txBody>
          <a:bodyPr>
            <a:normAutofit/>
          </a:bodyPr>
          <a:lstStyle/>
          <a:p>
            <a:r>
              <a:rPr lang="en-US" dirty="0"/>
              <a:t>NASA Earth Data</a:t>
            </a:r>
            <a:endParaRPr lang="en-US" sz="2000" dirty="0"/>
          </a:p>
        </p:txBody>
      </p:sp>
      <p:sp>
        <p:nvSpPr>
          <p:cNvPr id="3" name="Content Placeholder 2">
            <a:extLst>
              <a:ext uri="{FF2B5EF4-FFF2-40B4-BE49-F238E27FC236}">
                <a16:creationId xmlns:a16="http://schemas.microsoft.com/office/drawing/2014/main" id="{AF11A815-735E-CEA6-41F0-432738CFEF96}"/>
              </a:ext>
            </a:extLst>
          </p:cNvPr>
          <p:cNvSpPr>
            <a:spLocks noGrp="1"/>
          </p:cNvSpPr>
          <p:nvPr>
            <p:ph idx="1"/>
          </p:nvPr>
        </p:nvSpPr>
        <p:spPr>
          <a:xfrm>
            <a:off x="838200" y="1551701"/>
            <a:ext cx="10515600" cy="4351338"/>
          </a:xfrm>
        </p:spPr>
        <p:txBody>
          <a:bodyPr>
            <a:normAutofit/>
          </a:bodyPr>
          <a:lstStyle/>
          <a:p>
            <a:r>
              <a:rPr lang="en-US" sz="2400" dirty="0"/>
              <a:t>Filter by spatial and temporal extent</a:t>
            </a:r>
          </a:p>
          <a:p>
            <a:pPr marL="457200" lvl="1" indent="0">
              <a:buNone/>
            </a:pPr>
            <a:r>
              <a:rPr lang="en-US" sz="1800" dirty="0">
                <a:solidFill>
                  <a:srgbClr val="0070C0"/>
                </a:solidFill>
              </a:rPr>
              <a:t>Reduce the amount of data necessary to download</a:t>
            </a:r>
          </a:p>
        </p:txBody>
      </p:sp>
      <p:sp>
        <p:nvSpPr>
          <p:cNvPr id="6" name="TextBox 5">
            <a:extLst>
              <a:ext uri="{FF2B5EF4-FFF2-40B4-BE49-F238E27FC236}">
                <a16:creationId xmlns:a16="http://schemas.microsoft.com/office/drawing/2014/main" id="{E8526812-A5FE-FC74-F8CC-A357120EC9D1}"/>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pic>
        <p:nvPicPr>
          <p:cNvPr id="8" name="Picture 7">
            <a:extLst>
              <a:ext uri="{FF2B5EF4-FFF2-40B4-BE49-F238E27FC236}">
                <a16:creationId xmlns:a16="http://schemas.microsoft.com/office/drawing/2014/main" id="{E5CBE736-CD0E-C448-33EF-AA2D553E20A0}"/>
              </a:ext>
            </a:extLst>
          </p:cNvPr>
          <p:cNvPicPr>
            <a:picLocks noChangeAspect="1"/>
          </p:cNvPicPr>
          <p:nvPr/>
        </p:nvPicPr>
        <p:blipFill>
          <a:blip r:embed="rId2"/>
          <a:stretch>
            <a:fillRect/>
          </a:stretch>
        </p:blipFill>
        <p:spPr>
          <a:xfrm>
            <a:off x="1332092" y="2509709"/>
            <a:ext cx="3038899" cy="1838582"/>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ABCD3DAE-B8AD-3591-C630-13D9437B5868}"/>
              </a:ext>
            </a:extLst>
          </p:cNvPr>
          <p:cNvPicPr>
            <a:picLocks noChangeAspect="1"/>
          </p:cNvPicPr>
          <p:nvPr/>
        </p:nvPicPr>
        <p:blipFill>
          <a:blip r:embed="rId3"/>
          <a:stretch>
            <a:fillRect/>
          </a:stretch>
        </p:blipFill>
        <p:spPr>
          <a:xfrm>
            <a:off x="5009658" y="3373613"/>
            <a:ext cx="5458587" cy="232442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81578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BB99F-771D-C1F6-AA4A-2465E65CF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5AED3-2797-8350-FAEE-68BFAEBB8D97}"/>
              </a:ext>
            </a:extLst>
          </p:cNvPr>
          <p:cNvSpPr>
            <a:spLocks noGrp="1"/>
          </p:cNvSpPr>
          <p:nvPr>
            <p:ph type="title"/>
          </p:nvPr>
        </p:nvSpPr>
        <p:spPr>
          <a:xfrm>
            <a:off x="838200" y="365125"/>
            <a:ext cx="10515600" cy="878459"/>
          </a:xfrm>
        </p:spPr>
        <p:txBody>
          <a:bodyPr>
            <a:normAutofit/>
          </a:bodyPr>
          <a:lstStyle/>
          <a:p>
            <a:r>
              <a:rPr lang="en-US" dirty="0"/>
              <a:t>NASA Earth Data</a:t>
            </a:r>
            <a:endParaRPr lang="en-US" sz="2000" dirty="0"/>
          </a:p>
        </p:txBody>
      </p:sp>
      <p:sp>
        <p:nvSpPr>
          <p:cNvPr id="3" name="Content Placeholder 2">
            <a:extLst>
              <a:ext uri="{FF2B5EF4-FFF2-40B4-BE49-F238E27FC236}">
                <a16:creationId xmlns:a16="http://schemas.microsoft.com/office/drawing/2014/main" id="{04A61954-5F1A-6F79-8260-23444D8C19C0}"/>
              </a:ext>
            </a:extLst>
          </p:cNvPr>
          <p:cNvSpPr>
            <a:spLocks noGrp="1"/>
          </p:cNvSpPr>
          <p:nvPr>
            <p:ph idx="1"/>
          </p:nvPr>
        </p:nvSpPr>
        <p:spPr>
          <a:xfrm>
            <a:off x="838200" y="1551701"/>
            <a:ext cx="10515600" cy="4351338"/>
          </a:xfrm>
        </p:spPr>
        <p:txBody>
          <a:bodyPr>
            <a:normAutofit/>
          </a:bodyPr>
          <a:lstStyle/>
          <a:p>
            <a:r>
              <a:rPr lang="en-US" sz="2400" dirty="0"/>
              <a:t>Check map and number of granules</a:t>
            </a:r>
          </a:p>
        </p:txBody>
      </p:sp>
      <p:sp>
        <p:nvSpPr>
          <p:cNvPr id="6" name="TextBox 5">
            <a:extLst>
              <a:ext uri="{FF2B5EF4-FFF2-40B4-BE49-F238E27FC236}">
                <a16:creationId xmlns:a16="http://schemas.microsoft.com/office/drawing/2014/main" id="{B73B9826-10B0-2083-A5B8-0E71607B12DC}"/>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pic>
        <p:nvPicPr>
          <p:cNvPr id="5" name="Picture 4">
            <a:extLst>
              <a:ext uri="{FF2B5EF4-FFF2-40B4-BE49-F238E27FC236}">
                <a16:creationId xmlns:a16="http://schemas.microsoft.com/office/drawing/2014/main" id="{4362D7CD-80A0-1C68-B140-C3EB72630736}"/>
              </a:ext>
            </a:extLst>
          </p:cNvPr>
          <p:cNvPicPr>
            <a:picLocks noChangeAspect="1"/>
          </p:cNvPicPr>
          <p:nvPr/>
        </p:nvPicPr>
        <p:blipFill>
          <a:blip r:embed="rId2"/>
          <a:stretch>
            <a:fillRect/>
          </a:stretch>
        </p:blipFill>
        <p:spPr>
          <a:xfrm>
            <a:off x="1819563" y="2045659"/>
            <a:ext cx="8995851" cy="4447216"/>
          </a:xfrm>
          <a:prstGeom prst="rect">
            <a:avLst/>
          </a:prstGeom>
        </p:spPr>
      </p:pic>
    </p:spTree>
    <p:extLst>
      <p:ext uri="{BB962C8B-B14F-4D97-AF65-F5344CB8AC3E}">
        <p14:creationId xmlns:p14="http://schemas.microsoft.com/office/powerpoint/2010/main" val="680020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CF171-4DCA-1B27-9764-03C1D64E3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30ECA-E92C-C037-475D-8E4690C0815F}"/>
              </a:ext>
            </a:extLst>
          </p:cNvPr>
          <p:cNvSpPr>
            <a:spLocks noGrp="1"/>
          </p:cNvSpPr>
          <p:nvPr>
            <p:ph type="title"/>
          </p:nvPr>
        </p:nvSpPr>
        <p:spPr>
          <a:xfrm>
            <a:off x="838200" y="365125"/>
            <a:ext cx="10515600" cy="878459"/>
          </a:xfrm>
        </p:spPr>
        <p:txBody>
          <a:bodyPr>
            <a:normAutofit/>
          </a:bodyPr>
          <a:lstStyle/>
          <a:p>
            <a:r>
              <a:rPr lang="en-US" dirty="0"/>
              <a:t>NASA Earth Data</a:t>
            </a:r>
            <a:endParaRPr lang="en-US" sz="2000" dirty="0"/>
          </a:p>
        </p:txBody>
      </p:sp>
      <p:sp>
        <p:nvSpPr>
          <p:cNvPr id="3" name="Content Placeholder 2">
            <a:extLst>
              <a:ext uri="{FF2B5EF4-FFF2-40B4-BE49-F238E27FC236}">
                <a16:creationId xmlns:a16="http://schemas.microsoft.com/office/drawing/2014/main" id="{0CFF727B-E9BA-2024-F4E3-7BF52314B182}"/>
              </a:ext>
            </a:extLst>
          </p:cNvPr>
          <p:cNvSpPr>
            <a:spLocks noGrp="1"/>
          </p:cNvSpPr>
          <p:nvPr>
            <p:ph idx="1"/>
          </p:nvPr>
        </p:nvSpPr>
        <p:spPr>
          <a:xfrm>
            <a:off x="838200" y="1551701"/>
            <a:ext cx="10515600" cy="4351338"/>
          </a:xfrm>
        </p:spPr>
        <p:txBody>
          <a:bodyPr>
            <a:normAutofit/>
          </a:bodyPr>
          <a:lstStyle/>
          <a:p>
            <a:r>
              <a:rPr lang="en-US" sz="2400" dirty="0"/>
              <a:t>Follow download instructions</a:t>
            </a:r>
          </a:p>
        </p:txBody>
      </p:sp>
      <p:sp>
        <p:nvSpPr>
          <p:cNvPr id="6" name="TextBox 5">
            <a:extLst>
              <a:ext uri="{FF2B5EF4-FFF2-40B4-BE49-F238E27FC236}">
                <a16:creationId xmlns:a16="http://schemas.microsoft.com/office/drawing/2014/main" id="{EA79F35B-D0E2-02F2-4F2A-EEBC241E1E33}"/>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pic>
        <p:nvPicPr>
          <p:cNvPr id="7" name="Picture 6">
            <a:extLst>
              <a:ext uri="{FF2B5EF4-FFF2-40B4-BE49-F238E27FC236}">
                <a16:creationId xmlns:a16="http://schemas.microsoft.com/office/drawing/2014/main" id="{9BCE85AF-2BB8-1447-7B41-086825E447E6}"/>
              </a:ext>
            </a:extLst>
          </p:cNvPr>
          <p:cNvPicPr>
            <a:picLocks noChangeAspect="1"/>
          </p:cNvPicPr>
          <p:nvPr/>
        </p:nvPicPr>
        <p:blipFill>
          <a:blip r:embed="rId2"/>
          <a:stretch>
            <a:fillRect/>
          </a:stretch>
        </p:blipFill>
        <p:spPr>
          <a:xfrm>
            <a:off x="1866900" y="2027131"/>
            <a:ext cx="8847282" cy="4288248"/>
          </a:xfrm>
          <a:prstGeom prst="rect">
            <a:avLst/>
          </a:prstGeom>
        </p:spPr>
      </p:pic>
    </p:spTree>
    <p:extLst>
      <p:ext uri="{BB962C8B-B14F-4D97-AF65-F5344CB8AC3E}">
        <p14:creationId xmlns:p14="http://schemas.microsoft.com/office/powerpoint/2010/main" val="1550630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AA29A-A179-CF41-C7AB-2441F2F94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35E24-5A7A-5097-6A7C-EDC34F2E36F4}"/>
              </a:ext>
            </a:extLst>
          </p:cNvPr>
          <p:cNvSpPr>
            <a:spLocks noGrp="1"/>
          </p:cNvSpPr>
          <p:nvPr>
            <p:ph type="title"/>
          </p:nvPr>
        </p:nvSpPr>
        <p:spPr>
          <a:xfrm>
            <a:off x="838200" y="365125"/>
            <a:ext cx="10515600" cy="878459"/>
          </a:xfrm>
        </p:spPr>
        <p:txBody>
          <a:bodyPr>
            <a:normAutofit/>
          </a:bodyPr>
          <a:lstStyle/>
          <a:p>
            <a:r>
              <a:rPr lang="en-US" dirty="0"/>
              <a:t>NASA Earth Data</a:t>
            </a:r>
            <a:endParaRPr lang="en-US" sz="2000" dirty="0"/>
          </a:p>
        </p:txBody>
      </p:sp>
      <p:sp>
        <p:nvSpPr>
          <p:cNvPr id="3" name="Content Placeholder 2">
            <a:extLst>
              <a:ext uri="{FF2B5EF4-FFF2-40B4-BE49-F238E27FC236}">
                <a16:creationId xmlns:a16="http://schemas.microsoft.com/office/drawing/2014/main" id="{130C4680-D3A2-BB73-99CF-8F3008D84FEA}"/>
              </a:ext>
            </a:extLst>
          </p:cNvPr>
          <p:cNvSpPr>
            <a:spLocks noGrp="1"/>
          </p:cNvSpPr>
          <p:nvPr>
            <p:ph idx="1"/>
          </p:nvPr>
        </p:nvSpPr>
        <p:spPr>
          <a:xfrm>
            <a:off x="838200" y="1551701"/>
            <a:ext cx="10515600" cy="4351338"/>
          </a:xfrm>
        </p:spPr>
        <p:txBody>
          <a:bodyPr>
            <a:normAutofit/>
          </a:bodyPr>
          <a:lstStyle/>
          <a:p>
            <a:r>
              <a:rPr lang="en-US" sz="2400" dirty="0"/>
              <a:t>Follow download instructions</a:t>
            </a:r>
          </a:p>
          <a:p>
            <a:pPr marL="457200" lvl="1" indent="0">
              <a:buNone/>
            </a:pPr>
            <a:r>
              <a:rPr lang="en-US" sz="2000" dirty="0"/>
              <a:t>Option 1: Use the </a:t>
            </a:r>
            <a:r>
              <a:rPr lang="en-US" sz="2000" dirty="0" err="1"/>
              <a:t>Earthdata</a:t>
            </a:r>
            <a:r>
              <a:rPr lang="en-US" sz="2000" dirty="0"/>
              <a:t> Download tool (https://nasa.github.io/earthdata-download/)</a:t>
            </a:r>
          </a:p>
          <a:p>
            <a:pPr marL="457200" lvl="1" indent="0">
              <a:buNone/>
            </a:pPr>
            <a:r>
              <a:rPr lang="en-US" sz="2000" dirty="0"/>
              <a:t>Option 2: Use command-line tools (“Download Script” tab)</a:t>
            </a:r>
          </a:p>
        </p:txBody>
      </p:sp>
      <p:sp>
        <p:nvSpPr>
          <p:cNvPr id="6" name="TextBox 5">
            <a:extLst>
              <a:ext uri="{FF2B5EF4-FFF2-40B4-BE49-F238E27FC236}">
                <a16:creationId xmlns:a16="http://schemas.microsoft.com/office/drawing/2014/main" id="{F751C0E7-F397-CA7F-34AD-094F20BF5590}"/>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pic>
        <p:nvPicPr>
          <p:cNvPr id="5" name="Picture 4">
            <a:extLst>
              <a:ext uri="{FF2B5EF4-FFF2-40B4-BE49-F238E27FC236}">
                <a16:creationId xmlns:a16="http://schemas.microsoft.com/office/drawing/2014/main" id="{28D4EE2A-5155-D369-9210-C2B89382327F}"/>
              </a:ext>
            </a:extLst>
          </p:cNvPr>
          <p:cNvPicPr>
            <a:picLocks noChangeAspect="1"/>
          </p:cNvPicPr>
          <p:nvPr/>
        </p:nvPicPr>
        <p:blipFill>
          <a:blip r:embed="rId2"/>
          <a:srcRect b="26805"/>
          <a:stretch>
            <a:fillRect/>
          </a:stretch>
        </p:blipFill>
        <p:spPr>
          <a:xfrm>
            <a:off x="2466109" y="2745358"/>
            <a:ext cx="6747500" cy="3567398"/>
          </a:xfrm>
          <a:prstGeom prst="rect">
            <a:avLst/>
          </a:prstGeom>
          <a:ln w="25400">
            <a:solidFill>
              <a:schemeClr val="accent1">
                <a:shade val="15000"/>
              </a:schemeClr>
            </a:solidFill>
          </a:ln>
        </p:spPr>
      </p:pic>
      <p:sp>
        <p:nvSpPr>
          <p:cNvPr id="8" name="Oval 7">
            <a:extLst>
              <a:ext uri="{FF2B5EF4-FFF2-40B4-BE49-F238E27FC236}">
                <a16:creationId xmlns:a16="http://schemas.microsoft.com/office/drawing/2014/main" id="{E5AC0099-859D-97AB-E40A-0B4F17475533}"/>
              </a:ext>
            </a:extLst>
          </p:cNvPr>
          <p:cNvSpPr/>
          <p:nvPr/>
        </p:nvSpPr>
        <p:spPr>
          <a:xfrm>
            <a:off x="2567709" y="4529057"/>
            <a:ext cx="1533236" cy="560179"/>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2E0D4E0-5B6F-E28D-9C45-4ADA33A9D8F6}"/>
              </a:ext>
            </a:extLst>
          </p:cNvPr>
          <p:cNvSpPr/>
          <p:nvPr/>
        </p:nvSpPr>
        <p:spPr>
          <a:xfrm>
            <a:off x="4404422" y="4529057"/>
            <a:ext cx="1533236" cy="560179"/>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4360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E6642-E517-6E3D-719A-59C59248B0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CD9AB-4BA2-DEBF-CD2B-422D5707EB9F}"/>
              </a:ext>
            </a:extLst>
          </p:cNvPr>
          <p:cNvSpPr>
            <a:spLocks noGrp="1"/>
          </p:cNvSpPr>
          <p:nvPr>
            <p:ph type="title"/>
          </p:nvPr>
        </p:nvSpPr>
        <p:spPr>
          <a:xfrm>
            <a:off x="838200" y="365125"/>
            <a:ext cx="10515600" cy="878459"/>
          </a:xfrm>
        </p:spPr>
        <p:txBody>
          <a:bodyPr>
            <a:normAutofit/>
          </a:bodyPr>
          <a:lstStyle/>
          <a:p>
            <a:r>
              <a:rPr lang="en-US" dirty="0"/>
              <a:t>NASA Earth Data</a:t>
            </a:r>
            <a:endParaRPr lang="en-US" sz="2000" dirty="0"/>
          </a:p>
        </p:txBody>
      </p:sp>
      <p:sp>
        <p:nvSpPr>
          <p:cNvPr id="3" name="Content Placeholder 2">
            <a:extLst>
              <a:ext uri="{FF2B5EF4-FFF2-40B4-BE49-F238E27FC236}">
                <a16:creationId xmlns:a16="http://schemas.microsoft.com/office/drawing/2014/main" id="{2FED3E60-7CC0-7491-0FCB-AE93F6A8EF43}"/>
              </a:ext>
            </a:extLst>
          </p:cNvPr>
          <p:cNvSpPr>
            <a:spLocks noGrp="1"/>
          </p:cNvSpPr>
          <p:nvPr>
            <p:ph idx="1"/>
          </p:nvPr>
        </p:nvSpPr>
        <p:spPr>
          <a:xfrm>
            <a:off x="838200" y="1551701"/>
            <a:ext cx="10515600" cy="4351338"/>
          </a:xfrm>
        </p:spPr>
        <p:txBody>
          <a:bodyPr>
            <a:normAutofit/>
          </a:bodyPr>
          <a:lstStyle/>
          <a:p>
            <a:r>
              <a:rPr lang="en-US" sz="2400" dirty="0"/>
              <a:t>Important Notes on Post-Processing</a:t>
            </a:r>
          </a:p>
          <a:p>
            <a:pPr lvl="1"/>
            <a:r>
              <a:rPr lang="en-US" sz="1800" dirty="0"/>
              <a:t>Many products will include multiple granules</a:t>
            </a:r>
          </a:p>
          <a:p>
            <a:pPr lvl="2"/>
            <a:r>
              <a:rPr lang="en-US" sz="1400" dirty="0">
                <a:solidFill>
                  <a:srgbClr val="0070C0"/>
                </a:solidFill>
              </a:rPr>
              <a:t>E.g., Different locations or date/times</a:t>
            </a:r>
          </a:p>
          <a:p>
            <a:pPr lvl="1"/>
            <a:r>
              <a:rPr lang="en-US" sz="1800" dirty="0"/>
              <a:t>Many granules will include multiple layers</a:t>
            </a:r>
          </a:p>
          <a:p>
            <a:pPr lvl="2"/>
            <a:r>
              <a:rPr lang="en-US" sz="1400" dirty="0">
                <a:solidFill>
                  <a:srgbClr val="0070C0"/>
                </a:solidFill>
              </a:rPr>
              <a:t>E.g., MODIS has multiple files for individual bands or projects (NDVI, EVI) </a:t>
            </a:r>
          </a:p>
          <a:p>
            <a:pPr lvl="1"/>
            <a:r>
              <a:rPr lang="en-US" sz="1800" dirty="0"/>
              <a:t>Requires GIS analyses</a:t>
            </a:r>
          </a:p>
          <a:p>
            <a:pPr lvl="2"/>
            <a:r>
              <a:rPr lang="en-US" sz="1400" dirty="0">
                <a:solidFill>
                  <a:srgbClr val="0070C0"/>
                </a:solidFill>
              </a:rPr>
              <a:t>Mosaicking to combine spatial tiles</a:t>
            </a:r>
          </a:p>
          <a:p>
            <a:pPr lvl="2"/>
            <a:r>
              <a:rPr lang="en-US" sz="1400" dirty="0">
                <a:solidFill>
                  <a:srgbClr val="0070C0"/>
                </a:solidFill>
              </a:rPr>
              <a:t>Stacking to combine temporal files</a:t>
            </a:r>
          </a:p>
          <a:p>
            <a:pPr lvl="2"/>
            <a:r>
              <a:rPr lang="en-US" sz="1400" dirty="0">
                <a:solidFill>
                  <a:srgbClr val="0070C0"/>
                </a:solidFill>
              </a:rPr>
              <a:t>Cropping to include only need area</a:t>
            </a:r>
          </a:p>
        </p:txBody>
      </p:sp>
      <p:sp>
        <p:nvSpPr>
          <p:cNvPr id="6" name="TextBox 5">
            <a:extLst>
              <a:ext uri="{FF2B5EF4-FFF2-40B4-BE49-F238E27FC236}">
                <a16:creationId xmlns:a16="http://schemas.microsoft.com/office/drawing/2014/main" id="{10AA9161-EF3A-939F-DA95-067E59DCE2E5}"/>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4" name="TextBox 3">
            <a:extLst>
              <a:ext uri="{FF2B5EF4-FFF2-40B4-BE49-F238E27FC236}">
                <a16:creationId xmlns:a16="http://schemas.microsoft.com/office/drawing/2014/main" id="{ED8A9999-AC92-9170-94BD-4F6D70134A66}"/>
              </a:ext>
            </a:extLst>
          </p:cNvPr>
          <p:cNvSpPr txBox="1"/>
          <p:nvPr/>
        </p:nvSpPr>
        <p:spPr>
          <a:xfrm>
            <a:off x="738909" y="5190836"/>
            <a:ext cx="4388766" cy="369332"/>
          </a:xfrm>
          <a:prstGeom prst="rect">
            <a:avLst/>
          </a:prstGeom>
          <a:noFill/>
        </p:spPr>
        <p:txBody>
          <a:bodyPr wrap="none" rtlCol="0">
            <a:spAutoFit/>
          </a:bodyPr>
          <a:lstStyle/>
          <a:p>
            <a:r>
              <a:rPr lang="en-US" dirty="0"/>
              <a:t>Example using SRTM elevation data: 4 tiles</a:t>
            </a:r>
          </a:p>
        </p:txBody>
      </p:sp>
      <p:pic>
        <p:nvPicPr>
          <p:cNvPr id="7" name="Picture 6">
            <a:extLst>
              <a:ext uri="{FF2B5EF4-FFF2-40B4-BE49-F238E27FC236}">
                <a16:creationId xmlns:a16="http://schemas.microsoft.com/office/drawing/2014/main" id="{A6C66868-273A-D80D-F473-9979822F41A4}"/>
              </a:ext>
            </a:extLst>
          </p:cNvPr>
          <p:cNvPicPr>
            <a:picLocks noChangeAspect="1"/>
          </p:cNvPicPr>
          <p:nvPr/>
        </p:nvPicPr>
        <p:blipFill>
          <a:blip r:embed="rId2"/>
          <a:srcRect l="34505" t="8980" r="13673" b="28237"/>
          <a:stretch>
            <a:fillRect/>
          </a:stretch>
        </p:blipFill>
        <p:spPr>
          <a:xfrm>
            <a:off x="7705460" y="1697390"/>
            <a:ext cx="4329705" cy="4059959"/>
          </a:xfrm>
          <a:prstGeom prst="rect">
            <a:avLst/>
          </a:prstGeom>
        </p:spPr>
      </p:pic>
    </p:spTree>
    <p:extLst>
      <p:ext uri="{BB962C8B-B14F-4D97-AF65-F5344CB8AC3E}">
        <p14:creationId xmlns:p14="http://schemas.microsoft.com/office/powerpoint/2010/main" val="1275300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3D0A3-0355-DD07-3800-7FD8E1A12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844183-7EB9-FEDD-E530-40B18A3FDD00}"/>
              </a:ext>
            </a:extLst>
          </p:cNvPr>
          <p:cNvSpPr>
            <a:spLocks noGrp="1"/>
          </p:cNvSpPr>
          <p:nvPr>
            <p:ph type="title"/>
          </p:nvPr>
        </p:nvSpPr>
        <p:spPr>
          <a:xfrm>
            <a:off x="838200" y="365125"/>
            <a:ext cx="10515600" cy="878459"/>
          </a:xfrm>
        </p:spPr>
        <p:txBody>
          <a:bodyPr>
            <a:normAutofit/>
          </a:bodyPr>
          <a:lstStyle/>
          <a:p>
            <a:r>
              <a:rPr lang="en-US" dirty="0"/>
              <a:t>Movebank ENV Data</a:t>
            </a:r>
            <a:endParaRPr lang="en-US" sz="2000" dirty="0"/>
          </a:p>
        </p:txBody>
      </p:sp>
      <p:sp>
        <p:nvSpPr>
          <p:cNvPr id="6" name="TextBox 5">
            <a:extLst>
              <a:ext uri="{FF2B5EF4-FFF2-40B4-BE49-F238E27FC236}">
                <a16:creationId xmlns:a16="http://schemas.microsoft.com/office/drawing/2014/main" id="{8FEBC6BD-5A1C-1BCF-34DA-0286C4689D66}"/>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7571DE52-9E71-5DE2-6898-2F531510EEA4}"/>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Navigate to:</a:t>
            </a:r>
          </a:p>
          <a:p>
            <a:pPr lvl="1"/>
            <a:r>
              <a:rPr lang="en-US" dirty="0"/>
              <a:t>Movebank ENV Data Tool - </a:t>
            </a:r>
            <a:r>
              <a:rPr lang="en-US" sz="1800" dirty="0">
                <a:hlinkClick r:id="rId2"/>
              </a:rPr>
              <a:t>https://www.movebank.org/cms/movebank-content/env-data</a:t>
            </a:r>
            <a:endParaRPr lang="en-US" sz="1800" dirty="0"/>
          </a:p>
        </p:txBody>
      </p:sp>
      <p:grpSp>
        <p:nvGrpSpPr>
          <p:cNvPr id="10" name="Group 9">
            <a:extLst>
              <a:ext uri="{FF2B5EF4-FFF2-40B4-BE49-F238E27FC236}">
                <a16:creationId xmlns:a16="http://schemas.microsoft.com/office/drawing/2014/main" id="{E086010F-B530-D997-23D8-D84FB1700585}"/>
              </a:ext>
            </a:extLst>
          </p:cNvPr>
          <p:cNvGrpSpPr>
            <a:grpSpLocks noChangeAspect="1"/>
          </p:cNvGrpSpPr>
          <p:nvPr/>
        </p:nvGrpSpPr>
        <p:grpSpPr>
          <a:xfrm>
            <a:off x="2066607" y="2634667"/>
            <a:ext cx="4398847" cy="3644451"/>
            <a:chOff x="1743334" y="2680850"/>
            <a:chExt cx="3609781" cy="3222189"/>
          </a:xfrm>
          <a:effectLst>
            <a:outerShdw blurRad="50800" dist="38100" dir="2700000" algn="tl" rotWithShape="0">
              <a:prstClr val="black">
                <a:alpha val="40000"/>
              </a:prstClr>
            </a:outerShdw>
          </a:effectLst>
        </p:grpSpPr>
        <p:pic>
          <p:nvPicPr>
            <p:cNvPr id="3" name="Picture 2">
              <a:extLst>
                <a:ext uri="{FF2B5EF4-FFF2-40B4-BE49-F238E27FC236}">
                  <a16:creationId xmlns:a16="http://schemas.microsoft.com/office/drawing/2014/main" id="{B7731840-DDA0-652B-9628-B00C46A69804}"/>
                </a:ext>
              </a:extLst>
            </p:cNvPr>
            <p:cNvPicPr>
              <a:picLocks noChangeAspect="1"/>
            </p:cNvPicPr>
            <p:nvPr/>
          </p:nvPicPr>
          <p:blipFill>
            <a:blip r:embed="rId3"/>
            <a:stretch>
              <a:fillRect/>
            </a:stretch>
          </p:blipFill>
          <p:spPr>
            <a:xfrm>
              <a:off x="1743335" y="3605906"/>
              <a:ext cx="3609780" cy="2297133"/>
            </a:xfrm>
            <a:prstGeom prst="rect">
              <a:avLst/>
            </a:prstGeom>
            <a:effectLst/>
          </p:spPr>
        </p:pic>
        <p:pic>
          <p:nvPicPr>
            <p:cNvPr id="5" name="Picture 4">
              <a:extLst>
                <a:ext uri="{FF2B5EF4-FFF2-40B4-BE49-F238E27FC236}">
                  <a16:creationId xmlns:a16="http://schemas.microsoft.com/office/drawing/2014/main" id="{AE3BBB4D-01BA-90C7-3264-9CDF1FFFAFA9}"/>
                </a:ext>
              </a:extLst>
            </p:cNvPr>
            <p:cNvPicPr>
              <a:picLocks noChangeAspect="1"/>
            </p:cNvPicPr>
            <p:nvPr/>
          </p:nvPicPr>
          <p:blipFill>
            <a:blip r:embed="rId4"/>
            <a:srcRect l="477" r="50000"/>
            <a:stretch>
              <a:fillRect/>
            </a:stretch>
          </p:blipFill>
          <p:spPr>
            <a:xfrm>
              <a:off x="1743334" y="2680850"/>
              <a:ext cx="3609781" cy="925056"/>
            </a:xfrm>
            <a:prstGeom prst="rect">
              <a:avLst/>
            </a:prstGeom>
          </p:spPr>
        </p:pic>
      </p:grpSp>
      <p:sp>
        <p:nvSpPr>
          <p:cNvPr id="12" name="TextBox 11">
            <a:extLst>
              <a:ext uri="{FF2B5EF4-FFF2-40B4-BE49-F238E27FC236}">
                <a16:creationId xmlns:a16="http://schemas.microsoft.com/office/drawing/2014/main" id="{3143A810-0D12-6592-B008-889B110197CA}"/>
              </a:ext>
            </a:extLst>
          </p:cNvPr>
          <p:cNvSpPr txBox="1"/>
          <p:nvPr/>
        </p:nvSpPr>
        <p:spPr>
          <a:xfrm>
            <a:off x="7095908" y="3680950"/>
            <a:ext cx="4112561" cy="1200329"/>
          </a:xfrm>
          <a:prstGeom prst="rect">
            <a:avLst/>
          </a:prstGeom>
          <a:noFill/>
        </p:spPr>
        <p:txBody>
          <a:bodyPr wrap="square" rtlCol="0">
            <a:spAutoFit/>
          </a:bodyPr>
          <a:lstStyle/>
          <a:p>
            <a:r>
              <a:rPr lang="en-US" dirty="0"/>
              <a:t>A set of free tools on Movebank to help you link animal movement data with information from global environmental datasets</a:t>
            </a:r>
          </a:p>
        </p:txBody>
      </p:sp>
    </p:spTree>
    <p:extLst>
      <p:ext uri="{BB962C8B-B14F-4D97-AF65-F5344CB8AC3E}">
        <p14:creationId xmlns:p14="http://schemas.microsoft.com/office/powerpoint/2010/main" val="3168484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76855-6DF1-60A6-5605-CA0C2CCF9F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9B6E28-34F7-13B5-7BDB-602FC006F6F9}"/>
              </a:ext>
            </a:extLst>
          </p:cNvPr>
          <p:cNvSpPr>
            <a:spLocks noGrp="1"/>
          </p:cNvSpPr>
          <p:nvPr>
            <p:ph type="title"/>
          </p:nvPr>
        </p:nvSpPr>
        <p:spPr>
          <a:xfrm>
            <a:off x="838200" y="365125"/>
            <a:ext cx="10515600" cy="878459"/>
          </a:xfrm>
        </p:spPr>
        <p:txBody>
          <a:bodyPr>
            <a:normAutofit/>
          </a:bodyPr>
          <a:lstStyle/>
          <a:p>
            <a:r>
              <a:rPr lang="en-US" dirty="0"/>
              <a:t>Movebank ENV Data</a:t>
            </a:r>
            <a:endParaRPr lang="en-US" sz="2000" dirty="0"/>
          </a:p>
        </p:txBody>
      </p:sp>
      <p:sp>
        <p:nvSpPr>
          <p:cNvPr id="6" name="TextBox 5">
            <a:extLst>
              <a:ext uri="{FF2B5EF4-FFF2-40B4-BE49-F238E27FC236}">
                <a16:creationId xmlns:a16="http://schemas.microsoft.com/office/drawing/2014/main" id="{9CB90DD8-0B93-DB91-6D30-E7AA4AA09436}"/>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4DB28400-ACDE-F063-D0E7-A7331322E25F}"/>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Go to Tools – </a:t>
            </a:r>
            <a:r>
              <a:rPr lang="en-US" dirty="0" err="1"/>
              <a:t>EnvDATA</a:t>
            </a:r>
            <a:r>
              <a:rPr lang="en-US" dirty="0"/>
              <a:t>:</a:t>
            </a:r>
          </a:p>
          <a:p>
            <a:pPr lvl="1"/>
            <a:r>
              <a:rPr lang="en-US" dirty="0"/>
              <a:t>Choose from:</a:t>
            </a:r>
          </a:p>
          <a:p>
            <a:pPr lvl="2"/>
            <a:r>
              <a:rPr lang="en-US" sz="1200" dirty="0"/>
              <a:t>Annotate animal tracking data from this study (most common)</a:t>
            </a:r>
          </a:p>
          <a:p>
            <a:pPr lvl="2"/>
            <a:r>
              <a:rPr lang="en-US" sz="1200" dirty="0"/>
              <a:t>Annotate generic time-location records (for advanced users)</a:t>
            </a:r>
          </a:p>
          <a:p>
            <a:pPr lvl="2"/>
            <a:r>
              <a:rPr lang="en-US" sz="1200" dirty="0"/>
              <a:t>Annotate over a gridded area (for advanced users)</a:t>
            </a:r>
          </a:p>
        </p:txBody>
      </p:sp>
      <p:pic>
        <p:nvPicPr>
          <p:cNvPr id="7" name="Picture 6">
            <a:extLst>
              <a:ext uri="{FF2B5EF4-FFF2-40B4-BE49-F238E27FC236}">
                <a16:creationId xmlns:a16="http://schemas.microsoft.com/office/drawing/2014/main" id="{08EEB988-A93B-529D-404E-9277C5FC3A3B}"/>
              </a:ext>
            </a:extLst>
          </p:cNvPr>
          <p:cNvPicPr>
            <a:picLocks noChangeAspect="1"/>
          </p:cNvPicPr>
          <p:nvPr/>
        </p:nvPicPr>
        <p:blipFill>
          <a:blip r:embed="rId2"/>
          <a:srcRect l="943"/>
          <a:stretch>
            <a:fillRect/>
          </a:stretch>
        </p:blipFill>
        <p:spPr>
          <a:xfrm>
            <a:off x="2827283" y="3239505"/>
            <a:ext cx="6452960" cy="3253365"/>
          </a:xfrm>
          <a:prstGeom prst="rect">
            <a:avLst/>
          </a:prstGeom>
        </p:spPr>
      </p:pic>
      <p:cxnSp>
        <p:nvCxnSpPr>
          <p:cNvPr id="9" name="Straight Arrow Connector 8">
            <a:extLst>
              <a:ext uri="{FF2B5EF4-FFF2-40B4-BE49-F238E27FC236}">
                <a16:creationId xmlns:a16="http://schemas.microsoft.com/office/drawing/2014/main" id="{D78B7600-0F31-4CC4-BBB5-ECFD773FAE15}"/>
              </a:ext>
            </a:extLst>
          </p:cNvPr>
          <p:cNvCxnSpPr>
            <a:cxnSpLocks/>
          </p:cNvCxnSpPr>
          <p:nvPr/>
        </p:nvCxnSpPr>
        <p:spPr>
          <a:xfrm flipH="1">
            <a:off x="6197600" y="2530764"/>
            <a:ext cx="637309" cy="0"/>
          </a:xfrm>
          <a:prstGeom prst="straightConnector1">
            <a:avLst/>
          </a:prstGeom>
          <a:ln w="254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BDC47E98-8419-F218-4EE5-E1A161ED1229}"/>
              </a:ext>
            </a:extLst>
          </p:cNvPr>
          <p:cNvSpPr/>
          <p:nvPr/>
        </p:nvSpPr>
        <p:spPr>
          <a:xfrm>
            <a:off x="7555345" y="3205018"/>
            <a:ext cx="581891" cy="332509"/>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3007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5690D-E241-DFB0-28A1-E82728DB77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6AD345-A69F-3117-50B7-E88C0D976768}"/>
              </a:ext>
            </a:extLst>
          </p:cNvPr>
          <p:cNvSpPr>
            <a:spLocks noGrp="1"/>
          </p:cNvSpPr>
          <p:nvPr>
            <p:ph type="title"/>
          </p:nvPr>
        </p:nvSpPr>
        <p:spPr>
          <a:xfrm>
            <a:off x="838200" y="365125"/>
            <a:ext cx="10515600" cy="878459"/>
          </a:xfrm>
        </p:spPr>
        <p:txBody>
          <a:bodyPr>
            <a:normAutofit/>
          </a:bodyPr>
          <a:lstStyle/>
          <a:p>
            <a:r>
              <a:rPr lang="en-US" dirty="0"/>
              <a:t>Movebank ENV Data</a:t>
            </a:r>
            <a:endParaRPr lang="en-US" sz="2000" dirty="0"/>
          </a:p>
        </p:txBody>
      </p:sp>
      <p:sp>
        <p:nvSpPr>
          <p:cNvPr id="6" name="TextBox 5">
            <a:extLst>
              <a:ext uri="{FF2B5EF4-FFF2-40B4-BE49-F238E27FC236}">
                <a16:creationId xmlns:a16="http://schemas.microsoft.com/office/drawing/2014/main" id="{290266C8-1169-2529-E444-3ED913CA6F93}"/>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4B645065-BF28-9ADF-5CAC-CBCBCFCE9819}"/>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Start Annotation Request:</a:t>
            </a:r>
          </a:p>
          <a:p>
            <a:pPr lvl="1"/>
            <a:r>
              <a:rPr lang="en-US" sz="1800" dirty="0">
                <a:solidFill>
                  <a:srgbClr val="0070C0"/>
                </a:solidFill>
              </a:rPr>
              <a:t>Go to </a:t>
            </a:r>
            <a:r>
              <a:rPr lang="en-US" sz="1800" b="1" dirty="0">
                <a:solidFill>
                  <a:srgbClr val="0070C0"/>
                </a:solidFill>
              </a:rPr>
              <a:t>Study</a:t>
            </a:r>
            <a:r>
              <a:rPr lang="en-US" sz="1800" dirty="0">
                <a:solidFill>
                  <a:srgbClr val="0070C0"/>
                </a:solidFill>
              </a:rPr>
              <a:t> and select </a:t>
            </a:r>
            <a:r>
              <a:rPr lang="en-US" sz="1800" b="1" dirty="0">
                <a:solidFill>
                  <a:srgbClr val="0070C0"/>
                </a:solidFill>
              </a:rPr>
              <a:t>Start Annotation Request</a:t>
            </a:r>
          </a:p>
        </p:txBody>
      </p:sp>
      <p:pic>
        <p:nvPicPr>
          <p:cNvPr id="16" name="Picture 15">
            <a:extLst>
              <a:ext uri="{FF2B5EF4-FFF2-40B4-BE49-F238E27FC236}">
                <a16:creationId xmlns:a16="http://schemas.microsoft.com/office/drawing/2014/main" id="{636DEDBC-2214-837D-6DD8-B49EAB2920AF}"/>
              </a:ext>
            </a:extLst>
          </p:cNvPr>
          <p:cNvPicPr>
            <a:picLocks noChangeAspect="1"/>
          </p:cNvPicPr>
          <p:nvPr/>
        </p:nvPicPr>
        <p:blipFill>
          <a:blip r:embed="rId2"/>
          <a:srcRect b="27948"/>
          <a:stretch>
            <a:fillRect/>
          </a:stretch>
        </p:blipFill>
        <p:spPr>
          <a:xfrm>
            <a:off x="2478024" y="2400039"/>
            <a:ext cx="6733428" cy="4092836"/>
          </a:xfrm>
          <a:prstGeom prst="rect">
            <a:avLst/>
          </a:prstGeom>
        </p:spPr>
      </p:pic>
      <p:sp>
        <p:nvSpPr>
          <p:cNvPr id="3" name="Oval 2">
            <a:extLst>
              <a:ext uri="{FF2B5EF4-FFF2-40B4-BE49-F238E27FC236}">
                <a16:creationId xmlns:a16="http://schemas.microsoft.com/office/drawing/2014/main" id="{0BEC2D2F-D5AD-CE0F-AFDF-F15AB416A4F3}"/>
              </a:ext>
            </a:extLst>
          </p:cNvPr>
          <p:cNvSpPr/>
          <p:nvPr/>
        </p:nvSpPr>
        <p:spPr>
          <a:xfrm>
            <a:off x="7351776" y="3172968"/>
            <a:ext cx="1783080" cy="1033272"/>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9397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FDEEB-126E-8336-6EDE-7E79C3049C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B832A-F611-BEB0-0F3D-6DA7CE89EA5E}"/>
              </a:ext>
            </a:extLst>
          </p:cNvPr>
          <p:cNvSpPr>
            <a:spLocks noGrp="1"/>
          </p:cNvSpPr>
          <p:nvPr>
            <p:ph type="title"/>
          </p:nvPr>
        </p:nvSpPr>
        <p:spPr>
          <a:xfrm>
            <a:off x="838200" y="365125"/>
            <a:ext cx="10515600" cy="878459"/>
          </a:xfrm>
        </p:spPr>
        <p:txBody>
          <a:bodyPr>
            <a:normAutofit/>
          </a:bodyPr>
          <a:lstStyle/>
          <a:p>
            <a:r>
              <a:rPr lang="en-US" dirty="0"/>
              <a:t>Movebank ENV Data</a:t>
            </a:r>
            <a:endParaRPr lang="en-US" sz="2000" dirty="0"/>
          </a:p>
        </p:txBody>
      </p:sp>
      <p:sp>
        <p:nvSpPr>
          <p:cNvPr id="6" name="TextBox 5">
            <a:extLst>
              <a:ext uri="{FF2B5EF4-FFF2-40B4-BE49-F238E27FC236}">
                <a16:creationId xmlns:a16="http://schemas.microsoft.com/office/drawing/2014/main" id="{C30EA673-7B4F-C7EA-8862-EEEDB9F8C8EA}"/>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251EB76F-3117-64F7-9F75-2E0F77415A30}"/>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Annotate animal tracking data</a:t>
            </a:r>
          </a:p>
        </p:txBody>
      </p:sp>
      <p:pic>
        <p:nvPicPr>
          <p:cNvPr id="4" name="Picture 3">
            <a:extLst>
              <a:ext uri="{FF2B5EF4-FFF2-40B4-BE49-F238E27FC236}">
                <a16:creationId xmlns:a16="http://schemas.microsoft.com/office/drawing/2014/main" id="{81AE9114-35BC-31C0-810D-FCDB8FB4FC7A}"/>
              </a:ext>
            </a:extLst>
          </p:cNvPr>
          <p:cNvPicPr>
            <a:picLocks noChangeAspect="1"/>
          </p:cNvPicPr>
          <p:nvPr/>
        </p:nvPicPr>
        <p:blipFill>
          <a:blip r:embed="rId2"/>
          <a:srcRect b="91600"/>
          <a:stretch>
            <a:fillRect/>
          </a:stretch>
        </p:blipFill>
        <p:spPr>
          <a:xfrm>
            <a:off x="2092150" y="2016183"/>
            <a:ext cx="8007700" cy="376035"/>
          </a:xfrm>
          <a:prstGeom prst="rect">
            <a:avLst/>
          </a:prstGeom>
        </p:spPr>
      </p:pic>
      <p:pic>
        <p:nvPicPr>
          <p:cNvPr id="10" name="Picture 9">
            <a:extLst>
              <a:ext uri="{FF2B5EF4-FFF2-40B4-BE49-F238E27FC236}">
                <a16:creationId xmlns:a16="http://schemas.microsoft.com/office/drawing/2014/main" id="{F0344B10-AD51-B601-61B3-B1747A954258}"/>
              </a:ext>
            </a:extLst>
          </p:cNvPr>
          <p:cNvPicPr>
            <a:picLocks noChangeAspect="1"/>
          </p:cNvPicPr>
          <p:nvPr/>
        </p:nvPicPr>
        <p:blipFill>
          <a:blip r:embed="rId3"/>
          <a:stretch>
            <a:fillRect/>
          </a:stretch>
        </p:blipFill>
        <p:spPr>
          <a:xfrm>
            <a:off x="3180654" y="2493187"/>
            <a:ext cx="5202984" cy="3999687"/>
          </a:xfrm>
          <a:prstGeom prst="rect">
            <a:avLst/>
          </a:prstGeom>
        </p:spPr>
      </p:pic>
    </p:spTree>
    <p:extLst>
      <p:ext uri="{BB962C8B-B14F-4D97-AF65-F5344CB8AC3E}">
        <p14:creationId xmlns:p14="http://schemas.microsoft.com/office/powerpoint/2010/main" val="1329535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B317F-C69D-51EA-595A-223900371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7EDFB8-8213-A4C7-8CFF-F4E3DB2ED8A1}"/>
              </a:ext>
            </a:extLst>
          </p:cNvPr>
          <p:cNvSpPr>
            <a:spLocks noGrp="1"/>
          </p:cNvSpPr>
          <p:nvPr>
            <p:ph type="title"/>
          </p:nvPr>
        </p:nvSpPr>
        <p:spPr>
          <a:xfrm>
            <a:off x="838200" y="365125"/>
            <a:ext cx="10515600" cy="878459"/>
          </a:xfrm>
        </p:spPr>
        <p:txBody>
          <a:bodyPr>
            <a:normAutofit/>
          </a:bodyPr>
          <a:lstStyle/>
          <a:p>
            <a:r>
              <a:rPr lang="en-US" dirty="0"/>
              <a:t>Movebank ENV Data</a:t>
            </a:r>
            <a:endParaRPr lang="en-US" sz="2000" dirty="0"/>
          </a:p>
        </p:txBody>
      </p:sp>
      <p:sp>
        <p:nvSpPr>
          <p:cNvPr id="6" name="TextBox 5">
            <a:extLst>
              <a:ext uri="{FF2B5EF4-FFF2-40B4-BE49-F238E27FC236}">
                <a16:creationId xmlns:a16="http://schemas.microsoft.com/office/drawing/2014/main" id="{E657DE94-406C-B875-C52E-9B6BB578E11A}"/>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E5FC26EA-A263-0F7E-F526-8D397DE01AB9}"/>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Annotate animal tracking data</a:t>
            </a:r>
          </a:p>
        </p:txBody>
      </p:sp>
      <p:pic>
        <p:nvPicPr>
          <p:cNvPr id="7" name="Picture 6">
            <a:extLst>
              <a:ext uri="{FF2B5EF4-FFF2-40B4-BE49-F238E27FC236}">
                <a16:creationId xmlns:a16="http://schemas.microsoft.com/office/drawing/2014/main" id="{6EF40B9B-4986-5650-F538-9531F60BC3DC}"/>
              </a:ext>
            </a:extLst>
          </p:cNvPr>
          <p:cNvPicPr>
            <a:picLocks noChangeAspect="1"/>
          </p:cNvPicPr>
          <p:nvPr/>
        </p:nvPicPr>
        <p:blipFill>
          <a:blip r:embed="rId2"/>
          <a:stretch>
            <a:fillRect/>
          </a:stretch>
        </p:blipFill>
        <p:spPr>
          <a:xfrm>
            <a:off x="2092150" y="2016183"/>
            <a:ext cx="8631834" cy="651865"/>
          </a:xfrm>
          <a:prstGeom prst="rect">
            <a:avLst/>
          </a:prstGeom>
        </p:spPr>
      </p:pic>
      <p:pic>
        <p:nvPicPr>
          <p:cNvPr id="12" name="Picture 11">
            <a:extLst>
              <a:ext uri="{FF2B5EF4-FFF2-40B4-BE49-F238E27FC236}">
                <a16:creationId xmlns:a16="http://schemas.microsoft.com/office/drawing/2014/main" id="{E887988F-7DFB-579F-391D-8A70400B318D}"/>
              </a:ext>
            </a:extLst>
          </p:cNvPr>
          <p:cNvPicPr>
            <a:picLocks noChangeAspect="1"/>
          </p:cNvPicPr>
          <p:nvPr/>
        </p:nvPicPr>
        <p:blipFill>
          <a:blip r:embed="rId3"/>
          <a:stretch>
            <a:fillRect/>
          </a:stretch>
        </p:blipFill>
        <p:spPr>
          <a:xfrm>
            <a:off x="2373402" y="2668048"/>
            <a:ext cx="7849542" cy="3943731"/>
          </a:xfrm>
          <a:prstGeom prst="rect">
            <a:avLst/>
          </a:prstGeom>
        </p:spPr>
      </p:pic>
    </p:spTree>
    <p:extLst>
      <p:ext uri="{BB962C8B-B14F-4D97-AF65-F5344CB8AC3E}">
        <p14:creationId xmlns:p14="http://schemas.microsoft.com/office/powerpoint/2010/main" val="3568719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52C8919-CB5F-5800-619A-76E042EFB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88F290-4606-3970-6D1F-FD0DFA0E6620}"/>
              </a:ext>
            </a:extLst>
          </p:cNvPr>
          <p:cNvSpPr>
            <a:spLocks noGrp="1"/>
          </p:cNvSpPr>
          <p:nvPr>
            <p:ph type="title"/>
          </p:nvPr>
        </p:nvSpPr>
        <p:spPr>
          <a:xfrm>
            <a:off x="838200" y="365125"/>
            <a:ext cx="10515600" cy="878459"/>
          </a:xfrm>
        </p:spPr>
        <p:txBody>
          <a:bodyPr>
            <a:normAutofit/>
          </a:bodyPr>
          <a:lstStyle/>
          <a:p>
            <a:r>
              <a:rPr lang="en-US" dirty="0"/>
              <a:t>Movebank ENV Data</a:t>
            </a:r>
            <a:endParaRPr lang="en-US" sz="2000" dirty="0"/>
          </a:p>
        </p:txBody>
      </p:sp>
      <p:sp>
        <p:nvSpPr>
          <p:cNvPr id="6" name="TextBox 5">
            <a:extLst>
              <a:ext uri="{FF2B5EF4-FFF2-40B4-BE49-F238E27FC236}">
                <a16:creationId xmlns:a16="http://schemas.microsoft.com/office/drawing/2014/main" id="{2B3F2A4D-1B9C-26E2-7321-38222AC06EBF}"/>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2870E9DD-D7CA-C07A-8AAD-3CD6960C8A27}"/>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Interpolate</a:t>
            </a:r>
          </a:p>
        </p:txBody>
      </p:sp>
      <p:pic>
        <p:nvPicPr>
          <p:cNvPr id="4" name="Picture 3">
            <a:extLst>
              <a:ext uri="{FF2B5EF4-FFF2-40B4-BE49-F238E27FC236}">
                <a16:creationId xmlns:a16="http://schemas.microsoft.com/office/drawing/2014/main" id="{6B02106B-6DD4-2747-1062-4A1431E23353}"/>
              </a:ext>
            </a:extLst>
          </p:cNvPr>
          <p:cNvPicPr>
            <a:picLocks noChangeAspect="1"/>
          </p:cNvPicPr>
          <p:nvPr/>
        </p:nvPicPr>
        <p:blipFill>
          <a:blip r:embed="rId2"/>
          <a:srcRect b="91857"/>
          <a:stretch>
            <a:fillRect/>
          </a:stretch>
        </p:blipFill>
        <p:spPr>
          <a:xfrm>
            <a:off x="2177592" y="2081585"/>
            <a:ext cx="8012783" cy="356815"/>
          </a:xfrm>
          <a:prstGeom prst="rect">
            <a:avLst/>
          </a:prstGeom>
        </p:spPr>
      </p:pic>
      <p:pic>
        <p:nvPicPr>
          <p:cNvPr id="8" name="Picture 7">
            <a:extLst>
              <a:ext uri="{FF2B5EF4-FFF2-40B4-BE49-F238E27FC236}">
                <a16:creationId xmlns:a16="http://schemas.microsoft.com/office/drawing/2014/main" id="{1D5997CD-5834-9ED6-D480-DF93A846549B}"/>
              </a:ext>
            </a:extLst>
          </p:cNvPr>
          <p:cNvPicPr>
            <a:picLocks noChangeAspect="1"/>
          </p:cNvPicPr>
          <p:nvPr/>
        </p:nvPicPr>
        <p:blipFill>
          <a:blip r:embed="rId3"/>
          <a:stretch>
            <a:fillRect/>
          </a:stretch>
        </p:blipFill>
        <p:spPr>
          <a:xfrm>
            <a:off x="2358002" y="2530514"/>
            <a:ext cx="7275526" cy="3902409"/>
          </a:xfrm>
          <a:prstGeom prst="rect">
            <a:avLst/>
          </a:prstGeom>
        </p:spPr>
      </p:pic>
    </p:spTree>
    <p:extLst>
      <p:ext uri="{BB962C8B-B14F-4D97-AF65-F5344CB8AC3E}">
        <p14:creationId xmlns:p14="http://schemas.microsoft.com/office/powerpoint/2010/main" val="3735015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0785E-8B23-8619-DEE1-CBA0A5E9CB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B0411F-4383-2458-BE6C-54A643C933DC}"/>
              </a:ext>
            </a:extLst>
          </p:cNvPr>
          <p:cNvSpPr>
            <a:spLocks noGrp="1"/>
          </p:cNvSpPr>
          <p:nvPr>
            <p:ph type="title"/>
          </p:nvPr>
        </p:nvSpPr>
        <p:spPr>
          <a:xfrm>
            <a:off x="838200" y="365125"/>
            <a:ext cx="10515600" cy="878459"/>
          </a:xfrm>
        </p:spPr>
        <p:txBody>
          <a:bodyPr>
            <a:normAutofit/>
          </a:bodyPr>
          <a:lstStyle/>
          <a:p>
            <a:r>
              <a:rPr lang="en-US" dirty="0"/>
              <a:t>Movebank ENV Data</a:t>
            </a:r>
            <a:endParaRPr lang="en-US" sz="2000" dirty="0"/>
          </a:p>
        </p:txBody>
      </p:sp>
      <p:sp>
        <p:nvSpPr>
          <p:cNvPr id="6" name="TextBox 5">
            <a:extLst>
              <a:ext uri="{FF2B5EF4-FFF2-40B4-BE49-F238E27FC236}">
                <a16:creationId xmlns:a16="http://schemas.microsoft.com/office/drawing/2014/main" id="{C9484EE4-58D8-1F0C-516A-3F1BE1D40F2C}"/>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2764B716-FECE-D80D-B820-6E8F1A1D7B89}"/>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Review and Submit (Send Annotation Request)</a:t>
            </a:r>
          </a:p>
        </p:txBody>
      </p:sp>
      <p:sp>
        <p:nvSpPr>
          <p:cNvPr id="3" name="TextBox 2">
            <a:extLst>
              <a:ext uri="{FF2B5EF4-FFF2-40B4-BE49-F238E27FC236}">
                <a16:creationId xmlns:a16="http://schemas.microsoft.com/office/drawing/2014/main" id="{CCCDDB8C-15D3-2408-C3E0-5D93911B2A8E}"/>
              </a:ext>
            </a:extLst>
          </p:cNvPr>
          <p:cNvSpPr txBox="1"/>
          <p:nvPr/>
        </p:nvSpPr>
        <p:spPr>
          <a:xfrm>
            <a:off x="1662544" y="1952324"/>
            <a:ext cx="8700655" cy="1200329"/>
          </a:xfrm>
          <a:prstGeom prst="rect">
            <a:avLst/>
          </a:prstGeom>
          <a:noFill/>
        </p:spPr>
        <p:txBody>
          <a:bodyPr wrap="square">
            <a:spAutoFit/>
          </a:bodyPr>
          <a:lstStyle/>
          <a:p>
            <a:r>
              <a:rPr lang="en-US" dirty="0">
                <a:solidFill>
                  <a:srgbClr val="0070C0"/>
                </a:solidFill>
              </a:rPr>
              <a:t>- Data requests are available for download for </a:t>
            </a:r>
            <a:r>
              <a:rPr lang="en-US" b="1" dirty="0">
                <a:solidFill>
                  <a:srgbClr val="0070C0"/>
                </a:solidFill>
              </a:rPr>
              <a:t>two</a:t>
            </a:r>
            <a:r>
              <a:rPr lang="en-US" dirty="0">
                <a:solidFill>
                  <a:srgbClr val="0070C0"/>
                </a:solidFill>
              </a:rPr>
              <a:t> weeks as a .zip file</a:t>
            </a:r>
          </a:p>
          <a:p>
            <a:r>
              <a:rPr lang="en-US" dirty="0">
                <a:solidFill>
                  <a:srgbClr val="0070C0"/>
                </a:solidFill>
              </a:rPr>
              <a:t>- Annotated data will be shown as </a:t>
            </a:r>
            <a:r>
              <a:rPr lang="en-US" b="1" dirty="0">
                <a:solidFill>
                  <a:srgbClr val="0070C0"/>
                </a:solidFill>
              </a:rPr>
              <a:t>available</a:t>
            </a:r>
            <a:r>
              <a:rPr lang="en-US" dirty="0">
                <a:solidFill>
                  <a:srgbClr val="0070C0"/>
                </a:solidFill>
              </a:rPr>
              <a:t> in the </a:t>
            </a:r>
            <a:r>
              <a:rPr lang="en-US" b="1" dirty="0">
                <a:solidFill>
                  <a:srgbClr val="0070C0"/>
                </a:solidFill>
              </a:rPr>
              <a:t>My requests </a:t>
            </a:r>
            <a:r>
              <a:rPr lang="en-US" dirty="0">
                <a:solidFill>
                  <a:srgbClr val="0070C0"/>
                </a:solidFill>
              </a:rPr>
              <a:t>table (under </a:t>
            </a:r>
            <a:r>
              <a:rPr lang="en-US" b="1" dirty="0">
                <a:solidFill>
                  <a:srgbClr val="0070C0"/>
                </a:solidFill>
              </a:rPr>
              <a:t>Env-Data</a:t>
            </a:r>
            <a:r>
              <a:rPr lang="en-US" dirty="0">
                <a:solidFill>
                  <a:srgbClr val="0070C0"/>
                </a:solidFill>
              </a:rPr>
              <a:t>   </a:t>
            </a:r>
          </a:p>
          <a:p>
            <a:r>
              <a:rPr lang="en-US" dirty="0">
                <a:solidFill>
                  <a:srgbClr val="0070C0"/>
                </a:solidFill>
              </a:rPr>
              <a:t>   &gt; </a:t>
            </a:r>
            <a:r>
              <a:rPr lang="en-US" b="1" dirty="0">
                <a:solidFill>
                  <a:srgbClr val="0070C0"/>
                </a:solidFill>
              </a:rPr>
              <a:t>Show my requests </a:t>
            </a:r>
            <a:r>
              <a:rPr lang="en-US" dirty="0">
                <a:solidFill>
                  <a:srgbClr val="0070C0"/>
                </a:solidFill>
              </a:rPr>
              <a:t>in the </a:t>
            </a:r>
            <a:r>
              <a:rPr lang="en-US" b="1" dirty="0">
                <a:solidFill>
                  <a:srgbClr val="0070C0"/>
                </a:solidFill>
              </a:rPr>
              <a:t>Studies</a:t>
            </a:r>
            <a:r>
              <a:rPr lang="en-US" dirty="0">
                <a:solidFill>
                  <a:srgbClr val="0070C0"/>
                </a:solidFill>
              </a:rPr>
              <a:t> menu).</a:t>
            </a:r>
          </a:p>
          <a:p>
            <a:endParaRPr lang="en-US" dirty="0">
              <a:solidFill>
                <a:srgbClr val="0070C0"/>
              </a:solidFill>
            </a:endParaRPr>
          </a:p>
        </p:txBody>
      </p:sp>
      <p:pic>
        <p:nvPicPr>
          <p:cNvPr id="7" name="Picture 6">
            <a:extLst>
              <a:ext uri="{FF2B5EF4-FFF2-40B4-BE49-F238E27FC236}">
                <a16:creationId xmlns:a16="http://schemas.microsoft.com/office/drawing/2014/main" id="{70AB8C2D-1CCC-6CAC-E0EF-6FFC395CCAAF}"/>
              </a:ext>
            </a:extLst>
          </p:cNvPr>
          <p:cNvPicPr>
            <a:picLocks noChangeAspect="1"/>
          </p:cNvPicPr>
          <p:nvPr/>
        </p:nvPicPr>
        <p:blipFill>
          <a:blip r:embed="rId2"/>
          <a:stretch>
            <a:fillRect/>
          </a:stretch>
        </p:blipFill>
        <p:spPr>
          <a:xfrm>
            <a:off x="2967958" y="2881745"/>
            <a:ext cx="5666664" cy="3021293"/>
          </a:xfrm>
          <a:prstGeom prst="rect">
            <a:avLst/>
          </a:prstGeom>
        </p:spPr>
      </p:pic>
      <p:sp>
        <p:nvSpPr>
          <p:cNvPr id="9" name="TextBox 8">
            <a:extLst>
              <a:ext uri="{FF2B5EF4-FFF2-40B4-BE49-F238E27FC236}">
                <a16:creationId xmlns:a16="http://schemas.microsoft.com/office/drawing/2014/main" id="{1D3726CF-A303-74B1-04E0-64837700CE19}"/>
              </a:ext>
            </a:extLst>
          </p:cNvPr>
          <p:cNvSpPr txBox="1"/>
          <p:nvPr/>
        </p:nvSpPr>
        <p:spPr>
          <a:xfrm>
            <a:off x="1443182" y="6011188"/>
            <a:ext cx="10012218" cy="523220"/>
          </a:xfrm>
          <a:prstGeom prst="rect">
            <a:avLst/>
          </a:prstGeom>
          <a:noFill/>
        </p:spPr>
        <p:txBody>
          <a:bodyPr wrap="square">
            <a:spAutoFit/>
          </a:bodyPr>
          <a:lstStyle/>
          <a:p>
            <a:r>
              <a:rPr lang="en-US" sz="1400" b="1" dirty="0">
                <a:solidFill>
                  <a:srgbClr val="0070C0"/>
                </a:solidFill>
              </a:rPr>
              <a:t>Note</a:t>
            </a:r>
            <a:r>
              <a:rPr lang="en-US" sz="1400" dirty="0">
                <a:solidFill>
                  <a:srgbClr val="0070C0"/>
                </a:solidFill>
              </a:rPr>
              <a:t>: Movebank requests can be time consuming.  Best to split your data into smaller parts (i.e., create data subsets (a few animals) and request fewer environmental datasets (one or two) for annotation)</a:t>
            </a:r>
            <a:endParaRPr lang="en-US" sz="1400" dirty="0"/>
          </a:p>
        </p:txBody>
      </p:sp>
    </p:spTree>
    <p:extLst>
      <p:ext uri="{BB962C8B-B14F-4D97-AF65-F5344CB8AC3E}">
        <p14:creationId xmlns:p14="http://schemas.microsoft.com/office/powerpoint/2010/main" val="2802821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9F5CA-56C6-DF38-04B5-2D1A3B36C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14CCD-2F1C-3B3A-FB26-701A6E8D47A7}"/>
              </a:ext>
            </a:extLst>
          </p:cNvPr>
          <p:cNvSpPr>
            <a:spLocks noGrp="1"/>
          </p:cNvSpPr>
          <p:nvPr>
            <p:ph type="title"/>
          </p:nvPr>
        </p:nvSpPr>
        <p:spPr>
          <a:xfrm>
            <a:off x="838200" y="365125"/>
            <a:ext cx="10515600" cy="878459"/>
          </a:xfrm>
        </p:spPr>
        <p:txBody>
          <a:bodyPr>
            <a:normAutofit/>
          </a:bodyPr>
          <a:lstStyle/>
          <a:p>
            <a:r>
              <a:rPr lang="en-US" dirty="0"/>
              <a:t>Movebank ENV Data</a:t>
            </a:r>
            <a:endParaRPr lang="en-US" sz="2000" dirty="0"/>
          </a:p>
        </p:txBody>
      </p:sp>
      <p:sp>
        <p:nvSpPr>
          <p:cNvPr id="6" name="TextBox 5">
            <a:extLst>
              <a:ext uri="{FF2B5EF4-FFF2-40B4-BE49-F238E27FC236}">
                <a16:creationId xmlns:a16="http://schemas.microsoft.com/office/drawing/2014/main" id="{91A60F68-5ED2-8489-8103-2585A7759496}"/>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FC12FA93-ADD4-F1BB-C3E4-02D2D05EF9B1}"/>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Review and Submit (Send Annotation Request)</a:t>
            </a:r>
          </a:p>
        </p:txBody>
      </p:sp>
      <p:sp>
        <p:nvSpPr>
          <p:cNvPr id="3" name="TextBox 2">
            <a:extLst>
              <a:ext uri="{FF2B5EF4-FFF2-40B4-BE49-F238E27FC236}">
                <a16:creationId xmlns:a16="http://schemas.microsoft.com/office/drawing/2014/main" id="{BF0B47B9-EE4F-A123-407C-6BD7AEA240F1}"/>
              </a:ext>
            </a:extLst>
          </p:cNvPr>
          <p:cNvSpPr txBox="1"/>
          <p:nvPr/>
        </p:nvSpPr>
        <p:spPr>
          <a:xfrm>
            <a:off x="1662544" y="1952324"/>
            <a:ext cx="8700655" cy="1200329"/>
          </a:xfrm>
          <a:prstGeom prst="rect">
            <a:avLst/>
          </a:prstGeom>
          <a:noFill/>
        </p:spPr>
        <p:txBody>
          <a:bodyPr wrap="square">
            <a:spAutoFit/>
          </a:bodyPr>
          <a:lstStyle/>
          <a:p>
            <a:r>
              <a:rPr lang="en-US" dirty="0">
                <a:solidFill>
                  <a:srgbClr val="0070C0"/>
                </a:solidFill>
              </a:rPr>
              <a:t>- Data requests are available for download for </a:t>
            </a:r>
            <a:r>
              <a:rPr lang="en-US" b="1" dirty="0">
                <a:solidFill>
                  <a:srgbClr val="0070C0"/>
                </a:solidFill>
              </a:rPr>
              <a:t>two</a:t>
            </a:r>
            <a:r>
              <a:rPr lang="en-US" dirty="0">
                <a:solidFill>
                  <a:srgbClr val="0070C0"/>
                </a:solidFill>
              </a:rPr>
              <a:t> weeks as a .zip file</a:t>
            </a:r>
          </a:p>
          <a:p>
            <a:r>
              <a:rPr lang="en-US" dirty="0">
                <a:solidFill>
                  <a:srgbClr val="0070C0"/>
                </a:solidFill>
              </a:rPr>
              <a:t>- Annotated data will be shown as </a:t>
            </a:r>
            <a:r>
              <a:rPr lang="en-US" b="1" dirty="0">
                <a:solidFill>
                  <a:srgbClr val="0070C0"/>
                </a:solidFill>
              </a:rPr>
              <a:t>available</a:t>
            </a:r>
            <a:r>
              <a:rPr lang="en-US" dirty="0">
                <a:solidFill>
                  <a:srgbClr val="0070C0"/>
                </a:solidFill>
              </a:rPr>
              <a:t> in the </a:t>
            </a:r>
            <a:r>
              <a:rPr lang="en-US" b="1" dirty="0">
                <a:solidFill>
                  <a:srgbClr val="0070C0"/>
                </a:solidFill>
              </a:rPr>
              <a:t>My requests </a:t>
            </a:r>
            <a:r>
              <a:rPr lang="en-US" dirty="0">
                <a:solidFill>
                  <a:srgbClr val="0070C0"/>
                </a:solidFill>
              </a:rPr>
              <a:t>table (under </a:t>
            </a:r>
            <a:r>
              <a:rPr lang="en-US" b="1" dirty="0">
                <a:solidFill>
                  <a:srgbClr val="0070C0"/>
                </a:solidFill>
              </a:rPr>
              <a:t>Env-Data</a:t>
            </a:r>
            <a:r>
              <a:rPr lang="en-US" dirty="0">
                <a:solidFill>
                  <a:srgbClr val="0070C0"/>
                </a:solidFill>
              </a:rPr>
              <a:t>   </a:t>
            </a:r>
          </a:p>
          <a:p>
            <a:r>
              <a:rPr lang="en-US" dirty="0">
                <a:solidFill>
                  <a:srgbClr val="0070C0"/>
                </a:solidFill>
              </a:rPr>
              <a:t>   &gt; </a:t>
            </a:r>
            <a:r>
              <a:rPr lang="en-US" b="1" dirty="0">
                <a:solidFill>
                  <a:srgbClr val="0070C0"/>
                </a:solidFill>
              </a:rPr>
              <a:t>Show my requests </a:t>
            </a:r>
            <a:r>
              <a:rPr lang="en-US" dirty="0">
                <a:solidFill>
                  <a:srgbClr val="0070C0"/>
                </a:solidFill>
              </a:rPr>
              <a:t>in the </a:t>
            </a:r>
            <a:r>
              <a:rPr lang="en-US" b="1" dirty="0">
                <a:solidFill>
                  <a:srgbClr val="0070C0"/>
                </a:solidFill>
              </a:rPr>
              <a:t>Studies</a:t>
            </a:r>
            <a:r>
              <a:rPr lang="en-US" dirty="0">
                <a:solidFill>
                  <a:srgbClr val="0070C0"/>
                </a:solidFill>
              </a:rPr>
              <a:t> menu).</a:t>
            </a:r>
          </a:p>
          <a:p>
            <a:endParaRPr lang="en-US" dirty="0">
              <a:solidFill>
                <a:srgbClr val="0070C0"/>
              </a:solidFill>
            </a:endParaRPr>
          </a:p>
        </p:txBody>
      </p:sp>
      <p:sp>
        <p:nvSpPr>
          <p:cNvPr id="9" name="TextBox 8">
            <a:extLst>
              <a:ext uri="{FF2B5EF4-FFF2-40B4-BE49-F238E27FC236}">
                <a16:creationId xmlns:a16="http://schemas.microsoft.com/office/drawing/2014/main" id="{A76CE94C-1801-86B4-2C88-F9478ED2145F}"/>
              </a:ext>
            </a:extLst>
          </p:cNvPr>
          <p:cNvSpPr txBox="1"/>
          <p:nvPr/>
        </p:nvSpPr>
        <p:spPr>
          <a:xfrm>
            <a:off x="1443182" y="6011188"/>
            <a:ext cx="10012218" cy="523220"/>
          </a:xfrm>
          <a:prstGeom prst="rect">
            <a:avLst/>
          </a:prstGeom>
          <a:noFill/>
        </p:spPr>
        <p:txBody>
          <a:bodyPr wrap="square">
            <a:spAutoFit/>
          </a:bodyPr>
          <a:lstStyle/>
          <a:p>
            <a:r>
              <a:rPr lang="en-US" sz="1400" b="1" dirty="0">
                <a:solidFill>
                  <a:srgbClr val="0070C0"/>
                </a:solidFill>
              </a:rPr>
              <a:t>Note</a:t>
            </a:r>
            <a:r>
              <a:rPr lang="en-US" sz="1400" dirty="0">
                <a:solidFill>
                  <a:srgbClr val="0070C0"/>
                </a:solidFill>
              </a:rPr>
              <a:t>: Movebank requests can be time consuming.  Best to split your data into smaller parts (i.e., create data subsets (a few animals) and request fewer environmental datasets (one or two) for annotation)</a:t>
            </a:r>
            <a:endParaRPr lang="en-US" sz="1400" dirty="0"/>
          </a:p>
        </p:txBody>
      </p:sp>
      <p:pic>
        <p:nvPicPr>
          <p:cNvPr id="5" name="Picture 4">
            <a:extLst>
              <a:ext uri="{FF2B5EF4-FFF2-40B4-BE49-F238E27FC236}">
                <a16:creationId xmlns:a16="http://schemas.microsoft.com/office/drawing/2014/main" id="{3E34DE38-3878-594D-DB42-DED4C7096080}"/>
              </a:ext>
            </a:extLst>
          </p:cNvPr>
          <p:cNvPicPr>
            <a:picLocks noChangeAspect="1"/>
          </p:cNvPicPr>
          <p:nvPr/>
        </p:nvPicPr>
        <p:blipFill>
          <a:blip r:embed="rId2"/>
          <a:srcRect b="9263"/>
          <a:stretch>
            <a:fillRect/>
          </a:stretch>
        </p:blipFill>
        <p:spPr>
          <a:xfrm>
            <a:off x="1124193" y="3135557"/>
            <a:ext cx="4867562" cy="2806168"/>
          </a:xfrm>
          <a:prstGeom prst="rect">
            <a:avLst/>
          </a:prstGeom>
        </p:spPr>
      </p:pic>
      <p:pic>
        <p:nvPicPr>
          <p:cNvPr id="10" name="Picture 9">
            <a:extLst>
              <a:ext uri="{FF2B5EF4-FFF2-40B4-BE49-F238E27FC236}">
                <a16:creationId xmlns:a16="http://schemas.microsoft.com/office/drawing/2014/main" id="{B5805FD0-5F0E-8B10-EEB5-711AA1993A57}"/>
              </a:ext>
            </a:extLst>
          </p:cNvPr>
          <p:cNvPicPr>
            <a:picLocks noChangeAspect="1"/>
          </p:cNvPicPr>
          <p:nvPr/>
        </p:nvPicPr>
        <p:blipFill>
          <a:blip r:embed="rId3"/>
          <a:stretch>
            <a:fillRect/>
          </a:stretch>
        </p:blipFill>
        <p:spPr>
          <a:xfrm>
            <a:off x="6200246" y="3004507"/>
            <a:ext cx="4658254" cy="2209428"/>
          </a:xfrm>
          <a:prstGeom prst="rect">
            <a:avLst/>
          </a:prstGeom>
          <a:effectLst>
            <a:outerShdw blurRad="50800" dist="38100" dir="2700000" algn="tl" rotWithShape="0">
              <a:prstClr val="black">
                <a:alpha val="40000"/>
              </a:prstClr>
            </a:outerShdw>
          </a:effectLst>
        </p:spPr>
      </p:pic>
      <p:sp>
        <p:nvSpPr>
          <p:cNvPr id="12" name="Oval 11">
            <a:extLst>
              <a:ext uri="{FF2B5EF4-FFF2-40B4-BE49-F238E27FC236}">
                <a16:creationId xmlns:a16="http://schemas.microsoft.com/office/drawing/2014/main" id="{DBE6CA05-46DF-7BB0-0D3B-09830BB0130F}"/>
              </a:ext>
            </a:extLst>
          </p:cNvPr>
          <p:cNvSpPr/>
          <p:nvPr/>
        </p:nvSpPr>
        <p:spPr>
          <a:xfrm>
            <a:off x="4573156" y="3677640"/>
            <a:ext cx="1227282" cy="718870"/>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39182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DAB70-3D3F-65E1-E67C-10E315304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55E501-3180-892A-23A5-F7204AE906D7}"/>
              </a:ext>
            </a:extLst>
          </p:cNvPr>
          <p:cNvSpPr>
            <a:spLocks noGrp="1"/>
          </p:cNvSpPr>
          <p:nvPr>
            <p:ph type="title"/>
          </p:nvPr>
        </p:nvSpPr>
        <p:spPr>
          <a:xfrm>
            <a:off x="838200" y="365125"/>
            <a:ext cx="10515600" cy="878459"/>
          </a:xfrm>
        </p:spPr>
        <p:txBody>
          <a:bodyPr>
            <a:normAutofit/>
          </a:bodyPr>
          <a:lstStyle/>
          <a:p>
            <a:r>
              <a:rPr lang="en-US" dirty="0"/>
              <a:t>Movebank ENV Data – Other Applications</a:t>
            </a:r>
            <a:endParaRPr lang="en-US" sz="2000" dirty="0"/>
          </a:p>
        </p:txBody>
      </p:sp>
      <p:sp>
        <p:nvSpPr>
          <p:cNvPr id="6" name="TextBox 5">
            <a:extLst>
              <a:ext uri="{FF2B5EF4-FFF2-40B4-BE49-F238E27FC236}">
                <a16:creationId xmlns:a16="http://schemas.microsoft.com/office/drawing/2014/main" id="{B7A0679F-A191-9FC2-96F6-92EDDDF4D5A0}"/>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0217E647-9DD0-2C52-3D6F-27E1D2E936EC}"/>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Annotate generic time-location records</a:t>
            </a:r>
            <a:r>
              <a:rPr lang="en-US" dirty="0">
                <a:solidFill>
                  <a:srgbClr val="0070C0"/>
                </a:solidFill>
              </a:rPr>
              <a:t>	</a:t>
            </a:r>
            <a:endParaRPr lang="en-US" sz="2000" dirty="0">
              <a:solidFill>
                <a:srgbClr val="0070C0"/>
              </a:solidFill>
            </a:endParaRPr>
          </a:p>
        </p:txBody>
      </p:sp>
      <p:pic>
        <p:nvPicPr>
          <p:cNvPr id="5" name="Picture 4">
            <a:extLst>
              <a:ext uri="{FF2B5EF4-FFF2-40B4-BE49-F238E27FC236}">
                <a16:creationId xmlns:a16="http://schemas.microsoft.com/office/drawing/2014/main" id="{873F619B-98EA-2693-983C-20868C43F8D5}"/>
              </a:ext>
            </a:extLst>
          </p:cNvPr>
          <p:cNvPicPr>
            <a:picLocks noChangeAspect="1"/>
          </p:cNvPicPr>
          <p:nvPr/>
        </p:nvPicPr>
        <p:blipFill>
          <a:blip r:embed="rId2"/>
          <a:srcRect t="21046" r="32808"/>
          <a:stretch>
            <a:fillRect/>
          </a:stretch>
        </p:blipFill>
        <p:spPr>
          <a:xfrm>
            <a:off x="3101677" y="2863951"/>
            <a:ext cx="4749231" cy="3229916"/>
          </a:xfrm>
          <a:prstGeom prst="rect">
            <a:avLst/>
          </a:prstGeom>
        </p:spPr>
      </p:pic>
      <p:sp>
        <p:nvSpPr>
          <p:cNvPr id="8" name="TextBox 7">
            <a:extLst>
              <a:ext uri="{FF2B5EF4-FFF2-40B4-BE49-F238E27FC236}">
                <a16:creationId xmlns:a16="http://schemas.microsoft.com/office/drawing/2014/main" id="{D69D00F3-28E1-A010-5A69-CD62B8428BB4}"/>
              </a:ext>
            </a:extLst>
          </p:cNvPr>
          <p:cNvSpPr txBox="1"/>
          <p:nvPr/>
        </p:nvSpPr>
        <p:spPr>
          <a:xfrm>
            <a:off x="1662544" y="1952324"/>
            <a:ext cx="8700655" cy="923330"/>
          </a:xfrm>
          <a:prstGeom prst="rect">
            <a:avLst/>
          </a:prstGeom>
          <a:noFill/>
        </p:spPr>
        <p:txBody>
          <a:bodyPr wrap="square">
            <a:spAutoFit/>
          </a:bodyPr>
          <a:lstStyle/>
          <a:p>
            <a:r>
              <a:rPr lang="en-US" dirty="0">
                <a:solidFill>
                  <a:srgbClr val="0070C0"/>
                </a:solidFill>
              </a:rPr>
              <a:t>G</a:t>
            </a:r>
            <a:r>
              <a:rPr lang="en-US" sz="1800" dirty="0">
                <a:solidFill>
                  <a:srgbClr val="0070C0"/>
                </a:solidFill>
              </a:rPr>
              <a:t>et environmental information for times and locations related to but not the same as the animal location themselves (e.g., simulated trajectories or randomly sampled locations)</a:t>
            </a:r>
            <a:endParaRPr lang="en-US" dirty="0"/>
          </a:p>
        </p:txBody>
      </p:sp>
      <p:sp>
        <p:nvSpPr>
          <p:cNvPr id="9" name="TextBox 8">
            <a:extLst>
              <a:ext uri="{FF2B5EF4-FFF2-40B4-BE49-F238E27FC236}">
                <a16:creationId xmlns:a16="http://schemas.microsoft.com/office/drawing/2014/main" id="{076E0342-520A-26A7-B870-B4CCB1D18DA8}"/>
              </a:ext>
            </a:extLst>
          </p:cNvPr>
          <p:cNvSpPr txBox="1"/>
          <p:nvPr/>
        </p:nvSpPr>
        <p:spPr>
          <a:xfrm>
            <a:off x="965199" y="6093867"/>
            <a:ext cx="8700655" cy="338554"/>
          </a:xfrm>
          <a:prstGeom prst="rect">
            <a:avLst/>
          </a:prstGeom>
          <a:noFill/>
        </p:spPr>
        <p:txBody>
          <a:bodyPr wrap="square">
            <a:spAutoFit/>
          </a:bodyPr>
          <a:lstStyle/>
          <a:p>
            <a:r>
              <a:rPr lang="en-US" sz="1600" b="1" dirty="0"/>
              <a:t>Note</a:t>
            </a:r>
            <a:r>
              <a:rPr lang="en-US" sz="1600" dirty="0"/>
              <a:t>: </a:t>
            </a:r>
            <a:r>
              <a:rPr lang="en-US" sz="1600" dirty="0">
                <a:solidFill>
                  <a:srgbClr val="0070C0"/>
                </a:solidFill>
              </a:rPr>
              <a:t>Make sure the uploaded files matches the required format </a:t>
            </a:r>
            <a:r>
              <a:rPr lang="en-US" sz="1600" b="1" dirty="0">
                <a:solidFill>
                  <a:srgbClr val="0070C0"/>
                </a:solidFill>
              </a:rPr>
              <a:t>EXACTLY</a:t>
            </a:r>
          </a:p>
        </p:txBody>
      </p:sp>
    </p:spTree>
    <p:extLst>
      <p:ext uri="{BB962C8B-B14F-4D97-AF65-F5344CB8AC3E}">
        <p14:creationId xmlns:p14="http://schemas.microsoft.com/office/powerpoint/2010/main" val="2633186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625DC-A2A2-8194-3994-4837FC334BCD}"/>
              </a:ext>
            </a:extLst>
          </p:cNvPr>
          <p:cNvSpPr>
            <a:spLocks noGrp="1"/>
          </p:cNvSpPr>
          <p:nvPr>
            <p:ph type="title"/>
          </p:nvPr>
        </p:nvSpPr>
        <p:spPr/>
        <p:txBody>
          <a:bodyPr/>
          <a:lstStyle/>
          <a:p>
            <a:r>
              <a:rPr lang="en-US" dirty="0"/>
              <a:t>Typical datasets needed</a:t>
            </a:r>
          </a:p>
        </p:txBody>
      </p:sp>
      <p:sp>
        <p:nvSpPr>
          <p:cNvPr id="3" name="Content Placeholder 2">
            <a:extLst>
              <a:ext uri="{FF2B5EF4-FFF2-40B4-BE49-F238E27FC236}">
                <a16:creationId xmlns:a16="http://schemas.microsoft.com/office/drawing/2014/main" id="{1607FFAD-4F17-174F-4638-2B095198ECB8}"/>
              </a:ext>
            </a:extLst>
          </p:cNvPr>
          <p:cNvSpPr>
            <a:spLocks noGrp="1"/>
          </p:cNvSpPr>
          <p:nvPr>
            <p:ph idx="1"/>
          </p:nvPr>
        </p:nvSpPr>
        <p:spPr/>
        <p:txBody>
          <a:bodyPr>
            <a:normAutofit fontScale="70000" lnSpcReduction="20000"/>
          </a:bodyPr>
          <a:lstStyle/>
          <a:p>
            <a:r>
              <a:rPr lang="en-US" dirty="0" err="1"/>
              <a:t>Srtm</a:t>
            </a:r>
            <a:r>
              <a:rPr lang="en-US" dirty="0"/>
              <a:t> – elevation</a:t>
            </a:r>
          </a:p>
          <a:p>
            <a:r>
              <a:rPr lang="en-US" dirty="0"/>
              <a:t>NDVI/EVI/</a:t>
            </a:r>
            <a:r>
              <a:rPr lang="en-US" dirty="0" err="1"/>
              <a:t>nSAVI</a:t>
            </a:r>
            <a:endParaRPr lang="en-US" dirty="0"/>
          </a:p>
          <a:p>
            <a:r>
              <a:rPr lang="en-US" dirty="0"/>
              <a:t>Soil</a:t>
            </a:r>
          </a:p>
          <a:p>
            <a:r>
              <a:rPr lang="en-US" dirty="0"/>
              <a:t>Night-time lights (500m?) - Human Population Density</a:t>
            </a:r>
          </a:p>
          <a:p>
            <a:r>
              <a:rPr lang="en-US" dirty="0"/>
              <a:t>10-m Global Settlement Footprint (GEE)</a:t>
            </a:r>
          </a:p>
          <a:p>
            <a:r>
              <a:rPr lang="en-US" dirty="0"/>
              <a:t>River layer – JRC Global Surface waters – 30m temporal variability – Monthly Data Product</a:t>
            </a:r>
          </a:p>
          <a:p>
            <a:pPr lvl="1"/>
            <a:r>
              <a:rPr lang="en-US" dirty="0"/>
              <a:t>HydroSheds.org – another source for vector river</a:t>
            </a:r>
          </a:p>
          <a:p>
            <a:r>
              <a:rPr lang="en-US" dirty="0"/>
              <a:t>Tropical Moist Forest – Forest Cover</a:t>
            </a:r>
          </a:p>
          <a:p>
            <a:r>
              <a:rPr lang="en-US" dirty="0"/>
              <a:t>Land Cover</a:t>
            </a:r>
          </a:p>
          <a:p>
            <a:r>
              <a:rPr lang="en-US" dirty="0"/>
              <a:t>Roads – Open Street Map</a:t>
            </a:r>
          </a:p>
          <a:p>
            <a:r>
              <a:rPr lang="en-US" dirty="0"/>
              <a:t>Climate change future predictions</a:t>
            </a:r>
          </a:p>
          <a:p>
            <a:r>
              <a:rPr lang="en-US" dirty="0"/>
              <a:t>Vegetation Structure</a:t>
            </a:r>
          </a:p>
          <a:p>
            <a:r>
              <a:rPr lang="en-US" dirty="0"/>
              <a:t>Gridded Livestock Data of the World and impact of livestock on grazing conditions</a:t>
            </a:r>
          </a:p>
          <a:p>
            <a:endParaRPr lang="en-US" dirty="0"/>
          </a:p>
          <a:p>
            <a:pPr lvl="1"/>
            <a:endParaRPr lang="en-US" dirty="0"/>
          </a:p>
          <a:p>
            <a:pPr lvl="1">
              <a:buFontTx/>
              <a:buChar char="-"/>
            </a:pPr>
            <a:endParaRPr lang="en-US" dirty="0"/>
          </a:p>
        </p:txBody>
      </p:sp>
    </p:spTree>
    <p:extLst>
      <p:ext uri="{BB962C8B-B14F-4D97-AF65-F5344CB8AC3E}">
        <p14:creationId xmlns:p14="http://schemas.microsoft.com/office/powerpoint/2010/main" val="19942732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A65B8-2963-3794-6AF5-6C7AA8350A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D27AE-6D84-0075-749E-BBEFA36D557B}"/>
              </a:ext>
            </a:extLst>
          </p:cNvPr>
          <p:cNvSpPr>
            <a:spLocks noGrp="1"/>
          </p:cNvSpPr>
          <p:nvPr>
            <p:ph type="title"/>
          </p:nvPr>
        </p:nvSpPr>
        <p:spPr>
          <a:xfrm>
            <a:off x="838200" y="365125"/>
            <a:ext cx="10515600" cy="878459"/>
          </a:xfrm>
        </p:spPr>
        <p:txBody>
          <a:bodyPr>
            <a:normAutofit/>
          </a:bodyPr>
          <a:lstStyle/>
          <a:p>
            <a:r>
              <a:rPr lang="en-US" dirty="0"/>
              <a:t>Google Earth Engine</a:t>
            </a:r>
            <a:endParaRPr lang="en-US" sz="2000" dirty="0"/>
          </a:p>
        </p:txBody>
      </p:sp>
      <p:sp>
        <p:nvSpPr>
          <p:cNvPr id="6" name="TextBox 5">
            <a:extLst>
              <a:ext uri="{FF2B5EF4-FFF2-40B4-BE49-F238E27FC236}">
                <a16:creationId xmlns:a16="http://schemas.microsoft.com/office/drawing/2014/main" id="{F1B44EBC-449B-C729-B18C-1495A6292CEF}"/>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pic>
        <p:nvPicPr>
          <p:cNvPr id="8" name="Picture 7">
            <a:extLst>
              <a:ext uri="{FF2B5EF4-FFF2-40B4-BE49-F238E27FC236}">
                <a16:creationId xmlns:a16="http://schemas.microsoft.com/office/drawing/2014/main" id="{945B35F5-726A-53A8-DBE2-3AFB3DC899B0}"/>
              </a:ext>
            </a:extLst>
          </p:cNvPr>
          <p:cNvPicPr>
            <a:picLocks noChangeAspect="1"/>
          </p:cNvPicPr>
          <p:nvPr/>
        </p:nvPicPr>
        <p:blipFill>
          <a:blip r:embed="rId2"/>
          <a:stretch>
            <a:fillRect/>
          </a:stretch>
        </p:blipFill>
        <p:spPr>
          <a:xfrm>
            <a:off x="2444496" y="2661071"/>
            <a:ext cx="7037832" cy="3636336"/>
          </a:xfrm>
          <a:prstGeom prst="rect">
            <a:avLst/>
          </a:prstGeom>
          <a:effectLst>
            <a:outerShdw blurRad="50800" dist="38100" dir="2700000" algn="tl" rotWithShape="0">
              <a:prstClr val="black">
                <a:alpha val="40000"/>
              </a:prstClr>
            </a:outerShdw>
          </a:effectLst>
        </p:spPr>
      </p:pic>
      <p:sp>
        <p:nvSpPr>
          <p:cNvPr id="11" name="Content Placeholder 2">
            <a:extLst>
              <a:ext uri="{FF2B5EF4-FFF2-40B4-BE49-F238E27FC236}">
                <a16:creationId xmlns:a16="http://schemas.microsoft.com/office/drawing/2014/main" id="{C45D2A60-5B00-78FB-5BE9-9F6FA05A5544}"/>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Navigate to:</a:t>
            </a:r>
          </a:p>
          <a:p>
            <a:pPr lvl="1"/>
            <a:r>
              <a:rPr lang="en-US" dirty="0"/>
              <a:t>Google Earth Engine - </a:t>
            </a:r>
            <a:r>
              <a:rPr lang="en-US" sz="1800" dirty="0">
                <a:hlinkClick r:id="rId3"/>
              </a:rPr>
              <a:t>https://earthengine.google.com/</a:t>
            </a:r>
            <a:endParaRPr lang="en-US" sz="1800" dirty="0"/>
          </a:p>
          <a:p>
            <a:endParaRPr lang="en-US" dirty="0"/>
          </a:p>
        </p:txBody>
      </p:sp>
      <p:sp>
        <p:nvSpPr>
          <p:cNvPr id="3" name="TextBox 2">
            <a:extLst>
              <a:ext uri="{FF2B5EF4-FFF2-40B4-BE49-F238E27FC236}">
                <a16:creationId xmlns:a16="http://schemas.microsoft.com/office/drawing/2014/main" id="{5886BC8B-5234-84C2-DB51-EA09C21CAC3E}"/>
              </a:ext>
            </a:extLst>
          </p:cNvPr>
          <p:cNvSpPr txBox="1"/>
          <p:nvPr/>
        </p:nvSpPr>
        <p:spPr>
          <a:xfrm>
            <a:off x="1746504" y="1091660"/>
            <a:ext cx="9119804" cy="369332"/>
          </a:xfrm>
          <a:prstGeom prst="rect">
            <a:avLst/>
          </a:prstGeom>
          <a:noFill/>
        </p:spPr>
        <p:txBody>
          <a:bodyPr wrap="none" rtlCol="0">
            <a:spAutoFit/>
          </a:bodyPr>
          <a:lstStyle/>
          <a:p>
            <a:r>
              <a:rPr lang="en-US" dirty="0">
                <a:solidFill>
                  <a:srgbClr val="0070C0"/>
                </a:solidFill>
              </a:rPr>
              <a:t>A Multi-petabyte catalog and geospatial datasets with planetary-scale analysis capabilities</a:t>
            </a:r>
          </a:p>
        </p:txBody>
      </p:sp>
    </p:spTree>
    <p:extLst>
      <p:ext uri="{BB962C8B-B14F-4D97-AF65-F5344CB8AC3E}">
        <p14:creationId xmlns:p14="http://schemas.microsoft.com/office/powerpoint/2010/main" val="42597620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DEFC1-307D-B182-766F-1B846E8166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B24DF1-8226-1024-1EB8-991F63BDD6D2}"/>
              </a:ext>
            </a:extLst>
          </p:cNvPr>
          <p:cNvSpPr>
            <a:spLocks noGrp="1"/>
          </p:cNvSpPr>
          <p:nvPr>
            <p:ph type="title"/>
          </p:nvPr>
        </p:nvSpPr>
        <p:spPr>
          <a:xfrm>
            <a:off x="838200" y="365125"/>
            <a:ext cx="10515600" cy="878459"/>
          </a:xfrm>
        </p:spPr>
        <p:txBody>
          <a:bodyPr>
            <a:normAutofit/>
          </a:bodyPr>
          <a:lstStyle/>
          <a:p>
            <a:r>
              <a:rPr lang="en-US" dirty="0"/>
              <a:t>Google Earth Engine</a:t>
            </a:r>
            <a:endParaRPr lang="en-US" sz="2000" dirty="0"/>
          </a:p>
        </p:txBody>
      </p:sp>
      <p:sp>
        <p:nvSpPr>
          <p:cNvPr id="6" name="TextBox 5">
            <a:extLst>
              <a:ext uri="{FF2B5EF4-FFF2-40B4-BE49-F238E27FC236}">
                <a16:creationId xmlns:a16="http://schemas.microsoft.com/office/drawing/2014/main" id="{4614927E-2093-2AFA-DB2B-429403F37394}"/>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91136AE4-FF34-5B17-B4BB-0EE694F4831E}"/>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Follow GEE workflow</a:t>
            </a:r>
          </a:p>
        </p:txBody>
      </p:sp>
      <p:pic>
        <p:nvPicPr>
          <p:cNvPr id="13" name="Picture 12">
            <a:extLst>
              <a:ext uri="{FF2B5EF4-FFF2-40B4-BE49-F238E27FC236}">
                <a16:creationId xmlns:a16="http://schemas.microsoft.com/office/drawing/2014/main" id="{34B8D165-6CFB-67A0-1C27-B9E6E03BBE8F}"/>
              </a:ext>
            </a:extLst>
          </p:cNvPr>
          <p:cNvPicPr>
            <a:picLocks noChangeAspect="1"/>
          </p:cNvPicPr>
          <p:nvPr/>
        </p:nvPicPr>
        <p:blipFill>
          <a:blip r:embed="rId2"/>
          <a:stretch>
            <a:fillRect/>
          </a:stretch>
        </p:blipFill>
        <p:spPr>
          <a:xfrm>
            <a:off x="7693398" y="291705"/>
            <a:ext cx="4265384" cy="951879"/>
          </a:xfrm>
          <a:prstGeom prst="rect">
            <a:avLst/>
          </a:prstGeom>
          <a:effectLst>
            <a:outerShdw blurRad="50800" dist="38100" dir="2700000" algn="tl" rotWithShape="0">
              <a:prstClr val="black">
                <a:alpha val="40000"/>
              </a:prstClr>
            </a:outerShdw>
          </a:effectLst>
        </p:spPr>
      </p:pic>
      <p:pic>
        <p:nvPicPr>
          <p:cNvPr id="1026" name="Picture 2">
            <a:extLst>
              <a:ext uri="{FF2B5EF4-FFF2-40B4-BE49-F238E27FC236}">
                <a16:creationId xmlns:a16="http://schemas.microsoft.com/office/drawing/2014/main" id="{1E92CBCD-E181-A33D-15A7-5818304AF0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0328" y="2157985"/>
            <a:ext cx="7837819" cy="3952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70303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889</TotalTime>
  <Words>1186</Words>
  <Application>Microsoft Office PowerPoint</Application>
  <PresentationFormat>Widescreen</PresentationFormat>
  <Paragraphs>120</Paragraphs>
  <Slides>31</Slides>
  <Notes>2</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Aptos Display</vt:lpstr>
      <vt:lpstr>Arial</vt:lpstr>
      <vt:lpstr>Calibri</vt:lpstr>
      <vt:lpstr>TimesNewRomanPSMT</vt:lpstr>
      <vt:lpstr>Office Theme</vt:lpstr>
      <vt:lpstr>PowerPoint Presentation</vt:lpstr>
      <vt:lpstr>PowerPoint Presentation</vt:lpstr>
      <vt:lpstr>PowerPoint Presentation</vt:lpstr>
      <vt:lpstr>Key Concept</vt:lpstr>
      <vt:lpstr>Key Concept</vt:lpstr>
      <vt:lpstr>PowerPoint Presentation</vt:lpstr>
      <vt:lpstr>PowerPoint Presentation</vt:lpstr>
      <vt:lpstr>PowerPoint Presentation</vt:lpstr>
      <vt:lpstr>PowerPoint Presentation</vt:lpstr>
      <vt:lpstr>PowerPoint Presentation</vt:lpstr>
      <vt:lpstr>Where to Locate Satellite Data</vt:lpstr>
      <vt:lpstr>NASA Earth Data</vt:lpstr>
      <vt:lpstr>NASA Earth Data</vt:lpstr>
      <vt:lpstr>NASA Earth Data</vt:lpstr>
      <vt:lpstr>NASA Earth Data</vt:lpstr>
      <vt:lpstr>NASA Earth Data</vt:lpstr>
      <vt:lpstr>NASA Earth Data</vt:lpstr>
      <vt:lpstr>NASA Earth Data</vt:lpstr>
      <vt:lpstr>NASA Earth Data</vt:lpstr>
      <vt:lpstr>Movebank ENV Data</vt:lpstr>
      <vt:lpstr>Movebank ENV Data</vt:lpstr>
      <vt:lpstr>Movebank ENV Data</vt:lpstr>
      <vt:lpstr>Movebank ENV Data</vt:lpstr>
      <vt:lpstr>Movebank ENV Data</vt:lpstr>
      <vt:lpstr>Movebank ENV Data</vt:lpstr>
      <vt:lpstr>Movebank ENV Data</vt:lpstr>
      <vt:lpstr>Movebank ENV Data</vt:lpstr>
      <vt:lpstr>Movebank ENV Data – Other Applications</vt:lpstr>
      <vt:lpstr>Typical datasets needed</vt:lpstr>
      <vt:lpstr>Google Earth Engine</vt:lpstr>
      <vt:lpstr>Google Earth Engine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Stabach, Jared</dc:creator>
  <cp:lastModifiedBy>Jared Stabach</cp:lastModifiedBy>
  <cp:revision>17</cp:revision>
  <dcterms:created xsi:type="dcterms:W3CDTF">2025-07-27T18:03:28Z</dcterms:created>
  <dcterms:modified xsi:type="dcterms:W3CDTF">2026-07-31T13:08:45Z</dcterms:modified>
</cp:coreProperties>
</file>