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3"/>
  </p:notesMasterIdLst>
  <p:sldIdLst>
    <p:sldId id="256" r:id="rId3"/>
    <p:sldId id="257" r:id="rId4"/>
    <p:sldId id="258" r:id="rId5"/>
    <p:sldId id="259" r:id="rId6"/>
    <p:sldId id="283" r:id="rId7"/>
    <p:sldId id="261" r:id="rId8"/>
    <p:sldId id="262" r:id="rId9"/>
    <p:sldId id="263" r:id="rId10"/>
    <p:sldId id="264" r:id="rId11"/>
    <p:sldId id="265" r:id="rId12"/>
    <p:sldId id="266" r:id="rId13"/>
    <p:sldId id="268" r:id="rId14"/>
    <p:sldId id="267" r:id="rId15"/>
    <p:sldId id="272" r:id="rId16"/>
    <p:sldId id="273" r:id="rId17"/>
    <p:sldId id="271" r:id="rId18"/>
    <p:sldId id="288" r:id="rId19"/>
    <p:sldId id="289" r:id="rId20"/>
    <p:sldId id="277" r:id="rId21"/>
    <p:sldId id="28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38235"/>
    <a:srgbClr val="0025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7571" autoAdjust="0"/>
  </p:normalViewPr>
  <p:slideViewPr>
    <p:cSldViewPr snapToGrid="0">
      <p:cViewPr varScale="1">
        <p:scale>
          <a:sx n="83" d="100"/>
          <a:sy n="83" d="100"/>
        </p:scale>
        <p:origin x="178" y="149"/>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72" d="100"/>
          <a:sy n="72" d="100"/>
        </p:scale>
        <p:origin x="3010" y="7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C3ADD9-A38B-4BE5-AC76-350827CA9FF8}" type="datetimeFigureOut">
              <a:rPr lang="en-US" smtClean="0"/>
              <a:t>8/5/2025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65689-8240-45C5-BB1A-376E97A4566F}" type="slidenum">
              <a:rPr lang="en-US" smtClean="0"/>
              <a:t>‹#›</a:t>
            </a:fld>
            <a:endParaRPr lang="en-US"/>
          </a:p>
        </p:txBody>
      </p:sp>
    </p:spTree>
    <p:extLst>
      <p:ext uri="{BB962C8B-B14F-4D97-AF65-F5344CB8AC3E}">
        <p14:creationId xmlns:p14="http://schemas.microsoft.com/office/powerpoint/2010/main" val="2467333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we’ll investigate what else we can infer about the animal’s we’ve fitted with tracking devices.  </a:t>
            </a:r>
          </a:p>
          <a:p>
            <a:endParaRPr lang="en-US" dirty="0"/>
          </a:p>
          <a:p>
            <a:r>
              <a:rPr lang="en-US" dirty="0"/>
              <a:t>As you all are aware, it is very difficult to physically observe animals in the wild.  As a result, researchers often use the movement path to infer information about the animal’s behavior.  Is the animal resting?  Is it feeding?  How much time does it spend moving or feeding?  And, importantly, what habitats does it frequent and what resources does it need for survival?  </a:t>
            </a:r>
          </a:p>
          <a:p>
            <a:endParaRPr lang="en-US" dirty="0"/>
          </a:p>
          <a:p>
            <a:r>
              <a:rPr lang="en-US" dirty="0"/>
              <a:t>One way to address these questions is by Behavioral partitioning.</a:t>
            </a:r>
          </a:p>
        </p:txBody>
      </p:sp>
      <p:sp>
        <p:nvSpPr>
          <p:cNvPr id="4" name="Slide Number Placeholder 3"/>
          <p:cNvSpPr>
            <a:spLocks noGrp="1"/>
          </p:cNvSpPr>
          <p:nvPr>
            <p:ph type="sldNum" sz="quarter" idx="5"/>
          </p:nvPr>
        </p:nvSpPr>
        <p:spPr/>
        <p:txBody>
          <a:bodyPr/>
          <a:lstStyle/>
          <a:p>
            <a:fld id="{42E65689-8240-45C5-BB1A-376E97A4566F}" type="slidenum">
              <a:rPr lang="en-US" smtClean="0"/>
              <a:t>1</a:t>
            </a:fld>
            <a:endParaRPr lang="en-US"/>
          </a:p>
        </p:txBody>
      </p:sp>
    </p:spTree>
    <p:extLst>
      <p:ext uri="{BB962C8B-B14F-4D97-AF65-F5344CB8AC3E}">
        <p14:creationId xmlns:p14="http://schemas.microsoft.com/office/powerpoint/2010/main" val="821403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Behavioral Partitioning involves using characteristics of the movement information, typically across all individuals, in order to assign a label to segments of the movement path to identify what the animal or animals were doing.  More technically correct, what we are doing is identifying when is the animal doing something different from what it was previously doing.  Has the movements changed over time and what does that change in movement mean?</a:t>
            </a:r>
          </a:p>
          <a:p>
            <a:endParaRPr lang="en-US" dirty="0"/>
          </a:p>
          <a:p>
            <a:r>
              <a:rPr lang="en-US" dirty="0"/>
              <a:t>From this, we are trying to associate these changes in movement with a specific behavior.</a:t>
            </a:r>
          </a:p>
          <a:p>
            <a:endParaRPr lang="en-US" dirty="0"/>
          </a:p>
          <a:p>
            <a:r>
              <a:rPr lang="en-US" dirty="0"/>
              <a:t>We have a few options available to us to answer these types of questions, these include Hidden Mark Models or so-called State-Switching State Space Models, Behavioral Change Point Analysis (BCPA), First Passage Time or Residence Time, and Multi-state Random Walks.  We’ll walk through some example code to fit a HMM, but I’ve also listed Gurarie et al 2016 paper which provides a very nice summary of these methods. </a:t>
            </a:r>
          </a:p>
        </p:txBody>
      </p:sp>
      <p:sp>
        <p:nvSpPr>
          <p:cNvPr id="4" name="Slide Number Placeholder 3"/>
          <p:cNvSpPr>
            <a:spLocks noGrp="1"/>
          </p:cNvSpPr>
          <p:nvPr>
            <p:ph type="sldNum" sz="quarter" idx="5"/>
          </p:nvPr>
        </p:nvSpPr>
        <p:spPr/>
        <p:txBody>
          <a:bodyPr/>
          <a:lstStyle/>
          <a:p>
            <a:fld id="{42E65689-8240-45C5-BB1A-376E97A4566F}" type="slidenum">
              <a:rPr lang="en-US" smtClean="0"/>
              <a:t>2</a:t>
            </a:fld>
            <a:endParaRPr lang="en-US"/>
          </a:p>
        </p:txBody>
      </p:sp>
    </p:spTree>
    <p:extLst>
      <p:ext uri="{BB962C8B-B14F-4D97-AF65-F5344CB8AC3E}">
        <p14:creationId xmlns:p14="http://schemas.microsoft.com/office/powerpoint/2010/main" val="399260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things the Gurarie paper does well is to break apart the objectives of animal movement studies into three main categories: Exploratory, Explanatory, and Predictive.</a:t>
            </a:r>
          </a:p>
          <a:p>
            <a:endParaRPr lang="en-US" dirty="0"/>
          </a:p>
          <a:p>
            <a:r>
              <a:rPr lang="en-US" dirty="0"/>
              <a:t>In the Exploratory phase, we are interested in what the animal is doing?  This entails generating metrics to describe and quantify the movement track.  How fast or slow is the animal moving?  How far did it move?  Then, we can start asking whether there are distinct behaviors in the animal movement track and if so, how many?  What characteristics distinguish these behavior and we can investigate when and where these behaviors occur?  This get’s very interesting, as we start to look at the preferences of the animal and how their movements are related to habitat, climate, and/or disturbance.</a:t>
            </a:r>
          </a:p>
          <a:p>
            <a:endParaRPr lang="en-US" dirty="0"/>
          </a:p>
          <a:p>
            <a:r>
              <a:rPr lang="en-US" dirty="0"/>
              <a:t>Then we can start to ask Explanatory behaviors.  Why is the animal doing something?  This allows us to associate behaviors with something in the animal’s environment or how the transitions are related to particular covariates, like season or some sort of environmental cue, or potential related to predation or social factors like the rank of the animal in a group or how many animals might be in a group.</a:t>
            </a:r>
          </a:p>
          <a:p>
            <a:endParaRPr lang="en-US" dirty="0"/>
          </a:p>
          <a:p>
            <a:r>
              <a:rPr lang="en-US" dirty="0"/>
              <a:t>And then finally we ask predictive questions.  If we modify the environment in some way, how would that be expected to impact the animal.</a:t>
            </a:r>
          </a:p>
          <a:p>
            <a:endParaRPr lang="en-US" dirty="0"/>
          </a:p>
          <a:p>
            <a:r>
              <a:rPr lang="en-US" dirty="0"/>
              <a:t>It’s really these Explanatory and Predictive aspects that are most interesting, but require us to start at the Exploratory phase.</a:t>
            </a:r>
          </a:p>
        </p:txBody>
      </p:sp>
      <p:sp>
        <p:nvSpPr>
          <p:cNvPr id="4" name="Slide Number Placeholder 3"/>
          <p:cNvSpPr>
            <a:spLocks noGrp="1"/>
          </p:cNvSpPr>
          <p:nvPr>
            <p:ph type="sldNum" sz="quarter" idx="5"/>
          </p:nvPr>
        </p:nvSpPr>
        <p:spPr/>
        <p:txBody>
          <a:bodyPr/>
          <a:lstStyle/>
          <a:p>
            <a:fld id="{42E65689-8240-45C5-BB1A-376E97A4566F}" type="slidenum">
              <a:rPr lang="en-US" smtClean="0"/>
              <a:t>3</a:t>
            </a:fld>
            <a:endParaRPr lang="en-US"/>
          </a:p>
        </p:txBody>
      </p:sp>
    </p:spTree>
    <p:extLst>
      <p:ext uri="{BB962C8B-B14F-4D97-AF65-F5344CB8AC3E}">
        <p14:creationId xmlns:p14="http://schemas.microsoft.com/office/powerpoint/2010/main" val="177405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HMMs are discrete time, discrete state, state space models. The behavioral state of the animal is the unobserved, or the latent state, that we are trying to predict.</a:t>
            </a:r>
          </a:p>
          <a:p>
            <a:endParaRPr lang="en-US" dirty="0"/>
          </a:p>
          <a:p>
            <a:r>
              <a:rPr lang="en-US" dirty="0"/>
              <a:t>These models operate on time series data where the response variable is step length and turning angle, but this framework could be used on other time series data, for instance accelerometry data, occupancy data, capture-recapture data, and others</a:t>
            </a:r>
          </a:p>
          <a:p>
            <a:endParaRPr lang="en-US" dirty="0"/>
          </a:p>
          <a:p>
            <a:r>
              <a:rPr lang="en-US" dirty="0"/>
              <a:t>The key assumption is that we have some unknown number of unobserved behavioral states and these behavioral states can be distinguished by distinct statistical distributions of step lengths and turning angles.  </a:t>
            </a:r>
          </a:p>
        </p:txBody>
      </p:sp>
      <p:sp>
        <p:nvSpPr>
          <p:cNvPr id="4" name="Slide Number Placeholder 3"/>
          <p:cNvSpPr>
            <a:spLocks noGrp="1"/>
          </p:cNvSpPr>
          <p:nvPr>
            <p:ph type="sldNum" sz="quarter" idx="5"/>
          </p:nvPr>
        </p:nvSpPr>
        <p:spPr/>
        <p:txBody>
          <a:bodyPr/>
          <a:lstStyle/>
          <a:p>
            <a:fld id="{42E65689-8240-45C5-BB1A-376E97A4566F}" type="slidenum">
              <a:rPr lang="en-US" smtClean="0"/>
              <a:t>4</a:t>
            </a:fld>
            <a:endParaRPr lang="en-US"/>
          </a:p>
        </p:txBody>
      </p:sp>
    </p:spTree>
    <p:extLst>
      <p:ext uri="{BB962C8B-B14F-4D97-AF65-F5344CB8AC3E}">
        <p14:creationId xmlns:p14="http://schemas.microsoft.com/office/powerpoint/2010/main" val="30872783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look like.</a:t>
            </a:r>
          </a:p>
          <a:p>
            <a:endParaRPr lang="en-US" dirty="0"/>
          </a:p>
          <a:p>
            <a:r>
              <a:rPr lang="en-US" dirty="0"/>
              <a:t>We have two processes…this is what makes this a hierarchical modeling approach.  We have our observation process, which in this case is our location observations with associated step lengths and turning angles….the movement data.  And, we have our latent or unobserved state…our hidden state.  This is what we want to learn about.</a:t>
            </a:r>
          </a:p>
          <a:p>
            <a:endParaRPr lang="en-US" dirty="0"/>
          </a:p>
          <a:p>
            <a:r>
              <a:rPr lang="en-US" dirty="0"/>
              <a:t>We assume that this latent state process is a Markov process, meaning that information about the current state is used to make inference about the following or future state.</a:t>
            </a:r>
          </a:p>
          <a:p>
            <a:endParaRPr lang="en-US" dirty="0"/>
          </a:p>
          <a:p>
            <a:r>
              <a:rPr lang="en-US" dirty="0"/>
              <a:t>You might also hear the term 1</a:t>
            </a:r>
            <a:r>
              <a:rPr lang="en-US" baseline="30000" dirty="0"/>
              <a:t>st</a:t>
            </a:r>
            <a:r>
              <a:rPr lang="en-US" dirty="0"/>
              <a:t> order 2</a:t>
            </a:r>
            <a:r>
              <a:rPr lang="en-US" baseline="30000" dirty="0"/>
              <a:t>nd</a:t>
            </a:r>
            <a:r>
              <a:rPr lang="en-US" dirty="0"/>
              <a:t> order Markov process.  This just mean how many previous states are used (1 or 2 or more) to inform the current or future state.  So a 1</a:t>
            </a:r>
            <a:r>
              <a:rPr lang="en-US" baseline="30000" dirty="0"/>
              <a:t>st</a:t>
            </a:r>
            <a:r>
              <a:rPr lang="en-US" dirty="0"/>
              <a:t> order Markov process indicates that we are only using the current state to predict our future state.</a:t>
            </a:r>
          </a:p>
          <a:p>
            <a:endParaRPr lang="en-US" dirty="0"/>
          </a:p>
          <a:p>
            <a:r>
              <a:rPr lang="en-US" dirty="0"/>
              <a:t>We have discrete (arguably) random variables, in this case step length and turning angles.  And we have N, our number of states, which in most cases is typically 4 or less.  Most likely 2 or 3 states.  This is what we are trying to estimate effectively.  What is the animal doing?  Is it resting or feeding?</a:t>
            </a:r>
          </a:p>
          <a:p>
            <a:endParaRPr lang="en-US" dirty="0"/>
          </a:p>
          <a:p>
            <a:r>
              <a:rPr lang="en-US" dirty="0"/>
              <a:t>Again, the key is that these states vary in the distributions of the step length and turning angles.  We’ll also have a transition matrix included in these models.  This governs how likely it is for animal to switch from one state to another state.</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42E65689-8240-45C5-BB1A-376E97A4566F}" type="slidenum">
              <a:rPr lang="en-US" smtClean="0"/>
              <a:t>5</a:t>
            </a:fld>
            <a:endParaRPr lang="en-US"/>
          </a:p>
        </p:txBody>
      </p:sp>
    </p:spTree>
    <p:extLst>
      <p:ext uri="{BB962C8B-B14F-4D97-AF65-F5344CB8AC3E}">
        <p14:creationId xmlns:p14="http://schemas.microsoft.com/office/powerpoint/2010/main" val="2192812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with these models, we are going to estimate transition probabilities, which we see in the matrix table on the bottom left.   And it’s going to estimate the parameters of the statistical distributions of step length and turning angles for each of our states.  This is the kind of output that we will see with these models.  On the right, which is taken from XXX,, shown as thick curved lines.  Step lengths are at the top and turning angles on the bottom.  Most important for you at this point is simply to notice the difference in the distributions between each of these states.</a:t>
            </a:r>
          </a:p>
          <a:p>
            <a:endParaRPr lang="en-US" dirty="0"/>
          </a:p>
          <a:p>
            <a:r>
              <a:rPr lang="en-US" dirty="0"/>
              <a:t>We also see the numerical transitions which estimates the likelihood that animals switch from 1 state to the next.  This matrix is easiest read in rows…so the probability that an animal will transition from State 1 to State 1, that is stay within that state is very high (0.8 or 80 %), with smaller probabilities of transitioning from State 1 to State 2 or State 1 to State 3.  Similarly, we see that this animal transitions from State 2 to State 1 with a 20% probability and from State 2 to State 3 with a 10% probability.  </a:t>
            </a:r>
          </a:p>
          <a:p>
            <a:endParaRPr lang="en-US" dirty="0"/>
          </a:p>
          <a:p>
            <a:r>
              <a:rPr lang="en-US" dirty="0"/>
              <a:t>Interestingly, the diagonals are all quite high.  This make sense.  When you are in a particular state, you tend to stay in that state.  </a:t>
            </a:r>
          </a:p>
          <a:p>
            <a:endParaRPr lang="en-US" dirty="0"/>
          </a:p>
          <a:p>
            <a:r>
              <a:rPr lang="en-US" dirty="0"/>
              <a:t>Probably most important is that we can incorporate covariates that influence the transitions between different states.  So, for instance, does the habitat type or time of day influence your behavioral state.  This is what we will be looking at when we fit models.</a:t>
            </a:r>
          </a:p>
          <a:p>
            <a:endParaRPr lang="en-US" dirty="0"/>
          </a:p>
          <a:p>
            <a:endParaRPr lang="en-US" dirty="0"/>
          </a:p>
        </p:txBody>
      </p:sp>
      <p:sp>
        <p:nvSpPr>
          <p:cNvPr id="4" name="Slide Number Placeholder 3"/>
          <p:cNvSpPr>
            <a:spLocks noGrp="1"/>
          </p:cNvSpPr>
          <p:nvPr>
            <p:ph type="sldNum" sz="quarter" idx="5"/>
          </p:nvPr>
        </p:nvSpPr>
        <p:spPr/>
        <p:txBody>
          <a:bodyPr/>
          <a:lstStyle/>
          <a:p>
            <a:fld id="{42E65689-8240-45C5-BB1A-376E97A4566F}" type="slidenum">
              <a:rPr lang="en-US" smtClean="0"/>
              <a:t>6</a:t>
            </a:fld>
            <a:endParaRPr lang="en-US"/>
          </a:p>
        </p:txBody>
      </p:sp>
    </p:spTree>
    <p:extLst>
      <p:ext uri="{BB962C8B-B14F-4D97-AF65-F5344CB8AC3E}">
        <p14:creationId xmlns:p14="http://schemas.microsoft.com/office/powerpoint/2010/main" val="773733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setup these models, we need to provide starting values.  This can be a frustrating part, as the models will often fail if improper starting values are provided.</a:t>
            </a:r>
          </a:p>
          <a:p>
            <a:endParaRPr lang="en-US" dirty="0"/>
          </a:p>
          <a:p>
            <a:r>
              <a:rPr lang="en-US" dirty="0"/>
              <a:t>We have to input the number of states.  This is not an estimable parameter in these models.  It must be provided.</a:t>
            </a:r>
          </a:p>
          <a:p>
            <a:endParaRPr lang="en-US" dirty="0"/>
          </a:p>
          <a:p>
            <a:r>
              <a:rPr lang="en-US" dirty="0"/>
              <a:t>We also need to specify the starting state.  Common is to simply provide an equal probability of being in any one of the starting states.</a:t>
            </a:r>
          </a:p>
          <a:p>
            <a:endParaRPr lang="en-US" dirty="0"/>
          </a:p>
          <a:p>
            <a:r>
              <a:rPr lang="en-US" dirty="0"/>
              <a:t>Then, we need to setup the distributions for step length and turning angles and we need to do this for each of the states.  This means we first need to specify the shape of the distribution.  For the steplengths, we have a few potential distributions to choose from.  A gamma distribution is the default, but we could also choose a Weibull, a log-normal, or an exponential distribution.  These dictate the shape and behavior of the curves.  For Gamma, we then need to provide the mean and variance. </a:t>
            </a:r>
          </a:p>
          <a:p>
            <a:endParaRPr lang="en-US" dirty="0"/>
          </a:p>
          <a:p>
            <a:r>
              <a:rPr lang="en-US" dirty="0"/>
              <a:t>For our turning angles, we have a few potential distribution options, the von Mises and the wrapped Cauchy.  Both are circular distributions, which require the mean turning angle and the clustering parameter which is similar to the variance of the turning angle distribution.</a:t>
            </a:r>
          </a:p>
          <a:p>
            <a:endParaRPr lang="en-US" dirty="0"/>
          </a:p>
          <a:p>
            <a:r>
              <a:rPr lang="en-US" dirty="0"/>
              <a:t>The Transition probably matrix will then be estimated based on our starting states.  This will be estimated for us once we input all the other values, so we don’t need to put starting values here….these will be estimated.</a:t>
            </a:r>
          </a:p>
        </p:txBody>
      </p:sp>
      <p:sp>
        <p:nvSpPr>
          <p:cNvPr id="4" name="Slide Number Placeholder 3"/>
          <p:cNvSpPr>
            <a:spLocks noGrp="1"/>
          </p:cNvSpPr>
          <p:nvPr>
            <p:ph type="sldNum" sz="quarter" idx="5"/>
          </p:nvPr>
        </p:nvSpPr>
        <p:spPr/>
        <p:txBody>
          <a:bodyPr/>
          <a:lstStyle/>
          <a:p>
            <a:fld id="{42E65689-8240-45C5-BB1A-376E97A4566F}" type="slidenum">
              <a:rPr lang="en-US" smtClean="0"/>
              <a:t>7</a:t>
            </a:fld>
            <a:endParaRPr lang="en-US"/>
          </a:p>
        </p:txBody>
      </p:sp>
    </p:spTree>
    <p:extLst>
      <p:ext uri="{BB962C8B-B14F-4D97-AF65-F5344CB8AC3E}">
        <p14:creationId xmlns:p14="http://schemas.microsoft.com/office/powerpoint/2010/main" val="1969301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models are run….we can then use what are called decoding algorithms to assess the most likely state for every one of our locations.  As you can imagine, this is very useful.  In R, we have access to three different algorithms, which differ slightly with how they decode the state values.  The default is called the Viterbi algorithm.</a:t>
            </a:r>
          </a:p>
          <a:p>
            <a:endParaRPr lang="en-US" dirty="0"/>
          </a:p>
          <a:p>
            <a:r>
              <a:rPr lang="en-US" dirty="0"/>
              <a:t>We also have access to stationary probabilities.  So instead of assigning a state to every point, we can look at the state probability of each point, oftentimes providing a value of confidence to each particular state assignment.</a:t>
            </a:r>
          </a:p>
          <a:p>
            <a:endParaRPr lang="en-US" dirty="0"/>
          </a:p>
          <a:p>
            <a:r>
              <a:rPr lang="en-US" dirty="0"/>
              <a:t>It’s important to note that with these models we are assuming regular sampling intervals with negligible error.  If this assumption can’t be met, pre-processing of the data would be necessary.  There are a few ways to simulate movement paths, once of which would be to use CTMM.  The problem here is that the latent states that we are estimating are completing based on the steplengths and turning angles.  And, if these are incorrect or biased in some way, it can have a huge on these distributions and impact our results.</a:t>
            </a:r>
          </a:p>
          <a:p>
            <a:endParaRPr lang="en-US" dirty="0"/>
          </a:p>
          <a:p>
            <a:r>
              <a:rPr lang="en-US" dirty="0"/>
              <a:t>There is not date/time included in these models……we have to make sure we are feeding the data in an ordered sequence (Chronologically).  As a result, we need to be very careful about irregularly sampled data, as the model won’t differentiate.</a:t>
            </a:r>
          </a:p>
          <a:p>
            <a:endParaRPr lang="en-US" dirty="0"/>
          </a:p>
          <a:p>
            <a:r>
              <a:rPr lang="en-US" dirty="0"/>
              <a:t>We also can use standard model comparison techniques like AIC to assess individual models.</a:t>
            </a:r>
          </a:p>
        </p:txBody>
      </p:sp>
      <p:sp>
        <p:nvSpPr>
          <p:cNvPr id="4" name="Slide Number Placeholder 3"/>
          <p:cNvSpPr>
            <a:spLocks noGrp="1"/>
          </p:cNvSpPr>
          <p:nvPr>
            <p:ph type="sldNum" sz="quarter" idx="5"/>
          </p:nvPr>
        </p:nvSpPr>
        <p:spPr/>
        <p:txBody>
          <a:bodyPr/>
          <a:lstStyle/>
          <a:p>
            <a:fld id="{42E65689-8240-45C5-BB1A-376E97A4566F}" type="slidenum">
              <a:rPr lang="en-US" smtClean="0"/>
              <a:t>8</a:t>
            </a:fld>
            <a:endParaRPr lang="en-US"/>
          </a:p>
        </p:txBody>
      </p:sp>
    </p:spTree>
    <p:extLst>
      <p:ext uri="{BB962C8B-B14F-4D97-AF65-F5344CB8AC3E}">
        <p14:creationId xmlns:p14="http://schemas.microsoft.com/office/powerpoint/2010/main" val="2946496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I’m showing you the gamma distribution.  The nice aspect of this distribution and why it’s used is that values cannot go below 0.  You can’t have a negative </a:t>
            </a:r>
            <a:r>
              <a:rPr lang="en-US" dirty="0" err="1"/>
              <a:t>steplength</a:t>
            </a:r>
            <a:r>
              <a:rPr lang="en-US" dirty="0"/>
              <a:t>, so it’s more appropriate, that is, it has the statistical support to be used with the animal movement data.</a:t>
            </a:r>
          </a:p>
          <a:p>
            <a:endParaRPr lang="en-US" dirty="0"/>
          </a:p>
          <a:p>
            <a:r>
              <a:rPr lang="en-US" dirty="0"/>
              <a:t>Here, we have 2 states.  State 1 is described with a mean value of 0.5 and a shape parameter of 0.7, that’s essentially the variance in this distribution.  State 2 has a mean of 4, with a shape or variance of 2.5.  What you can see is the difference in the shapes for each of these states…representative of different behaviors.</a:t>
            </a:r>
          </a:p>
        </p:txBody>
      </p:sp>
      <p:sp>
        <p:nvSpPr>
          <p:cNvPr id="4" name="Slide Number Placeholder 3"/>
          <p:cNvSpPr>
            <a:spLocks noGrp="1"/>
          </p:cNvSpPr>
          <p:nvPr>
            <p:ph type="sldNum" sz="quarter" idx="5"/>
          </p:nvPr>
        </p:nvSpPr>
        <p:spPr/>
        <p:txBody>
          <a:bodyPr/>
          <a:lstStyle/>
          <a:p>
            <a:fld id="{42E65689-8240-45C5-BB1A-376E97A4566F}" type="slidenum">
              <a:rPr lang="en-US" smtClean="0"/>
              <a:t>9</a:t>
            </a:fld>
            <a:endParaRPr lang="en-US"/>
          </a:p>
        </p:txBody>
      </p:sp>
    </p:spTree>
    <p:extLst>
      <p:ext uri="{BB962C8B-B14F-4D97-AF65-F5344CB8AC3E}">
        <p14:creationId xmlns:p14="http://schemas.microsoft.com/office/powerpoint/2010/main" val="1057704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in R and using the package </a:t>
            </a:r>
            <a:r>
              <a:rPr lang="en-US" dirty="0" err="1"/>
              <a:t>momentuHMM</a:t>
            </a:r>
            <a:r>
              <a:rPr lang="en-US" dirty="0"/>
              <a:t>, this is the structure of the function that we will use.</a:t>
            </a:r>
          </a:p>
          <a:p>
            <a:endParaRPr lang="en-US" dirty="0"/>
          </a:p>
          <a:p>
            <a:r>
              <a:rPr lang="en-US" dirty="0"/>
              <a:t>The syntax requires us to specify the movement object….again, we need to format this data object, as </a:t>
            </a:r>
            <a:r>
              <a:rPr lang="en-US" dirty="0" err="1"/>
              <a:t>momentuHMM</a:t>
            </a:r>
            <a:r>
              <a:rPr lang="en-US" dirty="0"/>
              <a:t> does NOT recognize the data as a time series.  So, it’s very important to we clean these data and align the sequence properly before starting the modeling process.  This is what we will be doing next.</a:t>
            </a:r>
          </a:p>
          <a:p>
            <a:endParaRPr lang="en-US" dirty="0"/>
          </a:p>
          <a:p>
            <a:r>
              <a:rPr lang="en-US" dirty="0"/>
              <a:t>We then need to specify the number of states we are interested in estimating.  We then need to specify our initial starting values for the </a:t>
            </a:r>
            <a:r>
              <a:rPr lang="en-US" dirty="0" err="1"/>
              <a:t>steplength</a:t>
            </a:r>
            <a:r>
              <a:rPr lang="en-US" dirty="0"/>
              <a:t> and turning angles of each of these states.  We then can also include a formula to investigate the impact of various covariates on our transition probabilities.  These are the factors that influence whether the animal is in 1 state or another.  Here, we’ve specified this in normal model notation as a null model….that is, the covariates have no impact on the transition probabilities.  This could, however, be distance to water, time of day, amount of anthropogenic or human disturbance.  Note, these covariates must a continuous predictor variable….something that varies over time (i.e., continuous, time varying predictors).  So, for instance, you wouldn’t include something like sex, since this would not vary over time.  Habitat type can also be difficult to include as the data are categorical.  You could include age or age class (juvenile, sub-adult, adult) as these items do change and could have an impact on the animal transitioning from different states.</a:t>
            </a:r>
          </a:p>
          <a:p>
            <a:endParaRPr lang="en-US" dirty="0"/>
          </a:p>
          <a:p>
            <a:r>
              <a:rPr lang="en-US" dirty="0"/>
              <a:t>Once you have a fitted model, you can then plot the model to visualize the results by plotting the model output.</a:t>
            </a:r>
          </a:p>
        </p:txBody>
      </p:sp>
      <p:sp>
        <p:nvSpPr>
          <p:cNvPr id="4" name="Slide Number Placeholder 3"/>
          <p:cNvSpPr>
            <a:spLocks noGrp="1"/>
          </p:cNvSpPr>
          <p:nvPr>
            <p:ph type="sldNum" sz="quarter" idx="5"/>
          </p:nvPr>
        </p:nvSpPr>
        <p:spPr/>
        <p:txBody>
          <a:bodyPr/>
          <a:lstStyle/>
          <a:p>
            <a:fld id="{42E65689-8240-45C5-BB1A-376E97A4566F}" type="slidenum">
              <a:rPr lang="en-US" smtClean="0"/>
              <a:t>10</a:t>
            </a:fld>
            <a:endParaRPr lang="en-US"/>
          </a:p>
        </p:txBody>
      </p:sp>
    </p:spTree>
    <p:extLst>
      <p:ext uri="{BB962C8B-B14F-4D97-AF65-F5344CB8AC3E}">
        <p14:creationId xmlns:p14="http://schemas.microsoft.com/office/powerpoint/2010/main" val="9257551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type of output that you will receive after fitting your HMM.  The movement trajectory, in this case it’s one of my wildebeest that we will be using, is divided into different colors.  It’s then up to the researcher to assign a name to the behaviors.  We don’t actually know what these behaviors are.  All that we do know is that the model has identified these as two unique behavior based solely on the step lengths and turning angles.  Here, we can reasonably say that one of the states, colored in orange, is more of an encamped or area restricted search behavior and the blue, is more of an exploratory state that is characterized by longer steplengths and more directed movements.</a:t>
            </a:r>
          </a:p>
        </p:txBody>
      </p:sp>
      <p:sp>
        <p:nvSpPr>
          <p:cNvPr id="4" name="Slide Number Placeholder 3"/>
          <p:cNvSpPr>
            <a:spLocks noGrp="1"/>
          </p:cNvSpPr>
          <p:nvPr>
            <p:ph type="sldNum" sz="quarter" idx="5"/>
          </p:nvPr>
        </p:nvSpPr>
        <p:spPr/>
        <p:txBody>
          <a:bodyPr/>
          <a:lstStyle/>
          <a:p>
            <a:fld id="{42E65689-8240-45C5-BB1A-376E97A4566F}" type="slidenum">
              <a:rPr lang="en-US" smtClean="0"/>
              <a:t>11</a:t>
            </a:fld>
            <a:endParaRPr lang="en-US"/>
          </a:p>
        </p:txBody>
      </p:sp>
    </p:spTree>
    <p:extLst>
      <p:ext uri="{BB962C8B-B14F-4D97-AF65-F5344CB8AC3E}">
        <p14:creationId xmlns:p14="http://schemas.microsoft.com/office/powerpoint/2010/main" val="7453446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previous graph, each point was coded based on a predictive state assignment.  But, since you also get a probability of being in one particular state, you can also graph this probability assignment over time.  Here, I’m showing a simulated track from Postlethwaite and Dennis where the probabilities of being in one particular state are displayed.  So you can see that the model predicts with a high level of certainty the state in red, but a lower probability of that particular state in green.  So, just another visual tool to see what’s happening behind the scenes and perhaps convince yourself that the model is doing what you expect. </a:t>
            </a:r>
          </a:p>
        </p:txBody>
      </p:sp>
      <p:sp>
        <p:nvSpPr>
          <p:cNvPr id="4" name="Slide Number Placeholder 3"/>
          <p:cNvSpPr>
            <a:spLocks noGrp="1"/>
          </p:cNvSpPr>
          <p:nvPr>
            <p:ph type="sldNum" sz="quarter" idx="5"/>
          </p:nvPr>
        </p:nvSpPr>
        <p:spPr/>
        <p:txBody>
          <a:bodyPr/>
          <a:lstStyle/>
          <a:p>
            <a:fld id="{42E65689-8240-45C5-BB1A-376E97A4566F}" type="slidenum">
              <a:rPr lang="en-US" smtClean="0"/>
              <a:t>12</a:t>
            </a:fld>
            <a:endParaRPr lang="en-US"/>
          </a:p>
        </p:txBody>
      </p:sp>
    </p:spTree>
    <p:extLst>
      <p:ext uri="{BB962C8B-B14F-4D97-AF65-F5344CB8AC3E}">
        <p14:creationId xmlns:p14="http://schemas.microsoft.com/office/powerpoint/2010/main" val="39439834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things to keep in mind.</a:t>
            </a:r>
          </a:p>
          <a:p>
            <a:endParaRPr lang="en-US" dirty="0"/>
          </a:p>
          <a:p>
            <a:r>
              <a:rPr lang="en-US" dirty="0"/>
              <a:t>First, we need to identify starting parameter values and the correct form of the distributions.  We can test for the correct forms using sensitivity analyses, but this can be difficult, especially when models become more complex.</a:t>
            </a:r>
          </a:p>
          <a:p>
            <a:endParaRPr lang="en-US" dirty="0"/>
          </a:p>
          <a:p>
            <a:r>
              <a:rPr lang="en-US" dirty="0"/>
              <a:t>Second, we need to choose the # of states we aim to predict in the model.  The </a:t>
            </a:r>
            <a:r>
              <a:rPr lang="en-US" dirty="0" err="1"/>
              <a:t>Pohle</a:t>
            </a:r>
            <a:r>
              <a:rPr lang="en-US" dirty="0"/>
              <a:t> et al paper is a particular good reference, providing recommendations on how to choose the number of states to include in your model.  The model comparison tends to favor a model with more states, so that researcher really needs to think about his or her research question, rather than relying solely on quantitative metrics.</a:t>
            </a:r>
          </a:p>
          <a:p>
            <a:endParaRPr lang="en-US" dirty="0"/>
          </a:p>
          <a:p>
            <a:r>
              <a:rPr lang="en-US" dirty="0"/>
              <a:t>Third, the sampling schedule is absolutely going to impact your ability to identify behavioral states.  This is largely due to the scale at which your species is making movement decisions.  If your animal is making fine-scale complex movements, but you are sampling just a few times per day, you will be less likely to identify these behavioral changes.  It’s also important to consider the error associated with your positions.  You want to be modeling the movement process related to an animal’s behavior, not the error process.</a:t>
            </a:r>
          </a:p>
          <a:p>
            <a:endParaRPr lang="en-US" dirty="0"/>
          </a:p>
          <a:p>
            <a:r>
              <a:rPr lang="en-US" dirty="0"/>
              <a:t>Lastly, the model assumes regular sampling, which often is not the case with animal movement data.  To get your data in the format required, you may need to resample your data to a different temporal interval, like crawl or </a:t>
            </a:r>
            <a:r>
              <a:rPr lang="en-US" dirty="0" err="1"/>
              <a:t>aniMotum</a:t>
            </a:r>
            <a:r>
              <a:rPr lang="en-US" dirty="0"/>
              <a:t>, before ingesting the data into </a:t>
            </a:r>
            <a:r>
              <a:rPr lang="en-US" dirty="0" err="1"/>
              <a:t>moveHMM</a:t>
            </a:r>
            <a:r>
              <a:rPr lang="en-US" dirty="0"/>
              <a:t>.  These packages then smooth or </a:t>
            </a:r>
            <a:r>
              <a:rPr lang="en-US" dirty="0" err="1"/>
              <a:t>regularlize</a:t>
            </a:r>
            <a:r>
              <a:rPr lang="en-US" dirty="0"/>
              <a:t> the movement track so that the data can be integrated.  This isn’t much of an issue when few data points are missing, but large gaps in data could be problematic and may require that you simply analyze the movement track with areas that are highly irregular.`</a:t>
            </a:r>
          </a:p>
        </p:txBody>
      </p:sp>
      <p:sp>
        <p:nvSpPr>
          <p:cNvPr id="4" name="Slide Number Placeholder 3"/>
          <p:cNvSpPr>
            <a:spLocks noGrp="1"/>
          </p:cNvSpPr>
          <p:nvPr>
            <p:ph type="sldNum" sz="quarter" idx="5"/>
          </p:nvPr>
        </p:nvSpPr>
        <p:spPr/>
        <p:txBody>
          <a:bodyPr/>
          <a:lstStyle/>
          <a:p>
            <a:fld id="{42E65689-8240-45C5-BB1A-376E97A4566F}" type="slidenum">
              <a:rPr lang="en-US" smtClean="0"/>
              <a:t>13</a:t>
            </a:fld>
            <a:endParaRPr lang="en-US"/>
          </a:p>
        </p:txBody>
      </p:sp>
    </p:spTree>
    <p:extLst>
      <p:ext uri="{BB962C8B-B14F-4D97-AF65-F5344CB8AC3E}">
        <p14:creationId xmlns:p14="http://schemas.microsoft.com/office/powerpoint/2010/main" val="4586925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give you an appreciation for some of the applications of using a HMM to characterize animal behavior, I’ve provided a few examples for you to read through.  The first is a humpback whale study where the researchers separated whale movements into two states, a foraging state which is shown in red and a traveling state in green.  It’s hard to see from the graph, but you should see the difference in the scales of both of these maps.  In the map of the left, whales are movement across a much smaller area, feeding mostly along the </a:t>
            </a:r>
            <a:r>
              <a:rPr lang="en-US" dirty="0" err="1"/>
              <a:t>costline</a:t>
            </a:r>
            <a:r>
              <a:rPr lang="en-US" dirty="0"/>
              <a:t> of these relatively small islands.  In the graph on the right, the scale is much larger, with whales moving broadly across the area and almost exclusively traveling rather than foraging.</a:t>
            </a:r>
          </a:p>
        </p:txBody>
      </p:sp>
      <p:sp>
        <p:nvSpPr>
          <p:cNvPr id="4" name="Slide Number Placeholder 3"/>
          <p:cNvSpPr>
            <a:spLocks noGrp="1"/>
          </p:cNvSpPr>
          <p:nvPr>
            <p:ph type="sldNum" sz="quarter" idx="5"/>
          </p:nvPr>
        </p:nvSpPr>
        <p:spPr/>
        <p:txBody>
          <a:bodyPr/>
          <a:lstStyle/>
          <a:p>
            <a:fld id="{42E65689-8240-45C5-BB1A-376E97A4566F}" type="slidenum">
              <a:rPr lang="en-US" smtClean="0"/>
              <a:t>14</a:t>
            </a:fld>
            <a:endParaRPr lang="en-US"/>
          </a:p>
        </p:txBody>
      </p:sp>
    </p:spTree>
    <p:extLst>
      <p:ext uri="{BB962C8B-B14F-4D97-AF65-F5344CB8AC3E}">
        <p14:creationId xmlns:p14="http://schemas.microsoft.com/office/powerpoint/2010/main" val="1993292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example is of white sharks that are colored (black and grey) to highlight two different behavioral states.  The black denotes an area restrictive search behavior and the grey denotes patrolling behavior.  What they found was that area restrictive search behavior increase during morning periods and when tourist operations were chumming the water to facilitate shark viewing.  They also found that the proportion of time that individuals spent in each state, different between sexes, the main point of the figure to show the dramatic differences observed.   </a:t>
            </a:r>
          </a:p>
        </p:txBody>
      </p:sp>
      <p:sp>
        <p:nvSpPr>
          <p:cNvPr id="4" name="Slide Number Placeholder 3"/>
          <p:cNvSpPr>
            <a:spLocks noGrp="1"/>
          </p:cNvSpPr>
          <p:nvPr>
            <p:ph type="sldNum" sz="quarter" idx="5"/>
          </p:nvPr>
        </p:nvSpPr>
        <p:spPr/>
        <p:txBody>
          <a:bodyPr/>
          <a:lstStyle/>
          <a:p>
            <a:fld id="{42E65689-8240-45C5-BB1A-376E97A4566F}" type="slidenum">
              <a:rPr lang="en-US" smtClean="0"/>
              <a:t>15</a:t>
            </a:fld>
            <a:endParaRPr lang="en-US"/>
          </a:p>
        </p:txBody>
      </p:sp>
    </p:spTree>
    <p:extLst>
      <p:ext uri="{BB962C8B-B14F-4D97-AF65-F5344CB8AC3E}">
        <p14:creationId xmlns:p14="http://schemas.microsoft.com/office/powerpoint/2010/main" val="2468259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next example, I wanted to show the type of output that is common to HMM analyses.  These graphs are from a black bear study, showing the turning angles and </a:t>
            </a:r>
            <a:r>
              <a:rPr lang="en-US" dirty="0" err="1"/>
              <a:t>steplength</a:t>
            </a:r>
            <a:r>
              <a:rPr lang="en-US" dirty="0"/>
              <a:t> distributions of male and female bears in winter, summer, and fall.  This is pretty interesting, as it shows changes in movement behavior across seasons.  You can see that exploratory movements generally result in longer steplengths and straight line movements, with turning angles centered around zero.  When animals are resting or encamped, however, they generally move with shorter steplengths and in a circular fashion…so much more of this area restricted search behavior that I mentioned previously.  It’s also interesting because we can look at differences between sexes and while it’s not shown here, the authors separate out segments of these tracks based on these behaviors (resting, encamped, exploratory) to perform behavioral-based resource selection/habitat modeling.  So, recognizing that habitat selection may differ when the animal is resting or foraging.  </a:t>
            </a:r>
          </a:p>
        </p:txBody>
      </p:sp>
      <p:sp>
        <p:nvSpPr>
          <p:cNvPr id="4" name="Slide Number Placeholder 3"/>
          <p:cNvSpPr>
            <a:spLocks noGrp="1"/>
          </p:cNvSpPr>
          <p:nvPr>
            <p:ph type="sldNum" sz="quarter" idx="5"/>
          </p:nvPr>
        </p:nvSpPr>
        <p:spPr/>
        <p:txBody>
          <a:bodyPr/>
          <a:lstStyle/>
          <a:p>
            <a:fld id="{42E65689-8240-45C5-BB1A-376E97A4566F}" type="slidenum">
              <a:rPr lang="en-US" smtClean="0"/>
              <a:t>16</a:t>
            </a:fld>
            <a:endParaRPr lang="en-US"/>
          </a:p>
        </p:txBody>
      </p:sp>
    </p:spTree>
    <p:extLst>
      <p:ext uri="{BB962C8B-B14F-4D97-AF65-F5344CB8AC3E}">
        <p14:creationId xmlns:p14="http://schemas.microsoft.com/office/powerpoint/2010/main" val="1435731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integrates the results from a Hidden Markov Model into a step selection function analyses and tries to pull as much information from the movement track to improve a habitat selection analyses.  This seems like the direction that this field is heading.  Here we see two different behavioral states for plains zebra, displayed in a figure we can generate from the </a:t>
            </a:r>
            <a:r>
              <a:rPr lang="en-US" dirty="0" err="1"/>
              <a:t>moveHMM</a:t>
            </a:r>
            <a:r>
              <a:rPr lang="en-US" dirty="0"/>
              <a:t> package to visualize the switches in behavior that occurred over a 3 year tracking period.  From the graph we see that this animal spent long periods in one behavior compared to another, allowing us to investigate other potentially more interesting questions about why this might be.  Is it related, for example, to changes in habitat or climate, etc.</a:t>
            </a:r>
          </a:p>
        </p:txBody>
      </p:sp>
      <p:sp>
        <p:nvSpPr>
          <p:cNvPr id="4" name="Slide Number Placeholder 3"/>
          <p:cNvSpPr>
            <a:spLocks noGrp="1"/>
          </p:cNvSpPr>
          <p:nvPr>
            <p:ph type="sldNum" sz="quarter" idx="5"/>
          </p:nvPr>
        </p:nvSpPr>
        <p:spPr/>
        <p:txBody>
          <a:bodyPr/>
          <a:lstStyle/>
          <a:p>
            <a:fld id="{42E65689-8240-45C5-BB1A-376E97A4566F}" type="slidenum">
              <a:rPr lang="en-US" smtClean="0"/>
              <a:t>17</a:t>
            </a:fld>
            <a:endParaRPr lang="en-US"/>
          </a:p>
        </p:txBody>
      </p:sp>
    </p:spTree>
    <p:extLst>
      <p:ext uri="{BB962C8B-B14F-4D97-AF65-F5344CB8AC3E}">
        <p14:creationId xmlns:p14="http://schemas.microsoft.com/office/powerpoint/2010/main" val="142644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BBB5D-8633-B235-A72B-5C34E067402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F7D767-0D0E-F013-3D8C-C52D5146F0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62E28E-8C61-5C80-63E4-7ECBDB436228}"/>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8F317237-7408-4A16-74D2-AC73925B35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2C3E44-2A58-CD46-B4E6-634D9CAC7F7D}"/>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76695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99D40-5657-CC9C-6A90-5BBD6C4D74C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9AE1203-E98E-E3F7-FD4B-84C2AD19CD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3F6EAA-832C-0B49-2FEA-E88F92714B4F}"/>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820C825B-FDE4-3C56-E8BF-EF1DB20969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8CF56D-FB19-F6AE-8C24-D9BEC8965035}"/>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7777327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C91CB-8B5F-C874-43D6-F768C29957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4B19BA-08EE-B888-0556-598191F11C0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641EE56-27D6-44B4-1BAD-79DE244B96F5}"/>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63E7D913-F301-F2E8-AF5D-2C44E72268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2BB129-B368-7225-2C28-6D1142AD3D67}"/>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8309036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FB274-DBCF-04B6-98FD-A5326804A2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EAF53A-8EAA-C596-D476-3FF420D19C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FB47D8-395C-EA8C-1ECC-BB6699362C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2E13EC-3AA1-B0BE-F108-1D9BD81A24FD}"/>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6" name="Footer Placeholder 5">
            <a:extLst>
              <a:ext uri="{FF2B5EF4-FFF2-40B4-BE49-F238E27FC236}">
                <a16:creationId xmlns:a16="http://schemas.microsoft.com/office/drawing/2014/main" id="{E073BBA9-A502-F5CE-59C1-2EBE09FC072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8B6F4C-83B5-9006-D91A-8AC55AF806DB}"/>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29923646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55CE-14E0-EEA5-496F-4CAF6B253E5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CFD45C-F3B5-85C7-F786-70F38CEB47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DD3131-CFE7-00EC-1CA6-37A9D81F9F3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84189-BF65-3515-4A7A-DD941691AC2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BB92D9-4E4F-25E3-7F24-97082E2DEC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09AD9B8-E739-570A-2BD0-6C4F1268103A}"/>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8" name="Footer Placeholder 7">
            <a:extLst>
              <a:ext uri="{FF2B5EF4-FFF2-40B4-BE49-F238E27FC236}">
                <a16:creationId xmlns:a16="http://schemas.microsoft.com/office/drawing/2014/main" id="{028A2115-FA5B-08CB-1DFC-C0B9E326799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A843EF5-AA14-2101-BD7B-F0C493557C22}"/>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1258697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911DD-2F96-E07B-0C2C-FF4418188B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2DA824-863A-BFD8-F290-02C28F0EDDE6}"/>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4" name="Footer Placeholder 3">
            <a:extLst>
              <a:ext uri="{FF2B5EF4-FFF2-40B4-BE49-F238E27FC236}">
                <a16:creationId xmlns:a16="http://schemas.microsoft.com/office/drawing/2014/main" id="{A6CBE686-7E8D-530F-E735-F8A3BCBF69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D4D7F0-15A9-C721-B71E-CE88CA6E2591}"/>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8518048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E3593A-2DC7-E9CE-F156-ACC7C5920D1D}"/>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3" name="Footer Placeholder 2">
            <a:extLst>
              <a:ext uri="{FF2B5EF4-FFF2-40B4-BE49-F238E27FC236}">
                <a16:creationId xmlns:a16="http://schemas.microsoft.com/office/drawing/2014/main" id="{1F7A5F77-1085-85C2-D66E-F5DE9744279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F786A4-E32B-EFE9-FC1D-7C4086E55C11}"/>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842575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D441B-135A-B2AA-970A-97A61A76F2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CD160A2-07A3-41E8-A811-52E365EEDC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D161BA-922A-51CB-E559-00336E1FD1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23F6AA-7008-043E-B582-C9214ED4059D}"/>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6" name="Footer Placeholder 5">
            <a:extLst>
              <a:ext uri="{FF2B5EF4-FFF2-40B4-BE49-F238E27FC236}">
                <a16:creationId xmlns:a16="http://schemas.microsoft.com/office/drawing/2014/main" id="{BB5DA603-EB35-6B6E-4E5F-6C1C36B102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0BF47-4296-E556-2A8B-FF4A7B7A9358}"/>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10832796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4D6C3-CE40-939F-09BF-564486A98D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769BFD2-D37A-ACE1-B146-F5F3D187F2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E0AA53D-32F9-B325-3680-8B215D6A70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15BA39-2989-0C58-D6DE-0EFDC0F26FA2}"/>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6" name="Footer Placeholder 5">
            <a:extLst>
              <a:ext uri="{FF2B5EF4-FFF2-40B4-BE49-F238E27FC236}">
                <a16:creationId xmlns:a16="http://schemas.microsoft.com/office/drawing/2014/main" id="{83052B1E-FA77-1C96-300F-F1E608BF9C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966B57-C00E-4441-8C08-328F34089820}"/>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671931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C0D7B-0DA6-202F-D1C8-4CB926FEEC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4C709F-2E1C-E81F-AA16-D155253A80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0F9CF8-47D7-0AA5-4538-9F9D78A14736}"/>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438D59DA-F958-F568-FCB1-322CFA6DFB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2FF0AE-D9EC-A7CC-AC0B-4629241635CB}"/>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1037115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EBBD73-A073-5BBF-3B88-EA4C1104979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FF7137-AADD-1E27-D58D-A043800087D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420D9C-43D1-0857-1C36-04756151891E}"/>
              </a:ext>
            </a:extLst>
          </p:cNvPr>
          <p:cNvSpPr>
            <a:spLocks noGrp="1"/>
          </p:cNvSpPr>
          <p:nvPr>
            <p:ph type="dt" sz="half" idx="10"/>
          </p:nvPr>
        </p:nvSpPr>
        <p:spPr/>
        <p:txBody>
          <a:body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D85BF4B7-2862-C39E-1379-1AE77F97E0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F36B26-27E8-9F79-2BE8-EB3CDDCF5B90}"/>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2375665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7DA6B-8100-65D7-96FB-E83A80B4B7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622D434-A3B4-6907-0E74-5280AD2619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802705-1F9E-F90B-835F-C3904C6C5647}"/>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5" name="Footer Placeholder 4">
            <a:extLst>
              <a:ext uri="{FF2B5EF4-FFF2-40B4-BE49-F238E27FC236}">
                <a16:creationId xmlns:a16="http://schemas.microsoft.com/office/drawing/2014/main" id="{C9971DAD-E3C4-0A71-0B8C-A15AB325174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68586EE-B13A-2C36-4B5A-22088CD7C88B}"/>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9062937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4A389-B57D-8ED1-B60E-EE5992A9F0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D3D35-E586-B3DD-17C2-FD3FC25810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088665-BE47-70AF-9E1C-83BAB605388C}"/>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5" name="Footer Placeholder 4">
            <a:extLst>
              <a:ext uri="{FF2B5EF4-FFF2-40B4-BE49-F238E27FC236}">
                <a16:creationId xmlns:a16="http://schemas.microsoft.com/office/drawing/2014/main" id="{009E40FD-6745-0060-1A60-21219301708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F31B0DE-265F-9E79-41EF-453F674C0EB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7790805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608B1-94CE-940D-F090-897C415459B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DB42A77-480B-C139-0489-42350C71180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D1E64C-4A42-EBAD-4DF8-E8189868C82C}"/>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5" name="Footer Placeholder 4">
            <a:extLst>
              <a:ext uri="{FF2B5EF4-FFF2-40B4-BE49-F238E27FC236}">
                <a16:creationId xmlns:a16="http://schemas.microsoft.com/office/drawing/2014/main" id="{4FB9F794-C990-DAF6-D3B4-DB77B992F25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AC91EFB-6B9B-644B-B324-56C9D5A2A9F7}"/>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0183283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25653-6BAA-2A22-209B-4D42AAF7B3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792564-D1D4-2406-EC47-DF6EA21E65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50505AF-DDC5-6441-1B0D-FA856CDDE82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239899-26C6-9B66-C1E8-6BEABE69E4C4}"/>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6" name="Footer Placeholder 5">
            <a:extLst>
              <a:ext uri="{FF2B5EF4-FFF2-40B4-BE49-F238E27FC236}">
                <a16:creationId xmlns:a16="http://schemas.microsoft.com/office/drawing/2014/main" id="{653287D0-5380-5D8B-96EB-896779B2D9A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0378AF39-D9C4-B6AF-EA55-B2D3D359793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42238959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47F0C-C2C0-718C-46F0-6692B841CE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7F6AEF-0F4E-483C-823B-F8AB8B13A5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82BA1A7-0139-FA31-C85A-C08F92A3F2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9F063B-0C07-4741-D9D8-23ACFD4DD8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51A239-EB1B-9BBE-D446-6B32DD0C48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E14692E-C3C8-E3C4-1887-6DF88FC3A4B1}"/>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8" name="Footer Placeholder 7">
            <a:extLst>
              <a:ext uri="{FF2B5EF4-FFF2-40B4-BE49-F238E27FC236}">
                <a16:creationId xmlns:a16="http://schemas.microsoft.com/office/drawing/2014/main" id="{8FF2DF99-A96F-2ECF-594B-FF6EE13C9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01086292-4DEA-3196-8736-BB7ACD5D1ED7}"/>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30129614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A8282-8568-A661-B3FB-F6D3E30C6A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9488B1-22A8-CC95-5819-D5B65DB89CA3}"/>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4" name="Footer Placeholder 3">
            <a:extLst>
              <a:ext uri="{FF2B5EF4-FFF2-40B4-BE49-F238E27FC236}">
                <a16:creationId xmlns:a16="http://schemas.microsoft.com/office/drawing/2014/main" id="{81D7FF7B-2A4B-5ADE-5A12-FB306A839A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DCE3B061-81A4-264F-5AD1-F823B3120A16}"/>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980715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9AAD64-B307-9735-6581-81761A353F8F}"/>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3" name="Footer Placeholder 2">
            <a:extLst>
              <a:ext uri="{FF2B5EF4-FFF2-40B4-BE49-F238E27FC236}">
                <a16:creationId xmlns:a16="http://schemas.microsoft.com/office/drawing/2014/main" id="{E5E24A79-9602-1C30-1992-36101CA24FD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67C959A-9ACA-FAF1-67B7-7760E42C58F8}"/>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640546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A926B-4369-CBA2-9A3E-759198914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6A7AA4-A17B-FDED-62BE-EA121EFEB4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E7E5E29-4509-2E0E-5BE7-E9B9BBE907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F60DCC3-A940-E8C9-E694-AABA8E7974C5}"/>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6" name="Footer Placeholder 5">
            <a:extLst>
              <a:ext uri="{FF2B5EF4-FFF2-40B4-BE49-F238E27FC236}">
                <a16:creationId xmlns:a16="http://schemas.microsoft.com/office/drawing/2014/main" id="{3919BBC6-A256-BD5C-0383-0579D385F45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2EF115E-9095-1EBB-A387-7A85178A8F36}"/>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1244624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BB90F-7CA3-FFF1-4209-668BD7360A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C6F27E-F640-B296-A998-6203E41199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E0A7082-70F3-8C41-97C2-54F0F8CB5A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02FED7-24F4-E2BB-E318-976BA3349B58}"/>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6" name="Footer Placeholder 5">
            <a:extLst>
              <a:ext uri="{FF2B5EF4-FFF2-40B4-BE49-F238E27FC236}">
                <a16:creationId xmlns:a16="http://schemas.microsoft.com/office/drawing/2014/main" id="{D77E48E5-5C12-C9E2-26FD-3E2941F4A44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AFE11748-19C0-B09C-B190-494A566029F9}"/>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7354960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5408E-0048-5CE5-B29F-1D108ED0772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CEDAB26-3C18-9969-D346-0DEAF598F1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9A7CA0-3CAF-65EB-497D-1AD809EF4ECA}"/>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5" name="Footer Placeholder 4">
            <a:extLst>
              <a:ext uri="{FF2B5EF4-FFF2-40B4-BE49-F238E27FC236}">
                <a16:creationId xmlns:a16="http://schemas.microsoft.com/office/drawing/2014/main" id="{68BAEB50-AA54-E0B4-20B1-099FFCD0E13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4DCA85D-DFD5-82BD-9BC8-B26C70E4249F}"/>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8723032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87C838-384B-4EB9-CA30-42A1B23E01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926BBB-B169-FAE3-5C2A-A5A20244BF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730D7-86EB-AA71-0C48-24381101FEBB}"/>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8/5/2025</a:t>
            </a:fld>
            <a:endParaRPr lang="en-US"/>
          </a:p>
        </p:txBody>
      </p:sp>
      <p:sp>
        <p:nvSpPr>
          <p:cNvPr id="5" name="Footer Placeholder 4">
            <a:extLst>
              <a:ext uri="{FF2B5EF4-FFF2-40B4-BE49-F238E27FC236}">
                <a16:creationId xmlns:a16="http://schemas.microsoft.com/office/drawing/2014/main" id="{1C6B97AD-80DE-24CB-D4D3-BEE4E8284B7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8F6A553C-E318-E863-F7E7-B738448809F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50488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84A58C8-6B07-ACDF-450A-72D3BFD7C2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63242C-ABE4-720B-22C9-C472A89754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EE56B8-4B63-1295-6E22-6F874EFE73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F40EE0F-3D5D-4E7E-9C3F-44BCD00311B7}" type="datetimeFigureOut">
              <a:rPr lang="en-US" smtClean="0"/>
              <a:t>8/5/2025</a:t>
            </a:fld>
            <a:endParaRPr lang="en-US"/>
          </a:p>
        </p:txBody>
      </p:sp>
      <p:sp>
        <p:nvSpPr>
          <p:cNvPr id="5" name="Footer Placeholder 4">
            <a:extLst>
              <a:ext uri="{FF2B5EF4-FFF2-40B4-BE49-F238E27FC236}">
                <a16:creationId xmlns:a16="http://schemas.microsoft.com/office/drawing/2014/main" id="{ACAA473C-AC5E-5D6C-B2B0-119DA0675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9E0EFF2-1ECD-7F1C-C4C8-F94A1097C4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7290D4-81FB-4B59-AA54-2B9C36D9663D}" type="slidenum">
              <a:rPr lang="en-US" smtClean="0"/>
              <a:t>‹#›</a:t>
            </a:fld>
            <a:endParaRPr lang="en-US"/>
          </a:p>
        </p:txBody>
      </p:sp>
    </p:spTree>
    <p:extLst>
      <p:ext uri="{BB962C8B-B14F-4D97-AF65-F5344CB8AC3E}">
        <p14:creationId xmlns:p14="http://schemas.microsoft.com/office/powerpoint/2010/main" val="658789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10CE1A-49E8-AC58-13B3-C7941A3D849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E56854-27D0-3C9A-F95D-5458C1105E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7" name="Group 6">
            <a:extLst>
              <a:ext uri="{FF2B5EF4-FFF2-40B4-BE49-F238E27FC236}">
                <a16:creationId xmlns:a16="http://schemas.microsoft.com/office/drawing/2014/main" id="{BC4829B8-FFBD-BDA8-2200-EC858B139093}"/>
              </a:ext>
            </a:extLst>
          </p:cNvPr>
          <p:cNvGrpSpPr/>
          <p:nvPr userDrawn="1"/>
        </p:nvGrpSpPr>
        <p:grpSpPr>
          <a:xfrm>
            <a:off x="0" y="6451786"/>
            <a:ext cx="12192000" cy="415448"/>
            <a:chOff x="0" y="6451786"/>
            <a:chExt cx="12192000" cy="415448"/>
          </a:xfrm>
        </p:grpSpPr>
        <p:pic>
          <p:nvPicPr>
            <p:cNvPr id="8" name="Picture 7">
              <a:extLst>
                <a:ext uri="{FF2B5EF4-FFF2-40B4-BE49-F238E27FC236}">
                  <a16:creationId xmlns:a16="http://schemas.microsoft.com/office/drawing/2014/main" id="{8D23631F-B8C8-53C3-4F4F-3FB9410203EA}"/>
                </a:ext>
              </a:extLst>
            </p:cNvPr>
            <p:cNvPicPr>
              <a:picLocks noChangeAspect="1"/>
            </p:cNvPicPr>
            <p:nvPr/>
          </p:nvPicPr>
          <p:blipFill rotWithShape="1">
            <a:blip r:embed="rId13"/>
            <a:srcRect l="36136"/>
            <a:stretch/>
          </p:blipFill>
          <p:spPr>
            <a:xfrm>
              <a:off x="0" y="6451786"/>
              <a:ext cx="4669632" cy="406214"/>
            </a:xfrm>
            <a:prstGeom prst="rect">
              <a:avLst/>
            </a:prstGeom>
          </p:spPr>
        </p:pic>
        <p:sp>
          <p:nvSpPr>
            <p:cNvPr id="9" name="Rectangle 8">
              <a:extLst>
                <a:ext uri="{FF2B5EF4-FFF2-40B4-BE49-F238E27FC236}">
                  <a16:creationId xmlns:a16="http://schemas.microsoft.com/office/drawing/2014/main" id="{4E73D8EE-1C7B-C2BA-0080-7E0DDF48D92E}"/>
                </a:ext>
              </a:extLst>
            </p:cNvPr>
            <p:cNvSpPr/>
            <p:nvPr/>
          </p:nvSpPr>
          <p:spPr>
            <a:xfrm>
              <a:off x="4274545" y="6451786"/>
              <a:ext cx="7917455" cy="415448"/>
            </a:xfrm>
            <a:prstGeom prst="rect">
              <a:avLst/>
            </a:prstGeom>
            <a:solidFill>
              <a:srgbClr val="0025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12869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smconservation.gmu.edu/programs/graduate-and-professiona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8.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8.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8.xml"/><Relationship Id="rId5" Type="http://schemas.openxmlformats.org/officeDocument/2006/relationships/image" Target="../media/image7.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8.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1AEC49-9C29-405C-E5B0-FE46F05E324A}"/>
              </a:ext>
            </a:extLst>
          </p:cNvPr>
          <p:cNvPicPr>
            <a:picLocks noChangeAspect="1"/>
          </p:cNvPicPr>
          <p:nvPr/>
        </p:nvPicPr>
        <p:blipFill rotWithShape="1">
          <a:blip r:embed="rId3"/>
          <a:srcRect l="11935" t="57234" r="8366"/>
          <a:stretch/>
        </p:blipFill>
        <p:spPr>
          <a:xfrm>
            <a:off x="6749205" y="1626375"/>
            <a:ext cx="5245617" cy="1722846"/>
          </a:xfrm>
          <a:prstGeom prst="rect">
            <a:avLst/>
          </a:prstGeom>
        </p:spPr>
      </p:pic>
      <p:pic>
        <p:nvPicPr>
          <p:cNvPr id="4" name="Picture 3">
            <a:extLst>
              <a:ext uri="{FF2B5EF4-FFF2-40B4-BE49-F238E27FC236}">
                <a16:creationId xmlns:a16="http://schemas.microsoft.com/office/drawing/2014/main" id="{187185EA-090A-5C31-CB0D-881D38CFC503}"/>
              </a:ext>
            </a:extLst>
          </p:cNvPr>
          <p:cNvPicPr>
            <a:picLocks noChangeAspect="1"/>
          </p:cNvPicPr>
          <p:nvPr/>
        </p:nvPicPr>
        <p:blipFill rotWithShape="1">
          <a:blip r:embed="rId4"/>
          <a:srcRect l="36136"/>
          <a:stretch/>
        </p:blipFill>
        <p:spPr>
          <a:xfrm>
            <a:off x="-1" y="0"/>
            <a:ext cx="7774113" cy="676275"/>
          </a:xfrm>
          <a:prstGeom prst="rect">
            <a:avLst/>
          </a:prstGeom>
        </p:spPr>
      </p:pic>
      <p:sp>
        <p:nvSpPr>
          <p:cNvPr id="5" name="Rectangle 4">
            <a:extLst>
              <a:ext uri="{FF2B5EF4-FFF2-40B4-BE49-F238E27FC236}">
                <a16:creationId xmlns:a16="http://schemas.microsoft.com/office/drawing/2014/main" id="{4AA0AA66-2471-EAD1-8494-C3C13310EF67}"/>
              </a:ext>
            </a:extLst>
          </p:cNvPr>
          <p:cNvSpPr/>
          <p:nvPr/>
        </p:nvSpPr>
        <p:spPr>
          <a:xfrm>
            <a:off x="5781174" y="0"/>
            <a:ext cx="6410826" cy="676275"/>
          </a:xfrm>
          <a:prstGeom prst="rect">
            <a:avLst/>
          </a:prstGeom>
          <a:solidFill>
            <a:srgbClr val="0025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hlinkClick r:id="rId5"/>
            <a:extLst>
              <a:ext uri="{FF2B5EF4-FFF2-40B4-BE49-F238E27FC236}">
                <a16:creationId xmlns:a16="http://schemas.microsoft.com/office/drawing/2014/main" id="{34C364B1-D933-7411-95E1-DA27805DFFEA}"/>
              </a:ext>
            </a:extLst>
          </p:cNvPr>
          <p:cNvPicPr>
            <a:picLocks noChangeAspect="1"/>
          </p:cNvPicPr>
          <p:nvPr/>
        </p:nvPicPr>
        <p:blipFill>
          <a:blip r:embed="rId6"/>
          <a:stretch>
            <a:fillRect/>
          </a:stretch>
        </p:blipFill>
        <p:spPr>
          <a:xfrm>
            <a:off x="7067307" y="4083605"/>
            <a:ext cx="4670553" cy="2396197"/>
          </a:xfrm>
          <a:prstGeom prst="rect">
            <a:avLst/>
          </a:prstGeom>
        </p:spPr>
      </p:pic>
      <p:sp>
        <p:nvSpPr>
          <p:cNvPr id="11" name="TextBox 10">
            <a:extLst>
              <a:ext uri="{FF2B5EF4-FFF2-40B4-BE49-F238E27FC236}">
                <a16:creationId xmlns:a16="http://schemas.microsoft.com/office/drawing/2014/main" id="{31533D78-8136-CE7A-3901-40C8D51E52B9}"/>
              </a:ext>
            </a:extLst>
          </p:cNvPr>
          <p:cNvSpPr txBox="1"/>
          <p:nvPr/>
        </p:nvSpPr>
        <p:spPr>
          <a:xfrm>
            <a:off x="6975028" y="6479802"/>
            <a:ext cx="4912172" cy="276999"/>
          </a:xfrm>
          <a:prstGeom prst="rect">
            <a:avLst/>
          </a:prstGeom>
          <a:noFill/>
        </p:spPr>
        <p:txBody>
          <a:bodyPr wrap="square">
            <a:spAutoFit/>
          </a:bodyPr>
          <a:lstStyle/>
          <a:p>
            <a:r>
              <a:rPr lang="en-US" sz="1200" dirty="0"/>
              <a:t>https://smconservation.gmu.edu/programs/graduate-and-professional/</a:t>
            </a:r>
          </a:p>
        </p:txBody>
      </p:sp>
      <p:sp>
        <p:nvSpPr>
          <p:cNvPr id="12" name="TextBox 11">
            <a:extLst>
              <a:ext uri="{FF2B5EF4-FFF2-40B4-BE49-F238E27FC236}">
                <a16:creationId xmlns:a16="http://schemas.microsoft.com/office/drawing/2014/main" id="{B1AF5018-DCEC-731D-B489-FF464851241D}"/>
              </a:ext>
            </a:extLst>
          </p:cNvPr>
          <p:cNvSpPr txBox="1"/>
          <p:nvPr/>
        </p:nvSpPr>
        <p:spPr>
          <a:xfrm>
            <a:off x="206791" y="2463350"/>
            <a:ext cx="3532442" cy="1477328"/>
          </a:xfrm>
          <a:prstGeom prst="rect">
            <a:avLst/>
          </a:prstGeom>
          <a:noFill/>
        </p:spPr>
        <p:txBody>
          <a:bodyPr wrap="none" rtlCol="0">
            <a:spAutoFit/>
          </a:bodyPr>
          <a:lstStyle/>
          <a:p>
            <a:r>
              <a:rPr lang="en-US" sz="2000" dirty="0">
                <a:solidFill>
                  <a:srgbClr val="165C7D"/>
                </a:solidFill>
              </a:rPr>
              <a:t>Jared A. Stabach, PhD</a:t>
            </a:r>
          </a:p>
          <a:p>
            <a:r>
              <a:rPr lang="en-US" sz="1400" i="1" dirty="0">
                <a:solidFill>
                  <a:schemeClr val="tx1">
                    <a:lumMod val="75000"/>
                    <a:lumOff val="25000"/>
                  </a:schemeClr>
                </a:solidFill>
              </a:rPr>
              <a:t>Research Ecologist</a:t>
            </a:r>
          </a:p>
          <a:p>
            <a:r>
              <a:rPr lang="en-US" sz="1400" i="1" dirty="0">
                <a:solidFill>
                  <a:schemeClr val="tx1">
                    <a:lumMod val="75000"/>
                    <a:lumOff val="25000"/>
                  </a:schemeClr>
                </a:solidFill>
              </a:rPr>
              <a:t>Terrestrial Lead – Movement of Life Initiative</a:t>
            </a:r>
          </a:p>
          <a:p>
            <a:r>
              <a:rPr lang="en-US" sz="1400" i="1" dirty="0">
                <a:solidFill>
                  <a:schemeClr val="tx1">
                    <a:lumMod val="75000"/>
                    <a:lumOff val="25000"/>
                  </a:schemeClr>
                </a:solidFill>
              </a:rPr>
              <a:t>Conservation Ecology Center</a:t>
            </a:r>
          </a:p>
          <a:p>
            <a:r>
              <a:rPr lang="en-US" sz="1400" i="1" dirty="0">
                <a:solidFill>
                  <a:schemeClr val="tx1">
                    <a:lumMod val="75000"/>
                    <a:lumOff val="25000"/>
                  </a:schemeClr>
                </a:solidFill>
              </a:rPr>
              <a:t>Smithsonian’s National Zoo &amp;</a:t>
            </a:r>
          </a:p>
          <a:p>
            <a:r>
              <a:rPr lang="en-US" sz="1400" i="1" dirty="0">
                <a:solidFill>
                  <a:schemeClr val="tx1">
                    <a:lumMod val="75000"/>
                    <a:lumOff val="25000"/>
                  </a:schemeClr>
                </a:solidFill>
              </a:rPr>
              <a:t>Conservation Biology Institute</a:t>
            </a:r>
          </a:p>
        </p:txBody>
      </p:sp>
      <p:sp>
        <p:nvSpPr>
          <p:cNvPr id="13" name="TextBox 12">
            <a:extLst>
              <a:ext uri="{FF2B5EF4-FFF2-40B4-BE49-F238E27FC236}">
                <a16:creationId xmlns:a16="http://schemas.microsoft.com/office/drawing/2014/main" id="{B9A837DD-3208-D747-B0DB-E2EF34847529}"/>
              </a:ext>
            </a:extLst>
          </p:cNvPr>
          <p:cNvSpPr txBox="1"/>
          <p:nvPr/>
        </p:nvSpPr>
        <p:spPr>
          <a:xfrm>
            <a:off x="234499" y="1019818"/>
            <a:ext cx="9264433" cy="561692"/>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pPr marL="0" marR="0" lvl="0" indent="0" defTabSz="6858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entury Gothic"/>
                <a:ea typeface="+mn-lt"/>
                <a:cs typeface="Calibri" panose="020F0502020204030204"/>
              </a:rPr>
              <a:t>Introduction to Animal Movement Analyses</a:t>
            </a:r>
            <a:endParaRPr kumimoji="0" lang="en-US" sz="3200" b="0" u="none" strike="noStrike" kern="1200" cap="none" spc="0" normalizeH="0" baseline="0" noProof="0" dirty="0">
              <a:ln>
                <a:noFill/>
              </a:ln>
              <a:solidFill>
                <a:prstClr val="black"/>
              </a:solidFill>
              <a:effectLst/>
              <a:uLnTx/>
              <a:uFillTx/>
              <a:latin typeface="Century Gothic"/>
              <a:ea typeface="+mn-ea"/>
              <a:cs typeface="+mn-cs"/>
            </a:endParaRPr>
          </a:p>
        </p:txBody>
      </p:sp>
      <p:sp>
        <p:nvSpPr>
          <p:cNvPr id="14" name="TextBox 13">
            <a:extLst>
              <a:ext uri="{FF2B5EF4-FFF2-40B4-BE49-F238E27FC236}">
                <a16:creationId xmlns:a16="http://schemas.microsoft.com/office/drawing/2014/main" id="{9077D444-E586-DF9B-8BCB-18439523F4FD}"/>
              </a:ext>
            </a:extLst>
          </p:cNvPr>
          <p:cNvSpPr txBox="1"/>
          <p:nvPr/>
        </p:nvSpPr>
        <p:spPr>
          <a:xfrm>
            <a:off x="206791" y="1581510"/>
            <a:ext cx="4461478" cy="461665"/>
          </a:xfrm>
          <a:prstGeom prst="rect">
            <a:avLst/>
          </a:prstGeom>
          <a:noFill/>
        </p:spPr>
        <p:txBody>
          <a:bodyPr wrap="none" rtlCol="0">
            <a:spAutoFit/>
          </a:bodyPr>
          <a:lstStyle/>
          <a:p>
            <a:r>
              <a:rPr lang="en-US" sz="2400" dirty="0">
                <a:latin typeface="Century Gothic" panose="020B0502020202020204" pitchFamily="34" charset="0"/>
              </a:rPr>
              <a:t>Categorizing Behavior States</a:t>
            </a:r>
          </a:p>
        </p:txBody>
      </p:sp>
      <p:sp>
        <p:nvSpPr>
          <p:cNvPr id="15" name="TextBox 14">
            <a:extLst>
              <a:ext uri="{FF2B5EF4-FFF2-40B4-BE49-F238E27FC236}">
                <a16:creationId xmlns:a16="http://schemas.microsoft.com/office/drawing/2014/main" id="{43A6E328-369B-642F-FBC5-FBD1E154A1A0}"/>
              </a:ext>
            </a:extLst>
          </p:cNvPr>
          <p:cNvSpPr txBox="1"/>
          <p:nvPr/>
        </p:nvSpPr>
        <p:spPr>
          <a:xfrm>
            <a:off x="206791" y="5556472"/>
            <a:ext cx="6625532" cy="923330"/>
          </a:xfrm>
          <a:prstGeom prst="rect">
            <a:avLst/>
          </a:prstGeom>
          <a:noFill/>
        </p:spPr>
        <p:txBody>
          <a:bodyPr wrap="none" rtlCol="0">
            <a:spAutoFit/>
          </a:bodyPr>
          <a:lstStyle/>
          <a:p>
            <a:r>
              <a:rPr lang="en-US" dirty="0">
                <a:latin typeface="Century Gothic" panose="020B0502020202020204" pitchFamily="34" charset="0"/>
              </a:rPr>
              <a:t>This lecture is based on a graduate training course taught</a:t>
            </a:r>
          </a:p>
          <a:p>
            <a:r>
              <a:rPr lang="en-US" dirty="0">
                <a:latin typeface="Century Gothic" panose="020B0502020202020204" pitchFamily="34" charset="0"/>
              </a:rPr>
              <a:t>at the Smithsonian-Mason School of Conservation</a:t>
            </a:r>
          </a:p>
          <a:p>
            <a:r>
              <a:rPr lang="en-US" dirty="0">
                <a:latin typeface="Century Gothic" panose="020B0502020202020204" pitchFamily="34" charset="0"/>
              </a:rPr>
              <a:t>Many thanks to Dr. Joe Kolowski for sharing his notes.</a:t>
            </a:r>
          </a:p>
        </p:txBody>
      </p:sp>
      <p:pic>
        <p:nvPicPr>
          <p:cNvPr id="6" name="Picture 5">
            <a:extLst>
              <a:ext uri="{FF2B5EF4-FFF2-40B4-BE49-F238E27FC236}">
                <a16:creationId xmlns:a16="http://schemas.microsoft.com/office/drawing/2014/main" id="{42CE2F31-67F6-D825-5D6D-F30AF08131D6}"/>
              </a:ext>
            </a:extLst>
          </p:cNvPr>
          <p:cNvPicPr>
            <a:picLocks noChangeAspect="1"/>
          </p:cNvPicPr>
          <p:nvPr/>
        </p:nvPicPr>
        <p:blipFill>
          <a:blip r:embed="rId7">
            <a:alphaModFix amt="25000"/>
          </a:blip>
          <a:stretch>
            <a:fillRect/>
          </a:stretch>
        </p:blipFill>
        <p:spPr>
          <a:xfrm>
            <a:off x="2815262" y="3477027"/>
            <a:ext cx="3933943" cy="2024049"/>
          </a:xfrm>
          <a:prstGeom prst="rect">
            <a:avLst/>
          </a:prstGeom>
        </p:spPr>
      </p:pic>
    </p:spTree>
    <p:extLst>
      <p:ext uri="{BB962C8B-B14F-4D97-AF65-F5344CB8AC3E}">
        <p14:creationId xmlns:p14="http://schemas.microsoft.com/office/powerpoint/2010/main" val="2759406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906091B6-4D82-33E6-B7E7-7EAA8A4B8E70}"/>
              </a:ext>
            </a:extLst>
          </p:cNvPr>
          <p:cNvSpPr txBox="1">
            <a:spLocks/>
          </p:cNvSpPr>
          <p:nvPr/>
        </p:nvSpPr>
        <p:spPr>
          <a:xfrm>
            <a:off x="838198" y="1826782"/>
            <a:ext cx="11115101" cy="22850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Century Gothic" panose="020B0502020202020204" pitchFamily="34" charset="0"/>
              </a:rPr>
              <a:t>Hidden Markov Models (State-switching State Space Models)</a:t>
            </a:r>
          </a:p>
          <a:p>
            <a:r>
              <a:rPr lang="en-US" dirty="0">
                <a:latin typeface="Century Gothic" panose="020B0502020202020204" pitchFamily="34" charset="0"/>
              </a:rPr>
              <a:t>Behavioral Change Point Analysis (BCPA)</a:t>
            </a:r>
          </a:p>
          <a:p>
            <a:r>
              <a:rPr lang="en-US" dirty="0">
                <a:solidFill>
                  <a:schemeClr val="bg1">
                    <a:lumMod val="65000"/>
                  </a:schemeClr>
                </a:solidFill>
                <a:latin typeface="Century Gothic" panose="020B0502020202020204" pitchFamily="34" charset="0"/>
              </a:rPr>
              <a:t>First Passage Time/Residence Time</a:t>
            </a:r>
          </a:p>
          <a:p>
            <a:r>
              <a:rPr lang="en-US" dirty="0">
                <a:solidFill>
                  <a:schemeClr val="bg1">
                    <a:lumMod val="65000"/>
                  </a:schemeClr>
                </a:solidFill>
                <a:latin typeface="Century Gothic" panose="020B0502020202020204" pitchFamily="34" charset="0"/>
              </a:rPr>
              <a:t>Multi-state Random Walk</a:t>
            </a:r>
          </a:p>
        </p:txBody>
      </p:sp>
      <p:sp>
        <p:nvSpPr>
          <p:cNvPr id="2" name="Title 1">
            <a:extLst>
              <a:ext uri="{FF2B5EF4-FFF2-40B4-BE49-F238E27FC236}">
                <a16:creationId xmlns:a16="http://schemas.microsoft.com/office/drawing/2014/main" id="{34E9E4D9-8FF4-606F-C718-8F747DB25EA1}"/>
              </a:ext>
            </a:extLst>
          </p:cNvPr>
          <p:cNvSpPr>
            <a:spLocks noGrp="1"/>
          </p:cNvSpPr>
          <p:nvPr>
            <p:ph type="title" idx="4294967295"/>
          </p:nvPr>
        </p:nvSpPr>
        <p:spPr>
          <a:xfrm>
            <a:off x="501450" y="333836"/>
            <a:ext cx="10515600" cy="890587"/>
          </a:xfrm>
        </p:spPr>
        <p:txBody>
          <a:bodyPr>
            <a:normAutofit/>
          </a:bodyPr>
          <a:lstStyle/>
          <a:p>
            <a:r>
              <a:rPr lang="en-US" sz="3200" b="1" dirty="0">
                <a:latin typeface="Century Gothic" panose="020B0502020202020204" pitchFamily="34" charset="0"/>
              </a:rPr>
              <a:t>Behavioral Partitioning</a:t>
            </a:r>
          </a:p>
        </p:txBody>
      </p:sp>
      <p:sp>
        <p:nvSpPr>
          <p:cNvPr id="3" name="Content Placeholder 2">
            <a:extLst>
              <a:ext uri="{FF2B5EF4-FFF2-40B4-BE49-F238E27FC236}">
                <a16:creationId xmlns:a16="http://schemas.microsoft.com/office/drawing/2014/main" id="{7596D7A6-2F66-7804-4465-95837BC20A44}"/>
              </a:ext>
            </a:extLst>
          </p:cNvPr>
          <p:cNvSpPr>
            <a:spLocks noGrp="1"/>
          </p:cNvSpPr>
          <p:nvPr>
            <p:ph idx="4294967295"/>
          </p:nvPr>
        </p:nvSpPr>
        <p:spPr>
          <a:xfrm>
            <a:off x="837624" y="1827425"/>
            <a:ext cx="11115675" cy="2284413"/>
          </a:xfrm>
        </p:spPr>
        <p:txBody>
          <a:bodyPr>
            <a:normAutofit/>
          </a:bodyPr>
          <a:lstStyle/>
          <a:p>
            <a:r>
              <a:rPr lang="en-US" dirty="0">
                <a:latin typeface="Century Gothic" panose="020B0502020202020204" pitchFamily="34" charset="0"/>
              </a:rPr>
              <a:t>Hidden Markov Models (State-switching State Space Models)</a:t>
            </a:r>
          </a:p>
          <a:p>
            <a:r>
              <a:rPr lang="en-US" dirty="0">
                <a:latin typeface="Century Gothic" panose="020B0502020202020204" pitchFamily="34" charset="0"/>
              </a:rPr>
              <a:t>Behavioral Change Point Analysis (BCPA)</a:t>
            </a:r>
          </a:p>
          <a:p>
            <a:r>
              <a:rPr lang="en-US" dirty="0">
                <a:latin typeface="Century Gothic" panose="020B0502020202020204" pitchFamily="34" charset="0"/>
              </a:rPr>
              <a:t>First Passage Time/Residence Time</a:t>
            </a:r>
          </a:p>
          <a:p>
            <a:r>
              <a:rPr lang="en-US" dirty="0">
                <a:latin typeface="Century Gothic" panose="020B0502020202020204" pitchFamily="34" charset="0"/>
              </a:rPr>
              <a:t>Multi-state Random Walk</a:t>
            </a:r>
          </a:p>
        </p:txBody>
      </p:sp>
      <p:sp>
        <p:nvSpPr>
          <p:cNvPr id="5" name="TextBox 4">
            <a:extLst>
              <a:ext uri="{FF2B5EF4-FFF2-40B4-BE49-F238E27FC236}">
                <a16:creationId xmlns:a16="http://schemas.microsoft.com/office/drawing/2014/main" id="{23EFE27A-FE5B-2850-50CC-8FE2467F3320}"/>
              </a:ext>
            </a:extLst>
          </p:cNvPr>
          <p:cNvSpPr txBox="1"/>
          <p:nvPr/>
        </p:nvSpPr>
        <p:spPr>
          <a:xfrm>
            <a:off x="507693" y="5557609"/>
            <a:ext cx="5099893" cy="646331"/>
          </a:xfrm>
          <a:prstGeom prst="rect">
            <a:avLst/>
          </a:prstGeom>
          <a:noFill/>
        </p:spPr>
        <p:txBody>
          <a:bodyPr wrap="square">
            <a:spAutoFit/>
          </a:bodyPr>
          <a:lstStyle/>
          <a:p>
            <a:r>
              <a:rPr lang="en-US" sz="1800" b="0" i="0" u="none" strike="noStrike" baseline="0" dirty="0">
                <a:solidFill>
                  <a:srgbClr val="000000"/>
                </a:solidFill>
                <a:latin typeface="Century Gothic" panose="020B0502020202020204" pitchFamily="34" charset="0"/>
              </a:rPr>
              <a:t>See Gurarie et al. 2016 </a:t>
            </a:r>
          </a:p>
          <a:p>
            <a:r>
              <a:rPr lang="en-US" sz="1800" b="0" i="0" u="none" strike="noStrike" baseline="0" dirty="0">
                <a:solidFill>
                  <a:srgbClr val="000000"/>
                </a:solidFill>
                <a:latin typeface="Century Gothic" panose="020B0502020202020204" pitchFamily="34" charset="0"/>
              </a:rPr>
              <a:t>for summary and comparison of methods</a:t>
            </a:r>
            <a:endParaRPr lang="en-US" dirty="0">
              <a:latin typeface="Century Gothic" panose="020B0502020202020204" pitchFamily="34" charset="0"/>
            </a:endParaRPr>
          </a:p>
        </p:txBody>
      </p:sp>
      <p:pic>
        <p:nvPicPr>
          <p:cNvPr id="6" name="Picture 5">
            <a:extLst>
              <a:ext uri="{FF2B5EF4-FFF2-40B4-BE49-F238E27FC236}">
                <a16:creationId xmlns:a16="http://schemas.microsoft.com/office/drawing/2014/main" id="{FCE824E0-18BE-E523-8BB3-CB1C99E1A83F}"/>
              </a:ext>
            </a:extLst>
          </p:cNvPr>
          <p:cNvPicPr>
            <a:picLocks noChangeAspect="1"/>
          </p:cNvPicPr>
          <p:nvPr/>
        </p:nvPicPr>
        <p:blipFill>
          <a:blip r:embed="rId3"/>
          <a:stretch>
            <a:fillRect/>
          </a:stretch>
        </p:blipFill>
        <p:spPr>
          <a:xfrm>
            <a:off x="6395461" y="3601616"/>
            <a:ext cx="5444401" cy="2602324"/>
          </a:xfrm>
          <a:prstGeom prst="rect">
            <a:avLst/>
          </a:prstGeom>
        </p:spPr>
      </p:pic>
    </p:spTree>
    <p:extLst>
      <p:ext uri="{BB962C8B-B14F-4D97-AF65-F5344CB8AC3E}">
        <p14:creationId xmlns:p14="http://schemas.microsoft.com/office/powerpoint/2010/main" val="44584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94C53C-873D-5B03-6500-EC4FFBCCA02D}"/>
              </a:ext>
            </a:extLst>
          </p:cNvPr>
          <p:cNvSpPr txBox="1">
            <a:spLocks/>
          </p:cNvSpPr>
          <p:nvPr/>
        </p:nvSpPr>
        <p:spPr>
          <a:xfrm>
            <a:off x="507694" y="318830"/>
            <a:ext cx="10515600" cy="8907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Applications of Behavior State Assignment</a:t>
            </a:r>
          </a:p>
        </p:txBody>
      </p:sp>
      <p:sp>
        <p:nvSpPr>
          <p:cNvPr id="11" name="TextBox 10">
            <a:extLst>
              <a:ext uri="{FF2B5EF4-FFF2-40B4-BE49-F238E27FC236}">
                <a16:creationId xmlns:a16="http://schemas.microsoft.com/office/drawing/2014/main" id="{1FD2FB1C-689B-908B-0159-58AE7D2B2D1A}"/>
              </a:ext>
            </a:extLst>
          </p:cNvPr>
          <p:cNvSpPr txBox="1"/>
          <p:nvPr/>
        </p:nvSpPr>
        <p:spPr>
          <a:xfrm>
            <a:off x="4851105" y="2742265"/>
            <a:ext cx="3874265" cy="1754326"/>
          </a:xfrm>
          <a:prstGeom prst="rect">
            <a:avLst/>
          </a:prstGeom>
          <a:noFill/>
        </p:spPr>
        <p:txBody>
          <a:bodyPr wrap="square" rtlCol="0">
            <a:spAutoFit/>
          </a:bodyPr>
          <a:lstStyle/>
          <a:p>
            <a:pPr marL="285750"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Associate behaviors and transitions with covariates</a:t>
            </a:r>
          </a:p>
          <a:p>
            <a:pPr marL="742950" lvl="1" indent="-285750">
              <a:buFont typeface="Arial" panose="020B0604020202020204" pitchFamily="34" charset="0"/>
              <a:buChar char="•"/>
            </a:pPr>
            <a:r>
              <a:rPr lang="en-US" b="0" i="0" u="none" strike="noStrike" baseline="0" dirty="0">
                <a:solidFill>
                  <a:srgbClr val="2E5496"/>
                </a:solidFill>
                <a:latin typeface="Century Gothic" panose="020B0502020202020204" pitchFamily="34" charset="0"/>
              </a:rPr>
              <a:t>Season</a:t>
            </a:r>
          </a:p>
          <a:p>
            <a:pPr marL="742950" lvl="1"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Environmental cues</a:t>
            </a:r>
          </a:p>
          <a:p>
            <a:pPr marL="742950" lvl="1"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Predation or conspecifics</a:t>
            </a:r>
          </a:p>
          <a:p>
            <a:endParaRPr lang="en-US" dirty="0">
              <a:latin typeface="Century Gothic" panose="020B0502020202020204" pitchFamily="34" charset="0"/>
            </a:endParaRPr>
          </a:p>
        </p:txBody>
      </p:sp>
      <p:sp>
        <p:nvSpPr>
          <p:cNvPr id="12" name="TextBox 11">
            <a:extLst>
              <a:ext uri="{FF2B5EF4-FFF2-40B4-BE49-F238E27FC236}">
                <a16:creationId xmlns:a16="http://schemas.microsoft.com/office/drawing/2014/main" id="{B4991F22-E98E-7796-409A-3551AA9419C6}"/>
              </a:ext>
            </a:extLst>
          </p:cNvPr>
          <p:cNvSpPr txBox="1"/>
          <p:nvPr/>
        </p:nvSpPr>
        <p:spPr>
          <a:xfrm>
            <a:off x="8725366" y="2466844"/>
            <a:ext cx="3466631" cy="1754326"/>
          </a:xfrm>
          <a:prstGeom prst="rect">
            <a:avLst/>
          </a:prstGeom>
          <a:noFill/>
        </p:spPr>
        <p:txBody>
          <a:bodyPr wrap="square" rtlCol="0">
            <a:spAutoFit/>
          </a:bodyPr>
          <a:lstStyle/>
          <a:p>
            <a:pPr algn="ctr"/>
            <a:endParaRPr lang="en-US" sz="1800" b="0" i="0" u="none" strike="noStrike" baseline="0" dirty="0">
              <a:solidFill>
                <a:srgbClr val="C55A11"/>
              </a:solidFill>
              <a:latin typeface="Century Gothic" panose="020B0502020202020204" pitchFamily="34" charset="0"/>
            </a:endParaRPr>
          </a:p>
          <a:p>
            <a:pPr marL="285750" indent="-285750">
              <a:buFont typeface="Arial" panose="020B0604020202020204" pitchFamily="34" charset="0"/>
              <a:buChar char="•"/>
            </a:pPr>
            <a:r>
              <a:rPr lang="en-US" sz="1800" b="0" i="0" u="none" strike="noStrike" baseline="0" dirty="0">
                <a:solidFill>
                  <a:srgbClr val="C55A11"/>
                </a:solidFill>
                <a:latin typeface="Century Gothic" panose="020B0502020202020204" pitchFamily="34" charset="0"/>
              </a:rPr>
              <a:t>If we modify the environment in some way, how will movement behavior change?</a:t>
            </a:r>
          </a:p>
          <a:p>
            <a:pPr algn="ctr"/>
            <a:endParaRPr lang="en-US" dirty="0">
              <a:latin typeface="Century Gothic" panose="020B0502020202020204" pitchFamily="34" charset="0"/>
            </a:endParaRPr>
          </a:p>
        </p:txBody>
      </p:sp>
      <p:sp>
        <p:nvSpPr>
          <p:cNvPr id="2" name="TextBox 1">
            <a:extLst>
              <a:ext uri="{FF2B5EF4-FFF2-40B4-BE49-F238E27FC236}">
                <a16:creationId xmlns:a16="http://schemas.microsoft.com/office/drawing/2014/main" id="{595699A6-63C9-162C-BFF7-FFD14C9955B3}"/>
              </a:ext>
            </a:extLst>
          </p:cNvPr>
          <p:cNvSpPr txBox="1"/>
          <p:nvPr/>
        </p:nvSpPr>
        <p:spPr>
          <a:xfrm>
            <a:off x="370506" y="2731250"/>
            <a:ext cx="4311663" cy="230832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538235"/>
                </a:solidFill>
                <a:latin typeface="Century Gothic" panose="020B0502020202020204" pitchFamily="34" charset="0"/>
              </a:rPr>
              <a:t>Metrics to describe and quantify the movement track</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Are there distinct behaviors?  If so, how many?</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What distinguishes the behaviors?</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When and where do the behaviors occur?</a:t>
            </a:r>
          </a:p>
        </p:txBody>
      </p:sp>
      <p:sp>
        <p:nvSpPr>
          <p:cNvPr id="10" name="TextBox 9">
            <a:extLst>
              <a:ext uri="{FF2B5EF4-FFF2-40B4-BE49-F238E27FC236}">
                <a16:creationId xmlns:a16="http://schemas.microsoft.com/office/drawing/2014/main" id="{3FD6C9AF-8064-A050-1B3E-13C472A1BEB6}"/>
              </a:ext>
            </a:extLst>
          </p:cNvPr>
          <p:cNvSpPr txBox="1"/>
          <p:nvPr/>
        </p:nvSpPr>
        <p:spPr>
          <a:xfrm>
            <a:off x="198299" y="1639470"/>
            <a:ext cx="4311663" cy="646331"/>
          </a:xfrm>
          <a:prstGeom prst="rect">
            <a:avLst/>
          </a:prstGeom>
          <a:noFill/>
        </p:spPr>
        <p:txBody>
          <a:bodyPr wrap="square" rtlCol="0">
            <a:spAutoFit/>
          </a:bodyPr>
          <a:lstStyle/>
          <a:p>
            <a:pPr algn="ctr"/>
            <a:r>
              <a:rPr lang="en-US" dirty="0">
                <a:solidFill>
                  <a:srgbClr val="538235"/>
                </a:solidFill>
                <a:latin typeface="Century Gothic" panose="020B0502020202020204" pitchFamily="34" charset="0"/>
              </a:rPr>
              <a:t>Exploratory</a:t>
            </a:r>
          </a:p>
          <a:p>
            <a:pPr algn="ctr"/>
            <a:r>
              <a:rPr lang="en-US" dirty="0">
                <a:solidFill>
                  <a:srgbClr val="538235"/>
                </a:solidFill>
                <a:latin typeface="Century Gothic" panose="020B0502020202020204" pitchFamily="34" charset="0"/>
              </a:rPr>
              <a:t>(What is the animal doing?)</a:t>
            </a:r>
          </a:p>
        </p:txBody>
      </p:sp>
      <p:sp>
        <p:nvSpPr>
          <p:cNvPr id="13" name="TextBox 12">
            <a:extLst>
              <a:ext uri="{FF2B5EF4-FFF2-40B4-BE49-F238E27FC236}">
                <a16:creationId xmlns:a16="http://schemas.microsoft.com/office/drawing/2014/main" id="{F28C83A0-E4BB-67B9-C1AB-426F1AD8A759}"/>
              </a:ext>
            </a:extLst>
          </p:cNvPr>
          <p:cNvSpPr txBox="1"/>
          <p:nvPr/>
        </p:nvSpPr>
        <p:spPr>
          <a:xfrm>
            <a:off x="4695025" y="1642963"/>
            <a:ext cx="3874265" cy="646331"/>
          </a:xfrm>
          <a:prstGeom prst="rect">
            <a:avLst/>
          </a:prstGeom>
          <a:noFill/>
        </p:spPr>
        <p:txBody>
          <a:bodyPr wrap="square" rtlCol="0">
            <a:spAutoFit/>
          </a:bodyPr>
          <a:lstStyle/>
          <a:p>
            <a:pPr marL="0" indent="0" algn="ctr">
              <a:buNone/>
            </a:pPr>
            <a:r>
              <a:rPr lang="en-US" sz="1800" b="0" i="0" u="none" strike="noStrike" baseline="0" dirty="0">
                <a:solidFill>
                  <a:srgbClr val="2E5496"/>
                </a:solidFill>
                <a:latin typeface="Century Gothic" panose="020B0502020202020204" pitchFamily="34" charset="0"/>
              </a:rPr>
              <a:t>Explanatory</a:t>
            </a:r>
          </a:p>
          <a:p>
            <a:pPr marL="0" indent="0" algn="ctr">
              <a:buNone/>
            </a:pPr>
            <a:r>
              <a:rPr lang="en-US" sz="1800" b="0" i="0" u="none" strike="noStrike" baseline="0" dirty="0">
                <a:solidFill>
                  <a:srgbClr val="2E5496"/>
                </a:solidFill>
                <a:latin typeface="Century Gothic" panose="020B0502020202020204" pitchFamily="34" charset="0"/>
              </a:rPr>
              <a:t>(Why is the animal doing it?)</a:t>
            </a:r>
            <a:endParaRPr lang="en-US" dirty="0">
              <a:latin typeface="Century Gothic" panose="020B0502020202020204" pitchFamily="34" charset="0"/>
            </a:endParaRPr>
          </a:p>
        </p:txBody>
      </p:sp>
      <p:sp>
        <p:nvSpPr>
          <p:cNvPr id="14" name="TextBox 13">
            <a:extLst>
              <a:ext uri="{FF2B5EF4-FFF2-40B4-BE49-F238E27FC236}">
                <a16:creationId xmlns:a16="http://schemas.microsoft.com/office/drawing/2014/main" id="{95AAB411-D21E-5D0C-3F7D-E6B57082FC8A}"/>
              </a:ext>
            </a:extLst>
          </p:cNvPr>
          <p:cNvSpPr txBox="1"/>
          <p:nvPr/>
        </p:nvSpPr>
        <p:spPr>
          <a:xfrm>
            <a:off x="8727212" y="1640738"/>
            <a:ext cx="3466631" cy="923330"/>
          </a:xfrm>
          <a:prstGeom prst="rect">
            <a:avLst/>
          </a:prstGeom>
          <a:noFill/>
        </p:spPr>
        <p:txBody>
          <a:bodyPr wrap="square" rtlCol="0">
            <a:spAutoFit/>
          </a:bodyPr>
          <a:lstStyle/>
          <a:p>
            <a:pPr marL="0" indent="0" algn="ctr">
              <a:buNone/>
            </a:pPr>
            <a:r>
              <a:rPr lang="en-US" sz="1800" b="0" i="0" u="none" strike="noStrike" baseline="0" dirty="0">
                <a:solidFill>
                  <a:srgbClr val="C55A11"/>
                </a:solidFill>
                <a:latin typeface="Century Gothic" panose="020B0502020202020204" pitchFamily="34" charset="0"/>
              </a:rPr>
              <a:t>Predictive</a:t>
            </a:r>
          </a:p>
          <a:p>
            <a:pPr algn="ctr"/>
            <a:r>
              <a:rPr lang="en-US" sz="1800" b="0" i="0" u="none" strike="noStrike" baseline="0" dirty="0">
                <a:solidFill>
                  <a:srgbClr val="C55A11"/>
                </a:solidFill>
                <a:latin typeface="Century Gothic" panose="020B0502020202020204" pitchFamily="34" charset="0"/>
              </a:rPr>
              <a:t>(Can we anticipate movement from behavior?)</a:t>
            </a:r>
            <a:endParaRPr lang="en-US" dirty="0">
              <a:latin typeface="Century Gothic" panose="020B0502020202020204" pitchFamily="34" charset="0"/>
            </a:endParaRPr>
          </a:p>
        </p:txBody>
      </p:sp>
    </p:spTree>
    <p:extLst>
      <p:ext uri="{BB962C8B-B14F-4D97-AF65-F5344CB8AC3E}">
        <p14:creationId xmlns:p14="http://schemas.microsoft.com/office/powerpoint/2010/main" val="2837701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2" grpId="0"/>
      <p:bldP spid="10"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2C4D2A-816C-3053-71CC-1553BF8A0A3D}"/>
              </a:ext>
            </a:extLst>
          </p:cNvPr>
          <p:cNvSpPr>
            <a:spLocks noGrp="1"/>
          </p:cNvSpPr>
          <p:nvPr>
            <p:ph idx="4294967295"/>
          </p:nvPr>
        </p:nvSpPr>
        <p:spPr>
          <a:xfrm>
            <a:off x="838200" y="1726473"/>
            <a:ext cx="10515600" cy="4351338"/>
          </a:xfrm>
        </p:spPr>
        <p:txBody>
          <a:bodyPr>
            <a:normAutofit/>
          </a:bodyPr>
          <a:lstStyle/>
          <a:p>
            <a:r>
              <a:rPr lang="en-US" b="0" i="0" u="none" strike="noStrike" baseline="0" dirty="0">
                <a:solidFill>
                  <a:srgbClr val="000000"/>
                </a:solidFill>
                <a:latin typeface="Century Gothic" panose="020B0502020202020204" pitchFamily="34" charset="0"/>
              </a:rPr>
              <a:t>Discrete time, discrete state, state space models</a:t>
            </a:r>
          </a:p>
          <a:p>
            <a:endParaRPr lang="en-US" dirty="0">
              <a:solidFill>
                <a:srgbClr val="000000"/>
              </a:solidFill>
              <a:latin typeface="Century Gothic" panose="020B0502020202020204" pitchFamily="34" charset="0"/>
            </a:endParaRPr>
          </a:p>
          <a:p>
            <a:r>
              <a:rPr lang="en-US" b="0" i="0" u="none" strike="noStrike" baseline="0" dirty="0">
                <a:solidFill>
                  <a:srgbClr val="000000"/>
                </a:solidFill>
                <a:latin typeface="Century Gothic" panose="020B0502020202020204" pitchFamily="34" charset="0"/>
              </a:rPr>
              <a:t>Operate on </a:t>
            </a:r>
            <a:r>
              <a:rPr lang="en-US" b="1" i="0" u="none" strike="noStrike" baseline="0" dirty="0">
                <a:solidFill>
                  <a:srgbClr val="000000"/>
                </a:solidFill>
                <a:latin typeface="Century Gothic" panose="020B0502020202020204" pitchFamily="34" charset="0"/>
              </a:rPr>
              <a:t>time-series data </a:t>
            </a:r>
            <a:r>
              <a:rPr lang="en-US" b="0" i="0" u="none" strike="noStrike" baseline="0" dirty="0">
                <a:solidFill>
                  <a:srgbClr val="000000"/>
                </a:solidFill>
                <a:latin typeface="Century Gothic" panose="020B0502020202020204" pitchFamily="34" charset="0"/>
              </a:rPr>
              <a:t>for step lengths and turning angles</a:t>
            </a:r>
          </a:p>
          <a:p>
            <a:pPr lvl="1"/>
            <a:r>
              <a:rPr lang="en-US" b="0" i="0" u="none" strike="noStrike" baseline="0" dirty="0">
                <a:solidFill>
                  <a:srgbClr val="000000"/>
                </a:solidFill>
                <a:latin typeface="Century Gothic" panose="020B0502020202020204" pitchFamily="34" charset="0"/>
              </a:rPr>
              <a:t>Could also be used on accelerometry data, but also occupancy data, capture-recapture data…</a:t>
            </a:r>
          </a:p>
          <a:p>
            <a:pPr lvl="1"/>
            <a:endParaRPr lang="en-US" b="0" i="0" u="none" strike="noStrike" baseline="0" dirty="0">
              <a:solidFill>
                <a:srgbClr val="000000"/>
              </a:solidFill>
              <a:latin typeface="Century Gothic" panose="020B0502020202020204" pitchFamily="34" charset="0"/>
            </a:endParaRPr>
          </a:p>
          <a:p>
            <a:r>
              <a:rPr lang="en-US" b="0" i="0" u="none" strike="noStrike" baseline="0" dirty="0">
                <a:solidFill>
                  <a:srgbClr val="000000"/>
                </a:solidFill>
                <a:latin typeface="Century Gothic" panose="020B0502020202020204" pitchFamily="34" charset="0"/>
              </a:rPr>
              <a:t>Parameters of step length distribution and turning angle distribution determined by an underlying observed state </a:t>
            </a:r>
          </a:p>
          <a:p>
            <a:endParaRPr lang="en-US" dirty="0">
              <a:latin typeface="Century Gothic" panose="020B0502020202020204" pitchFamily="34" charset="0"/>
            </a:endParaRPr>
          </a:p>
        </p:txBody>
      </p:sp>
      <p:sp>
        <p:nvSpPr>
          <p:cNvPr id="7" name="Title 1">
            <a:extLst>
              <a:ext uri="{FF2B5EF4-FFF2-40B4-BE49-F238E27FC236}">
                <a16:creationId xmlns:a16="http://schemas.microsoft.com/office/drawing/2014/main" id="{9CFDCB91-9D38-7923-D196-DD20F941865F}"/>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Hidden Markov Models</a:t>
            </a:r>
          </a:p>
        </p:txBody>
      </p:sp>
    </p:spTree>
    <p:extLst>
      <p:ext uri="{BB962C8B-B14F-4D97-AF65-F5344CB8AC3E}">
        <p14:creationId xmlns:p14="http://schemas.microsoft.com/office/powerpoint/2010/main" val="2364763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CB859DA-2E31-6B2F-E440-81D79E546F43}"/>
              </a:ext>
            </a:extLst>
          </p:cNvPr>
          <p:cNvPicPr>
            <a:picLocks noChangeAspect="1"/>
          </p:cNvPicPr>
          <p:nvPr/>
        </p:nvPicPr>
        <p:blipFill>
          <a:blip r:embed="rId3"/>
          <a:stretch>
            <a:fillRect/>
          </a:stretch>
        </p:blipFill>
        <p:spPr>
          <a:xfrm>
            <a:off x="3422100" y="4417766"/>
            <a:ext cx="4664749" cy="2023210"/>
          </a:xfrm>
          <a:prstGeom prst="rect">
            <a:avLst/>
          </a:prstGeom>
        </p:spPr>
      </p:pic>
      <p:sp>
        <p:nvSpPr>
          <p:cNvPr id="7" name="Content Placeholder 2">
            <a:extLst>
              <a:ext uri="{FF2B5EF4-FFF2-40B4-BE49-F238E27FC236}">
                <a16:creationId xmlns:a16="http://schemas.microsoft.com/office/drawing/2014/main" id="{482EA2F5-DAB3-9B91-2BE7-A4D47D16A0F4}"/>
              </a:ext>
            </a:extLst>
          </p:cNvPr>
          <p:cNvSpPr txBox="1">
            <a:spLocks/>
          </p:cNvSpPr>
          <p:nvPr/>
        </p:nvSpPr>
        <p:spPr>
          <a:xfrm>
            <a:off x="838199" y="1608693"/>
            <a:ext cx="11037983" cy="27870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rgbClr val="000000"/>
                </a:solidFill>
                <a:latin typeface="+mj-lt"/>
              </a:rPr>
              <a:t>Observation process and latent state process</a:t>
            </a:r>
          </a:p>
          <a:p>
            <a:pPr lvl="1"/>
            <a:r>
              <a:rPr lang="en-US" sz="2000" dirty="0">
                <a:solidFill>
                  <a:srgbClr val="000000"/>
                </a:solidFill>
                <a:latin typeface="+mj-lt"/>
              </a:rPr>
              <a:t>Locations are the observation process, behavior state is the latent state process</a:t>
            </a:r>
          </a:p>
          <a:p>
            <a:pPr lvl="1"/>
            <a:r>
              <a:rPr lang="en-US" sz="2000" dirty="0">
                <a:solidFill>
                  <a:srgbClr val="000000"/>
                </a:solidFill>
                <a:latin typeface="+mj-lt"/>
              </a:rPr>
              <a:t>Latent state process taken to be a Markov Chain</a:t>
            </a:r>
          </a:p>
          <a:p>
            <a:pPr lvl="2"/>
            <a:r>
              <a:rPr lang="en-US" sz="1600" dirty="0">
                <a:solidFill>
                  <a:srgbClr val="000000"/>
                </a:solidFill>
                <a:latin typeface="+mj-lt"/>
              </a:rPr>
              <a:t>Discrete random variable, (1,2,…N)</a:t>
            </a:r>
          </a:p>
          <a:p>
            <a:pPr lvl="2"/>
            <a:r>
              <a:rPr lang="en-US" sz="1600" dirty="0">
                <a:solidFill>
                  <a:srgbClr val="000000"/>
                </a:solidFill>
                <a:latin typeface="+mj-lt"/>
              </a:rPr>
              <a:t>N is # of potential states (typically &lt;= 4)</a:t>
            </a:r>
          </a:p>
          <a:p>
            <a:pPr lvl="1"/>
            <a:r>
              <a:rPr lang="en-US" sz="2000" dirty="0">
                <a:solidFill>
                  <a:srgbClr val="000000"/>
                </a:solidFill>
                <a:latin typeface="+mj-lt"/>
              </a:rPr>
              <a:t>Data distributions (step length and turn angle) vary by state</a:t>
            </a:r>
          </a:p>
          <a:p>
            <a:pPr lvl="1"/>
            <a:r>
              <a:rPr lang="en-US" sz="2000" dirty="0">
                <a:solidFill>
                  <a:srgbClr val="000000"/>
                </a:solidFill>
                <a:latin typeface="+mj-lt"/>
              </a:rPr>
              <a:t>Transition probability matrix</a:t>
            </a:r>
          </a:p>
          <a:p>
            <a:pPr lvl="2"/>
            <a:r>
              <a:rPr lang="en-US" sz="1600" dirty="0">
                <a:solidFill>
                  <a:srgbClr val="000000"/>
                </a:solidFill>
                <a:latin typeface="+mj-lt"/>
              </a:rPr>
              <a:t>Governs the sequence of switching most likely and how probable these switches are</a:t>
            </a:r>
          </a:p>
          <a:p>
            <a:endParaRPr lang="en-US" sz="1800" dirty="0">
              <a:solidFill>
                <a:srgbClr val="000000"/>
              </a:solidFill>
              <a:latin typeface="+mj-lt"/>
            </a:endParaRPr>
          </a:p>
          <a:p>
            <a:endParaRPr lang="en-US" dirty="0">
              <a:latin typeface="+mj-lt"/>
            </a:endParaRPr>
          </a:p>
        </p:txBody>
      </p:sp>
      <p:sp>
        <p:nvSpPr>
          <p:cNvPr id="8" name="Title 1">
            <a:extLst>
              <a:ext uri="{FF2B5EF4-FFF2-40B4-BE49-F238E27FC236}">
                <a16:creationId xmlns:a16="http://schemas.microsoft.com/office/drawing/2014/main" id="{28E73C81-3110-743F-2BCF-5AACC0F884FD}"/>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Hidden Markov Models</a:t>
            </a:r>
          </a:p>
        </p:txBody>
      </p:sp>
      <p:sp>
        <p:nvSpPr>
          <p:cNvPr id="9" name="TextBox 8">
            <a:extLst>
              <a:ext uri="{FF2B5EF4-FFF2-40B4-BE49-F238E27FC236}">
                <a16:creationId xmlns:a16="http://schemas.microsoft.com/office/drawing/2014/main" id="{EC375F1B-5101-76FE-FE3A-E7047E75CDEE}"/>
              </a:ext>
            </a:extLst>
          </p:cNvPr>
          <p:cNvSpPr txBox="1"/>
          <p:nvPr/>
        </p:nvSpPr>
        <p:spPr>
          <a:xfrm>
            <a:off x="9883046" y="5960031"/>
            <a:ext cx="2258458" cy="369332"/>
          </a:xfrm>
          <a:prstGeom prst="rect">
            <a:avLst/>
          </a:prstGeom>
          <a:noFill/>
        </p:spPr>
        <p:txBody>
          <a:bodyPr wrap="square">
            <a:spAutoFit/>
          </a:bodyPr>
          <a:lstStyle/>
          <a:p>
            <a:pPr algn="r"/>
            <a:r>
              <a:rPr lang="en-US" sz="1800" b="0" i="0" u="none" strike="noStrike" baseline="0" dirty="0" err="1">
                <a:solidFill>
                  <a:srgbClr val="000000"/>
                </a:solidFill>
                <a:latin typeface="Century Gothic" panose="020B0502020202020204" pitchFamily="34" charset="0"/>
              </a:rPr>
              <a:t>Pohle</a:t>
            </a:r>
            <a:r>
              <a:rPr lang="en-US" sz="1800" b="0" i="0" u="none" strike="noStrike" baseline="0" dirty="0">
                <a:solidFill>
                  <a:srgbClr val="000000"/>
                </a:solidFill>
                <a:latin typeface="Century Gothic" panose="020B0502020202020204" pitchFamily="34" charset="0"/>
              </a:rPr>
              <a:t> et al. 2017</a:t>
            </a:r>
            <a:endParaRPr lang="en-US" dirty="0">
              <a:latin typeface="Century Gothic" panose="020B0502020202020204" pitchFamily="34" charset="0"/>
            </a:endParaRPr>
          </a:p>
        </p:txBody>
      </p:sp>
    </p:spTree>
    <p:extLst>
      <p:ext uri="{BB962C8B-B14F-4D97-AF65-F5344CB8AC3E}">
        <p14:creationId xmlns:p14="http://schemas.microsoft.com/office/powerpoint/2010/main" val="2391517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94ED80-0487-174C-6302-CE40039C2AD9}"/>
              </a:ext>
            </a:extLst>
          </p:cNvPr>
          <p:cNvSpPr>
            <a:spLocks noGrp="1"/>
          </p:cNvSpPr>
          <p:nvPr>
            <p:ph idx="4294967295"/>
          </p:nvPr>
        </p:nvSpPr>
        <p:spPr>
          <a:xfrm>
            <a:off x="881668" y="1611741"/>
            <a:ext cx="10515600" cy="4351337"/>
          </a:xfrm>
        </p:spPr>
        <p:txBody>
          <a:bodyPr/>
          <a:lstStyle/>
          <a:p>
            <a:r>
              <a:rPr lang="en-US" sz="2400" b="0" i="0" u="none" strike="noStrike" baseline="0" dirty="0">
                <a:latin typeface="Century Gothic" panose="020B0502020202020204" pitchFamily="34" charset="0"/>
              </a:rPr>
              <a:t>Models estimate: </a:t>
            </a:r>
            <a:endParaRPr lang="en-US" sz="2400" dirty="0">
              <a:latin typeface="Century Gothic" panose="020B0502020202020204" pitchFamily="34" charset="0"/>
            </a:endParaRPr>
          </a:p>
          <a:p>
            <a:pPr marL="800100" lvl="1" indent="-342900">
              <a:buFont typeface="+mj-lt"/>
              <a:buAutoNum type="arabicParenR"/>
            </a:pPr>
            <a:r>
              <a:rPr lang="en-US" sz="1800" dirty="0">
                <a:latin typeface="Century Gothic" panose="020B0502020202020204" pitchFamily="34" charset="0"/>
              </a:rPr>
              <a:t>T</a:t>
            </a:r>
            <a:r>
              <a:rPr lang="en-US" sz="1800" b="0" i="0" u="none" strike="noStrike" baseline="0" dirty="0">
                <a:latin typeface="Century Gothic" panose="020B0502020202020204" pitchFamily="34" charset="0"/>
              </a:rPr>
              <a:t>ransition probabilities</a:t>
            </a:r>
            <a:endParaRPr lang="en-US" sz="1800" dirty="0">
              <a:latin typeface="Century Gothic" panose="020B0502020202020204" pitchFamily="34" charset="0"/>
            </a:endParaRPr>
          </a:p>
          <a:p>
            <a:pPr marL="800100" lvl="1" indent="-342900">
              <a:buFont typeface="+mj-lt"/>
              <a:buAutoNum type="arabicParenR"/>
            </a:pPr>
            <a:r>
              <a:rPr lang="en-US" sz="1800" b="0" i="0" u="none" strike="noStrike" baseline="0" dirty="0">
                <a:latin typeface="Century Gothic" panose="020B0502020202020204" pitchFamily="34" charset="0"/>
              </a:rPr>
              <a:t>Mean and variance of step length and turn angle for all states</a:t>
            </a:r>
          </a:p>
          <a:p>
            <a:r>
              <a:rPr lang="en-US" sz="2400" b="0" i="0" u="none" strike="noStrike" baseline="0" dirty="0">
                <a:latin typeface="Century Gothic" panose="020B0502020202020204" pitchFamily="34" charset="0"/>
              </a:rPr>
              <a:t>Transition probabilities can be modeled as function of covariates</a:t>
            </a:r>
          </a:p>
        </p:txBody>
      </p:sp>
      <p:sp>
        <p:nvSpPr>
          <p:cNvPr id="4" name="Title 1">
            <a:extLst>
              <a:ext uri="{FF2B5EF4-FFF2-40B4-BE49-F238E27FC236}">
                <a16:creationId xmlns:a16="http://schemas.microsoft.com/office/drawing/2014/main" id="{F48F3B98-9A4E-DECF-13B0-014646FF53C6}"/>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Implementing HMMs in R</a:t>
            </a:r>
          </a:p>
        </p:txBody>
      </p:sp>
      <p:pic>
        <p:nvPicPr>
          <p:cNvPr id="7" name="Picture 6">
            <a:extLst>
              <a:ext uri="{FF2B5EF4-FFF2-40B4-BE49-F238E27FC236}">
                <a16:creationId xmlns:a16="http://schemas.microsoft.com/office/drawing/2014/main" id="{701B7276-4E2F-61B3-A355-BEB828964B5C}"/>
              </a:ext>
            </a:extLst>
          </p:cNvPr>
          <p:cNvPicPr>
            <a:picLocks noChangeAspect="1"/>
          </p:cNvPicPr>
          <p:nvPr/>
        </p:nvPicPr>
        <p:blipFill>
          <a:blip r:embed="rId3"/>
          <a:stretch>
            <a:fillRect/>
          </a:stretch>
        </p:blipFill>
        <p:spPr>
          <a:xfrm>
            <a:off x="640080" y="4208843"/>
            <a:ext cx="3762788" cy="1935988"/>
          </a:xfrm>
          <a:prstGeom prst="rect">
            <a:avLst/>
          </a:prstGeom>
        </p:spPr>
      </p:pic>
      <p:pic>
        <p:nvPicPr>
          <p:cNvPr id="6" name="Picture 5">
            <a:extLst>
              <a:ext uri="{FF2B5EF4-FFF2-40B4-BE49-F238E27FC236}">
                <a16:creationId xmlns:a16="http://schemas.microsoft.com/office/drawing/2014/main" id="{3331DB42-E1CA-4267-60EC-2D681654EC6C}"/>
              </a:ext>
            </a:extLst>
          </p:cNvPr>
          <p:cNvPicPr>
            <a:picLocks noChangeAspect="1"/>
          </p:cNvPicPr>
          <p:nvPr/>
        </p:nvPicPr>
        <p:blipFill rotWithShape="1">
          <a:blip r:embed="rId4"/>
          <a:srcRect l="8433" t="35565" r="53116" b="38997"/>
          <a:stretch/>
        </p:blipFill>
        <p:spPr>
          <a:xfrm>
            <a:off x="5798976" y="3650722"/>
            <a:ext cx="3144416" cy="1595537"/>
          </a:xfrm>
          <a:prstGeom prst="rect">
            <a:avLst/>
          </a:prstGeom>
        </p:spPr>
      </p:pic>
      <p:grpSp>
        <p:nvGrpSpPr>
          <p:cNvPr id="9" name="Group 8">
            <a:extLst>
              <a:ext uri="{FF2B5EF4-FFF2-40B4-BE49-F238E27FC236}">
                <a16:creationId xmlns:a16="http://schemas.microsoft.com/office/drawing/2014/main" id="{EBA53733-8114-3667-A5F4-4F22C0170D35}"/>
              </a:ext>
            </a:extLst>
          </p:cNvPr>
          <p:cNvGrpSpPr/>
          <p:nvPr/>
        </p:nvGrpSpPr>
        <p:grpSpPr>
          <a:xfrm>
            <a:off x="8943392" y="4380451"/>
            <a:ext cx="3144416" cy="1592771"/>
            <a:chOff x="8818051" y="3993502"/>
            <a:chExt cx="3144416" cy="1592771"/>
          </a:xfrm>
        </p:grpSpPr>
        <p:pic>
          <p:nvPicPr>
            <p:cNvPr id="2" name="Picture 1">
              <a:extLst>
                <a:ext uri="{FF2B5EF4-FFF2-40B4-BE49-F238E27FC236}">
                  <a16:creationId xmlns:a16="http://schemas.microsoft.com/office/drawing/2014/main" id="{B5CEA4ED-535D-1CED-3CA4-9124F5190B26}"/>
                </a:ext>
              </a:extLst>
            </p:cNvPr>
            <p:cNvPicPr>
              <a:picLocks noChangeAspect="1"/>
            </p:cNvPicPr>
            <p:nvPr/>
          </p:nvPicPr>
          <p:blipFill rotWithShape="1">
            <a:blip r:embed="rId5"/>
            <a:srcRect l="9528" t="35718" r="53949" b="40212"/>
            <a:stretch/>
          </p:blipFill>
          <p:spPr>
            <a:xfrm>
              <a:off x="8818051" y="4113687"/>
              <a:ext cx="3144416" cy="1472586"/>
            </a:xfrm>
            <a:prstGeom prst="rect">
              <a:avLst/>
            </a:prstGeom>
          </p:spPr>
        </p:pic>
        <p:sp>
          <p:nvSpPr>
            <p:cNvPr id="8" name="Rectangle 7">
              <a:extLst>
                <a:ext uri="{FF2B5EF4-FFF2-40B4-BE49-F238E27FC236}">
                  <a16:creationId xmlns:a16="http://schemas.microsoft.com/office/drawing/2014/main" id="{98C6A571-E84A-3B4E-5618-90BA9C492DE7}"/>
                </a:ext>
              </a:extLst>
            </p:cNvPr>
            <p:cNvSpPr/>
            <p:nvPr/>
          </p:nvSpPr>
          <p:spPr>
            <a:xfrm>
              <a:off x="9218645" y="3993502"/>
              <a:ext cx="298579" cy="2153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8BDAE169-3A52-4A01-9289-AB11857BF992}"/>
              </a:ext>
            </a:extLst>
          </p:cNvPr>
          <p:cNvSpPr txBox="1"/>
          <p:nvPr/>
        </p:nvSpPr>
        <p:spPr>
          <a:xfrm>
            <a:off x="6639253" y="3582682"/>
            <a:ext cx="1175322" cy="307777"/>
          </a:xfrm>
          <a:prstGeom prst="rect">
            <a:avLst/>
          </a:prstGeom>
          <a:noFill/>
        </p:spPr>
        <p:txBody>
          <a:bodyPr wrap="none" rtlCol="0">
            <a:spAutoFit/>
          </a:bodyPr>
          <a:lstStyle/>
          <a:p>
            <a:r>
              <a:rPr lang="en-US" sz="1400" dirty="0"/>
              <a:t>Step length</a:t>
            </a:r>
          </a:p>
        </p:txBody>
      </p:sp>
      <p:sp>
        <p:nvSpPr>
          <p:cNvPr id="11" name="TextBox 10">
            <a:extLst>
              <a:ext uri="{FF2B5EF4-FFF2-40B4-BE49-F238E27FC236}">
                <a16:creationId xmlns:a16="http://schemas.microsoft.com/office/drawing/2014/main" id="{E9C7FBBD-1A93-22D8-4DE4-385BCBF311E0}"/>
              </a:ext>
            </a:extLst>
          </p:cNvPr>
          <p:cNvSpPr txBox="1"/>
          <p:nvPr/>
        </p:nvSpPr>
        <p:spPr>
          <a:xfrm>
            <a:off x="10128236" y="4448491"/>
            <a:ext cx="1353256" cy="307777"/>
          </a:xfrm>
          <a:prstGeom prst="rect">
            <a:avLst/>
          </a:prstGeom>
          <a:noFill/>
        </p:spPr>
        <p:txBody>
          <a:bodyPr wrap="none" rtlCol="0">
            <a:spAutoFit/>
          </a:bodyPr>
          <a:lstStyle/>
          <a:p>
            <a:r>
              <a:rPr lang="en-US" sz="1400" dirty="0"/>
              <a:t>Turning angle</a:t>
            </a:r>
          </a:p>
        </p:txBody>
      </p:sp>
    </p:spTree>
    <p:extLst>
      <p:ext uri="{BB962C8B-B14F-4D97-AF65-F5344CB8AC3E}">
        <p14:creationId xmlns:p14="http://schemas.microsoft.com/office/powerpoint/2010/main" val="40723364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EC79A3-6E69-4E49-E76D-B6D6C1E7A77C}"/>
              </a:ext>
            </a:extLst>
          </p:cNvPr>
          <p:cNvSpPr>
            <a:spLocks noGrp="1"/>
          </p:cNvSpPr>
          <p:nvPr>
            <p:ph idx="4294967295"/>
          </p:nvPr>
        </p:nvSpPr>
        <p:spPr>
          <a:xfrm>
            <a:off x="838200" y="1338145"/>
            <a:ext cx="10515600" cy="4632997"/>
          </a:xfrm>
        </p:spPr>
        <p:txBody>
          <a:bodyPr>
            <a:normAutofit/>
          </a:bodyPr>
          <a:lstStyle/>
          <a:p>
            <a:r>
              <a:rPr lang="en-US" sz="2400" b="0" i="0" u="none" strike="noStrike" baseline="0" dirty="0"/>
              <a:t>N = # of states</a:t>
            </a:r>
          </a:p>
          <a:p>
            <a:r>
              <a:rPr lang="en-US" sz="2400" b="0" i="0" u="none" strike="noStrike" baseline="0" dirty="0"/>
              <a:t>Starting state (typically taken to be equally likely)</a:t>
            </a:r>
          </a:p>
          <a:p>
            <a:r>
              <a:rPr lang="en-US" sz="2400" b="0" i="0" u="none" strike="noStrike" baseline="0" dirty="0"/>
              <a:t>Distribution of step lengths (for each state) </a:t>
            </a:r>
          </a:p>
          <a:p>
            <a:pPr lvl="1"/>
            <a:r>
              <a:rPr lang="en-US" sz="1800" b="0" i="0" u="none" strike="noStrike" baseline="0" dirty="0"/>
              <a:t>Gamma, Weibull, log-normal and exponential distributions </a:t>
            </a:r>
          </a:p>
          <a:p>
            <a:pPr lvl="1"/>
            <a:r>
              <a:rPr lang="en-US" sz="1800" b="0" i="0" u="none" strike="noStrike" baseline="0" dirty="0"/>
              <a:t>Mean</a:t>
            </a:r>
          </a:p>
          <a:p>
            <a:pPr lvl="1"/>
            <a:r>
              <a:rPr lang="en-US" sz="1800" b="0" i="0" u="none" strike="noStrike" baseline="0" dirty="0"/>
              <a:t>Variance (SD)</a:t>
            </a:r>
          </a:p>
          <a:p>
            <a:r>
              <a:rPr lang="en-US" sz="2400" b="0" i="0" u="none" strike="noStrike" baseline="0" dirty="0"/>
              <a:t>Distribution of turning angles (for each state) </a:t>
            </a:r>
          </a:p>
          <a:p>
            <a:pPr lvl="1"/>
            <a:r>
              <a:rPr lang="en-US" sz="1800" b="0" i="0" u="none" strike="noStrike" baseline="0" dirty="0"/>
              <a:t>von Mises and wrapped Cauchy distributions</a:t>
            </a:r>
          </a:p>
          <a:p>
            <a:pPr lvl="1"/>
            <a:r>
              <a:rPr lang="en-US" sz="1800" b="0" i="0" u="none" strike="noStrike" baseline="0" dirty="0"/>
              <a:t>Mean</a:t>
            </a:r>
          </a:p>
          <a:p>
            <a:pPr lvl="1"/>
            <a:r>
              <a:rPr lang="en-US" sz="1800" b="0" i="0" u="none" strike="noStrike" baseline="0" dirty="0"/>
              <a:t>Clustering parameter</a:t>
            </a:r>
          </a:p>
          <a:p>
            <a:r>
              <a:rPr lang="en-US" sz="2400" b="0" i="0" u="none" strike="noStrike" baseline="0" dirty="0"/>
              <a:t>Transition probability matrix</a:t>
            </a:r>
          </a:p>
        </p:txBody>
      </p:sp>
      <p:sp>
        <p:nvSpPr>
          <p:cNvPr id="4" name="Title 1">
            <a:extLst>
              <a:ext uri="{FF2B5EF4-FFF2-40B4-BE49-F238E27FC236}">
                <a16:creationId xmlns:a16="http://schemas.microsoft.com/office/drawing/2014/main" id="{2D6470DF-B737-E7D3-D6EF-BED6F5B3FEF5}"/>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HMM Parameters for Animal Movement</a:t>
            </a:r>
          </a:p>
        </p:txBody>
      </p:sp>
      <p:pic>
        <p:nvPicPr>
          <p:cNvPr id="5" name="Picture 4">
            <a:extLst>
              <a:ext uri="{FF2B5EF4-FFF2-40B4-BE49-F238E27FC236}">
                <a16:creationId xmlns:a16="http://schemas.microsoft.com/office/drawing/2014/main" id="{12A54CD0-3141-A877-F8E8-5E96BA997B96}"/>
              </a:ext>
            </a:extLst>
          </p:cNvPr>
          <p:cNvPicPr>
            <a:picLocks noChangeAspect="1"/>
          </p:cNvPicPr>
          <p:nvPr/>
        </p:nvPicPr>
        <p:blipFill>
          <a:blip r:embed="rId3"/>
          <a:stretch>
            <a:fillRect/>
          </a:stretch>
        </p:blipFill>
        <p:spPr>
          <a:xfrm>
            <a:off x="8311896" y="4455731"/>
            <a:ext cx="3762788" cy="1935988"/>
          </a:xfrm>
          <a:prstGeom prst="rect">
            <a:avLst/>
          </a:prstGeom>
        </p:spPr>
      </p:pic>
    </p:spTree>
    <p:extLst>
      <p:ext uri="{BB962C8B-B14F-4D97-AF65-F5344CB8AC3E}">
        <p14:creationId xmlns:p14="http://schemas.microsoft.com/office/powerpoint/2010/main" val="123628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660E6B-2487-BFBD-4D83-0006051CFEDE}"/>
              </a:ext>
            </a:extLst>
          </p:cNvPr>
          <p:cNvSpPr>
            <a:spLocks noGrp="1"/>
          </p:cNvSpPr>
          <p:nvPr>
            <p:ph idx="4294967295"/>
          </p:nvPr>
        </p:nvSpPr>
        <p:spPr>
          <a:xfrm>
            <a:off x="969484" y="1167788"/>
            <a:ext cx="10515600" cy="5188945"/>
          </a:xfrm>
        </p:spPr>
        <p:txBody>
          <a:bodyPr>
            <a:noAutofit/>
          </a:bodyPr>
          <a:lstStyle/>
          <a:p>
            <a:r>
              <a:rPr lang="en-US" sz="2400" b="0" i="0" u="none" strike="noStrike" baseline="0" dirty="0">
                <a:solidFill>
                  <a:srgbClr val="000000"/>
                </a:solidFill>
                <a:latin typeface="Century Gothic" panose="020B0502020202020204" pitchFamily="34" charset="0"/>
              </a:rPr>
              <a:t>Connecting location data to latent states (decoding algorithms)</a:t>
            </a:r>
          </a:p>
          <a:p>
            <a:pPr lvl="1"/>
            <a:r>
              <a:rPr lang="en-US" sz="2000" b="0" i="0" u="none" strike="noStrike" baseline="0" dirty="0">
                <a:solidFill>
                  <a:srgbClr val="000000"/>
                </a:solidFill>
                <a:latin typeface="Century Gothic" panose="020B0502020202020204" pitchFamily="34" charset="0"/>
              </a:rPr>
              <a:t>Viterbi</a:t>
            </a:r>
          </a:p>
          <a:p>
            <a:pPr lvl="2"/>
            <a:r>
              <a:rPr lang="en-US" sz="1600" b="0" i="0" u="none" strike="noStrike" baseline="0" dirty="0">
                <a:solidFill>
                  <a:srgbClr val="000000"/>
                </a:solidFill>
                <a:latin typeface="Century Gothic" panose="020B0502020202020204" pitchFamily="34" charset="0"/>
              </a:rPr>
              <a:t>Finds most probable sequence of states that generated the data </a:t>
            </a:r>
            <a:endParaRPr lang="en-US" sz="1600" dirty="0">
              <a:solidFill>
                <a:srgbClr val="000000"/>
              </a:solidFill>
              <a:latin typeface="Century Gothic" panose="020B0502020202020204" pitchFamily="34" charset="0"/>
            </a:endParaRPr>
          </a:p>
          <a:p>
            <a:pPr marL="682625" lvl="2" indent="-220663"/>
            <a:r>
              <a:rPr lang="en-US" b="0" i="0" u="none" strike="noStrike" baseline="0" dirty="0">
                <a:solidFill>
                  <a:srgbClr val="000000"/>
                </a:solidFill>
                <a:latin typeface="Century Gothic" panose="020B0502020202020204" pitchFamily="34" charset="0"/>
              </a:rPr>
              <a:t>Forward-backward algorithm</a:t>
            </a:r>
          </a:p>
          <a:p>
            <a:pPr marL="1139825" lvl="3" indent="-220663"/>
            <a:r>
              <a:rPr lang="en-US" sz="1600" b="0" i="0" u="none" strike="noStrike" baseline="0" dirty="0">
                <a:solidFill>
                  <a:srgbClr val="000000"/>
                </a:solidFill>
                <a:latin typeface="Century Gothic" panose="020B0502020202020204" pitchFamily="34" charset="0"/>
              </a:rPr>
              <a:t>Computes marginal probability of each state at time </a:t>
            </a:r>
            <a:r>
              <a:rPr lang="en-US" sz="1600" b="0" i="1" u="none" strike="noStrike" baseline="0" dirty="0">
                <a:solidFill>
                  <a:srgbClr val="000000"/>
                </a:solidFill>
                <a:latin typeface="Century Gothic" panose="020B0502020202020204" pitchFamily="34" charset="0"/>
              </a:rPr>
              <a:t>t</a:t>
            </a:r>
          </a:p>
          <a:p>
            <a:pPr marL="682625" lvl="2" indent="-220663"/>
            <a:r>
              <a:rPr lang="en-US" b="0" i="0" u="none" strike="noStrike" baseline="0" dirty="0">
                <a:solidFill>
                  <a:srgbClr val="000000"/>
                </a:solidFill>
                <a:latin typeface="Century Gothic" panose="020B0502020202020204" pitchFamily="34" charset="0"/>
              </a:rPr>
              <a:t>Forward-filtering backward sampling algorithm</a:t>
            </a:r>
          </a:p>
          <a:p>
            <a:pPr marL="1139825" lvl="3" indent="-220663"/>
            <a:r>
              <a:rPr lang="en-US" sz="1600" b="0" i="0" u="none" strike="noStrike" baseline="0" dirty="0">
                <a:solidFill>
                  <a:srgbClr val="000000"/>
                </a:solidFill>
                <a:latin typeface="Century Gothic" panose="020B0502020202020204" pitchFamily="34" charset="0"/>
              </a:rPr>
              <a:t>Generates sequences that could have resulted in observed state</a:t>
            </a:r>
          </a:p>
          <a:p>
            <a:r>
              <a:rPr lang="en-US" sz="2400" b="0" i="0" u="none" strike="noStrike" baseline="0" dirty="0">
                <a:solidFill>
                  <a:srgbClr val="000000"/>
                </a:solidFill>
                <a:latin typeface="Century Gothic" panose="020B0502020202020204" pitchFamily="34" charset="0"/>
              </a:rPr>
              <a:t>Stationary probabilities available</a:t>
            </a:r>
          </a:p>
          <a:p>
            <a:endParaRPr lang="en-US" sz="1600" b="0" i="0" u="none" strike="noStrike" baseline="0" dirty="0">
              <a:solidFill>
                <a:srgbClr val="000000"/>
              </a:solidFill>
              <a:latin typeface="Century Gothic" panose="020B0502020202020204" pitchFamily="34" charset="0"/>
            </a:endParaRPr>
          </a:p>
          <a:p>
            <a:r>
              <a:rPr lang="en-US" sz="2400" b="0" i="0" u="none" strike="noStrike" baseline="0" dirty="0">
                <a:solidFill>
                  <a:srgbClr val="000000"/>
                </a:solidFill>
                <a:latin typeface="Century Gothic" panose="020B0502020202020204" pitchFamily="34" charset="0"/>
              </a:rPr>
              <a:t>Assume regular sampling with negligible error</a:t>
            </a:r>
          </a:p>
          <a:p>
            <a:pPr lvl="1"/>
            <a:r>
              <a:rPr lang="en-US" sz="2000" b="0" i="0" u="none" strike="noStrike" baseline="0" dirty="0">
                <a:solidFill>
                  <a:srgbClr val="000000"/>
                </a:solidFill>
                <a:latin typeface="Century Gothic" panose="020B0502020202020204" pitchFamily="34" charset="0"/>
              </a:rPr>
              <a:t>Paths can be smoothed prior to analysis if error on same scale as step lengths</a:t>
            </a:r>
          </a:p>
          <a:p>
            <a:pPr lvl="1"/>
            <a:r>
              <a:rPr lang="en-US" sz="2000" b="0" i="0" u="none" strike="noStrike" baseline="0" dirty="0">
                <a:solidFill>
                  <a:srgbClr val="000000"/>
                </a:solidFill>
                <a:latin typeface="Century Gothic" panose="020B0502020202020204" pitchFamily="34" charset="0"/>
              </a:rPr>
              <a:t>No date/time information is included</a:t>
            </a:r>
          </a:p>
          <a:p>
            <a:r>
              <a:rPr lang="en-US" sz="2400" b="0" i="0" u="none" strike="noStrike" baseline="0" dirty="0">
                <a:solidFill>
                  <a:srgbClr val="000000"/>
                </a:solidFill>
                <a:latin typeface="Century Gothic" panose="020B0502020202020204" pitchFamily="34" charset="0"/>
              </a:rPr>
              <a:t>User specifies # of state (&lt;= 4) and models with varying states can be compared with AIC</a:t>
            </a:r>
            <a:endParaRPr lang="en-US" sz="2400" dirty="0">
              <a:latin typeface="Century Gothic" panose="020B0502020202020204" pitchFamily="34" charset="0"/>
            </a:endParaRPr>
          </a:p>
        </p:txBody>
      </p:sp>
      <p:sp>
        <p:nvSpPr>
          <p:cNvPr id="6" name="Title 1">
            <a:extLst>
              <a:ext uri="{FF2B5EF4-FFF2-40B4-BE49-F238E27FC236}">
                <a16:creationId xmlns:a16="http://schemas.microsoft.com/office/drawing/2014/main" id="{FDAB1BA2-D0E7-0893-9B51-CDC794E42614}"/>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Implementing HMMs in R</a:t>
            </a:r>
          </a:p>
        </p:txBody>
      </p:sp>
    </p:spTree>
    <p:extLst>
      <p:ext uri="{BB962C8B-B14F-4D97-AF65-F5344CB8AC3E}">
        <p14:creationId xmlns:p14="http://schemas.microsoft.com/office/powerpoint/2010/main" val="3493049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27A6BC9-A0DD-61F5-3FD4-4BA5CE480571}"/>
              </a:ext>
            </a:extLst>
          </p:cNvPr>
          <p:cNvSpPr txBox="1"/>
          <p:nvPr/>
        </p:nvSpPr>
        <p:spPr>
          <a:xfrm>
            <a:off x="9883046" y="5960031"/>
            <a:ext cx="2258458" cy="369332"/>
          </a:xfrm>
          <a:prstGeom prst="rect">
            <a:avLst/>
          </a:prstGeom>
          <a:noFill/>
        </p:spPr>
        <p:txBody>
          <a:bodyPr wrap="square">
            <a:spAutoFit/>
          </a:bodyPr>
          <a:lstStyle/>
          <a:p>
            <a:pPr algn="r"/>
            <a:r>
              <a:rPr lang="en-US" sz="1800" b="0" i="0" u="none" strike="noStrike" baseline="0" dirty="0" err="1">
                <a:solidFill>
                  <a:srgbClr val="000000"/>
                </a:solidFill>
                <a:latin typeface="Century Gothic" panose="020B0502020202020204" pitchFamily="34" charset="0"/>
              </a:rPr>
              <a:t>Pohle</a:t>
            </a:r>
            <a:r>
              <a:rPr lang="en-US" sz="1800" b="0" i="0" u="none" strike="noStrike" baseline="0" dirty="0">
                <a:solidFill>
                  <a:srgbClr val="000000"/>
                </a:solidFill>
                <a:latin typeface="Century Gothic" panose="020B0502020202020204" pitchFamily="34" charset="0"/>
              </a:rPr>
              <a:t> et al. 2017</a:t>
            </a:r>
            <a:endParaRPr lang="en-US" dirty="0">
              <a:latin typeface="Century Gothic" panose="020B0502020202020204" pitchFamily="34" charset="0"/>
            </a:endParaRPr>
          </a:p>
        </p:txBody>
      </p:sp>
      <p:pic>
        <p:nvPicPr>
          <p:cNvPr id="6" name="Picture 5">
            <a:extLst>
              <a:ext uri="{FF2B5EF4-FFF2-40B4-BE49-F238E27FC236}">
                <a16:creationId xmlns:a16="http://schemas.microsoft.com/office/drawing/2014/main" id="{1745D31A-0CC5-F1E5-B8FF-BB5F8B55896A}"/>
              </a:ext>
            </a:extLst>
          </p:cNvPr>
          <p:cNvPicPr>
            <a:picLocks noChangeAspect="1"/>
          </p:cNvPicPr>
          <p:nvPr/>
        </p:nvPicPr>
        <p:blipFill>
          <a:blip r:embed="rId3"/>
          <a:stretch>
            <a:fillRect/>
          </a:stretch>
        </p:blipFill>
        <p:spPr>
          <a:xfrm>
            <a:off x="1211856" y="432942"/>
            <a:ext cx="9397388" cy="5434634"/>
          </a:xfrm>
          <a:prstGeom prst="rect">
            <a:avLst/>
          </a:prstGeom>
        </p:spPr>
      </p:pic>
    </p:spTree>
    <p:extLst>
      <p:ext uri="{BB962C8B-B14F-4D97-AF65-F5344CB8AC3E}">
        <p14:creationId xmlns:p14="http://schemas.microsoft.com/office/powerpoint/2010/main" val="1297968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B3AC2-226D-1F95-D7D0-A2CB1B4D0033}"/>
              </a:ext>
            </a:extLst>
          </p:cNvPr>
          <p:cNvSpPr>
            <a:spLocks noGrp="1"/>
          </p:cNvSpPr>
          <p:nvPr>
            <p:ph type="title" idx="4294967295"/>
          </p:nvPr>
        </p:nvSpPr>
        <p:spPr>
          <a:xfrm>
            <a:off x="496675" y="322824"/>
            <a:ext cx="10515600" cy="1325563"/>
          </a:xfrm>
        </p:spPr>
        <p:txBody>
          <a:bodyPr>
            <a:normAutofit/>
          </a:bodyPr>
          <a:lstStyle/>
          <a:p>
            <a:r>
              <a:rPr lang="en-US" sz="3200" b="1" i="0" u="none" strike="noStrike" baseline="0" dirty="0">
                <a:solidFill>
                  <a:srgbClr val="000000"/>
                </a:solidFill>
              </a:rPr>
              <a:t>Hidden Markov Models with </a:t>
            </a:r>
            <a:r>
              <a:rPr lang="en-US" sz="3200" b="1" i="0" u="none" strike="noStrike" baseline="0">
                <a:solidFill>
                  <a:srgbClr val="000000"/>
                </a:solidFill>
              </a:rPr>
              <a:t>momentuHMM</a:t>
            </a:r>
            <a:br>
              <a:rPr lang="en-US" sz="3200" b="1" i="0" u="none" strike="noStrike" baseline="0" dirty="0">
                <a:solidFill>
                  <a:srgbClr val="000000"/>
                </a:solidFill>
              </a:rPr>
            </a:br>
            <a:endParaRPr lang="en-US" sz="3200" b="1" dirty="0"/>
          </a:p>
        </p:txBody>
      </p:sp>
      <p:sp>
        <p:nvSpPr>
          <p:cNvPr id="3" name="Content Placeholder 2">
            <a:extLst>
              <a:ext uri="{FF2B5EF4-FFF2-40B4-BE49-F238E27FC236}">
                <a16:creationId xmlns:a16="http://schemas.microsoft.com/office/drawing/2014/main" id="{4670E709-D8FC-0D78-30B4-EA57FD404F5D}"/>
              </a:ext>
            </a:extLst>
          </p:cNvPr>
          <p:cNvSpPr>
            <a:spLocks noGrp="1"/>
          </p:cNvSpPr>
          <p:nvPr>
            <p:ph idx="4294967295"/>
          </p:nvPr>
        </p:nvSpPr>
        <p:spPr>
          <a:xfrm>
            <a:off x="779316" y="1648387"/>
            <a:ext cx="9441873" cy="4351338"/>
          </a:xfrm>
        </p:spPr>
        <p:txBody>
          <a:bodyPr/>
          <a:lstStyle/>
          <a:p>
            <a:pPr marL="0" indent="0">
              <a:buNone/>
            </a:pPr>
            <a:r>
              <a:rPr lang="en-US" sz="1800" b="0" i="0" u="none" strike="noStrike" baseline="0" dirty="0" err="1">
                <a:solidFill>
                  <a:srgbClr val="000000"/>
                </a:solidFill>
                <a:latin typeface="Courier New" panose="02070309020205020404" pitchFamily="49" charset="0"/>
              </a:rPr>
              <a:t>my_mod</a:t>
            </a:r>
            <a:r>
              <a:rPr lang="en-US" sz="1800" b="0" i="0" u="none" strike="noStrike" baseline="0" dirty="0">
                <a:solidFill>
                  <a:srgbClr val="000000"/>
                </a:solidFill>
                <a:latin typeface="Courier New" panose="02070309020205020404" pitchFamily="49" charset="0"/>
              </a:rPr>
              <a:t> &lt;- </a:t>
            </a:r>
            <a:r>
              <a:rPr lang="en-US" sz="1800" b="0" i="0" u="none" strike="noStrike" baseline="0" dirty="0" err="1">
                <a:solidFill>
                  <a:srgbClr val="000000"/>
                </a:solidFill>
                <a:latin typeface="Courier New" panose="02070309020205020404" pitchFamily="49" charset="0"/>
              </a:rPr>
              <a:t>fitHMM</a:t>
            </a:r>
            <a:r>
              <a:rPr lang="en-US" sz="1800" b="0" i="0" u="none" strike="noStrike" baseline="0" dirty="0">
                <a:solidFill>
                  <a:srgbClr val="000000"/>
                </a:solidFill>
                <a:latin typeface="Courier New" panose="02070309020205020404" pitchFamily="49" charset="0"/>
              </a:rPr>
              <a:t>(data = </a:t>
            </a:r>
            <a:r>
              <a:rPr lang="en-US" sz="1800" b="0" i="0" u="none" strike="noStrike" baseline="0" dirty="0" err="1">
                <a:solidFill>
                  <a:srgbClr val="000000"/>
                </a:solidFill>
                <a:latin typeface="Courier New" panose="02070309020205020404" pitchFamily="49" charset="0"/>
              </a:rPr>
              <a:t>my_move_object</a:t>
            </a:r>
            <a:r>
              <a:rPr lang="en-US" sz="1800" b="0" i="0" u="none" strike="noStrike" baseline="0" dirty="0">
                <a:solidFill>
                  <a:srgbClr val="000000"/>
                </a:solidFill>
                <a:latin typeface="Courier New" panose="02070309020205020404" pitchFamily="49" charset="0"/>
              </a:rPr>
              <a:t>,</a:t>
            </a:r>
          </a:p>
          <a:p>
            <a:pPr marL="0" indent="0">
              <a:buNone/>
            </a:pPr>
            <a:r>
              <a:rPr lang="en-US" sz="1800" dirty="0">
                <a:solidFill>
                  <a:srgbClr val="000000"/>
                </a:solidFill>
                <a:latin typeface="Courier New" panose="02070309020205020404" pitchFamily="49" charset="0"/>
              </a:rPr>
              <a:t>		</a:t>
            </a:r>
            <a:r>
              <a:rPr lang="en-US" sz="1800" b="0" i="0" u="none" strike="noStrike" baseline="0" dirty="0" err="1">
                <a:solidFill>
                  <a:srgbClr val="000000"/>
                </a:solidFill>
                <a:latin typeface="Courier New" panose="02070309020205020404" pitchFamily="49" charset="0"/>
              </a:rPr>
              <a:t>nbStates</a:t>
            </a:r>
            <a:r>
              <a:rPr lang="en-US" sz="1800" b="0" i="0" u="none" strike="noStrike" baseline="0" dirty="0">
                <a:solidFill>
                  <a:srgbClr val="000000"/>
                </a:solidFill>
                <a:latin typeface="Courier New" panose="02070309020205020404" pitchFamily="49" charset="0"/>
              </a:rPr>
              <a:t>= 2,</a:t>
            </a:r>
          </a:p>
          <a:p>
            <a:pPr marL="0" indent="0">
              <a:buNone/>
            </a:pPr>
            <a:r>
              <a:rPr lang="en-US" sz="1800" dirty="0">
                <a:solidFill>
                  <a:srgbClr val="000000"/>
                </a:solidFill>
                <a:latin typeface="Courier New" panose="02070309020205020404" pitchFamily="49" charset="0"/>
              </a:rPr>
              <a:t>		</a:t>
            </a:r>
            <a:r>
              <a:rPr lang="en-US" sz="1800" dirty="0" err="1">
                <a:solidFill>
                  <a:srgbClr val="000000"/>
                </a:solidFill>
                <a:latin typeface="Courier New" panose="02070309020205020404" pitchFamily="49" charset="0"/>
              </a:rPr>
              <a:t>dist</a:t>
            </a:r>
            <a:r>
              <a:rPr lang="en-US" sz="1800" dirty="0">
                <a:solidFill>
                  <a:srgbClr val="000000"/>
                </a:solidFill>
                <a:latin typeface="Courier New" panose="02070309020205020404" pitchFamily="49" charset="0"/>
              </a:rPr>
              <a:t> = list(step = “gamma”, angle = “</a:t>
            </a:r>
            <a:r>
              <a:rPr lang="en-US" sz="1800" dirty="0" err="1">
                <a:solidFill>
                  <a:srgbClr val="000000"/>
                </a:solidFill>
                <a:latin typeface="Courier New" panose="02070309020205020404" pitchFamily="49" charset="0"/>
              </a:rPr>
              <a:t>vm</a:t>
            </a:r>
            <a:r>
              <a:rPr lang="en-US" sz="1800" dirty="0">
                <a:solidFill>
                  <a:srgbClr val="000000"/>
                </a:solidFill>
                <a:latin typeface="Courier New" panose="02070309020205020404" pitchFamily="49" charset="0"/>
              </a:rPr>
              <a:t>”),</a:t>
            </a:r>
          </a:p>
          <a:p>
            <a:pPr marL="0" indent="0">
              <a:buNone/>
            </a:pPr>
            <a:r>
              <a:rPr lang="en-US" sz="1800" b="0" i="0" u="none" strike="noStrike" baseline="0" dirty="0">
                <a:solidFill>
                  <a:srgbClr val="000000"/>
                </a:solidFill>
                <a:latin typeface="Courier New" panose="02070309020205020404" pitchFamily="49" charset="0"/>
              </a:rPr>
              <a:t>		Par0 = list(step = stepPar0, angle = anglePar0),</a:t>
            </a:r>
          </a:p>
          <a:p>
            <a:pPr marL="0" indent="0">
              <a:buNone/>
            </a:pPr>
            <a:r>
              <a:rPr lang="en-US" sz="1800" dirty="0">
                <a:solidFill>
                  <a:srgbClr val="000000"/>
                </a:solidFill>
                <a:latin typeface="Courier New" panose="02070309020205020404" pitchFamily="49" charset="0"/>
              </a:rPr>
              <a:t>		</a:t>
            </a:r>
            <a:r>
              <a:rPr lang="en-US" sz="1800" b="0" i="0" u="none" strike="noStrike" baseline="0" dirty="0">
                <a:solidFill>
                  <a:srgbClr val="000000"/>
                </a:solidFill>
                <a:latin typeface="Courier New" panose="02070309020205020404" pitchFamily="49" charset="0"/>
              </a:rPr>
              <a:t>formula = ~ 1)</a:t>
            </a:r>
          </a:p>
          <a:p>
            <a:pPr marL="0" indent="0">
              <a:buNone/>
            </a:pPr>
            <a:endParaRPr lang="en-US" sz="1800" b="0" i="0" u="none" strike="noStrike" baseline="0" dirty="0">
              <a:solidFill>
                <a:srgbClr val="000000"/>
              </a:solidFill>
              <a:latin typeface="Courier New" panose="02070309020205020404" pitchFamily="49" charset="0"/>
            </a:endParaRPr>
          </a:p>
          <a:p>
            <a:pPr marL="0" indent="0">
              <a:buNone/>
            </a:pPr>
            <a:r>
              <a:rPr lang="en-US" sz="1800" b="0" i="0" u="none" strike="noStrike" baseline="0" dirty="0">
                <a:solidFill>
                  <a:srgbClr val="000000"/>
                </a:solidFill>
                <a:latin typeface="Courier New" panose="02070309020205020404" pitchFamily="49" charset="0"/>
              </a:rPr>
              <a:t>plot(</a:t>
            </a:r>
            <a:r>
              <a:rPr lang="en-US" sz="1800" b="0" i="0" u="none" strike="noStrike" baseline="0" dirty="0" err="1">
                <a:solidFill>
                  <a:srgbClr val="000000"/>
                </a:solidFill>
                <a:latin typeface="Courier New" panose="02070309020205020404" pitchFamily="49" charset="0"/>
              </a:rPr>
              <a:t>my_mod</a:t>
            </a:r>
            <a:r>
              <a:rPr lang="en-US" sz="1800" b="0" i="0" u="none" strike="noStrike" baseline="0" dirty="0">
                <a:solidFill>
                  <a:srgbClr val="000000"/>
                </a:solidFill>
                <a:latin typeface="Courier New" panose="02070309020205020404" pitchFamily="49" charset="0"/>
              </a:rPr>
              <a:t>)</a:t>
            </a:r>
          </a:p>
        </p:txBody>
      </p:sp>
      <p:sp>
        <p:nvSpPr>
          <p:cNvPr id="7" name="TextBox 6">
            <a:extLst>
              <a:ext uri="{FF2B5EF4-FFF2-40B4-BE49-F238E27FC236}">
                <a16:creationId xmlns:a16="http://schemas.microsoft.com/office/drawing/2014/main" id="{6D70C305-662B-B024-9D4E-61C5CC5A7A19}"/>
              </a:ext>
            </a:extLst>
          </p:cNvPr>
          <p:cNvSpPr txBox="1"/>
          <p:nvPr/>
        </p:nvSpPr>
        <p:spPr>
          <a:xfrm>
            <a:off x="8516534" y="2395973"/>
            <a:ext cx="4803894" cy="338554"/>
          </a:xfrm>
          <a:prstGeom prst="rect">
            <a:avLst/>
          </a:prstGeom>
          <a:noFill/>
        </p:spPr>
        <p:txBody>
          <a:bodyPr wrap="square">
            <a:spAutoFit/>
          </a:bodyPr>
          <a:lstStyle/>
          <a:p>
            <a:pPr marL="0" indent="0">
              <a:buNone/>
            </a:pPr>
            <a:r>
              <a:rPr lang="en-US" sz="1600" b="0" i="0" u="none" strike="noStrike" baseline="0" dirty="0">
                <a:solidFill>
                  <a:srgbClr val="4471C4"/>
                </a:solidFill>
                <a:latin typeface="+mj-lt"/>
              </a:rPr>
              <a:t># Distributions </a:t>
            </a:r>
          </a:p>
        </p:txBody>
      </p:sp>
      <p:sp>
        <p:nvSpPr>
          <p:cNvPr id="8" name="TextBox 7">
            <a:extLst>
              <a:ext uri="{FF2B5EF4-FFF2-40B4-BE49-F238E27FC236}">
                <a16:creationId xmlns:a16="http://schemas.microsoft.com/office/drawing/2014/main" id="{5D3CA918-BBC6-5762-8B47-792B0113CEF3}"/>
              </a:ext>
            </a:extLst>
          </p:cNvPr>
          <p:cNvSpPr txBox="1"/>
          <p:nvPr/>
        </p:nvSpPr>
        <p:spPr>
          <a:xfrm>
            <a:off x="9262753" y="2804673"/>
            <a:ext cx="4782789" cy="338554"/>
          </a:xfrm>
          <a:prstGeom prst="rect">
            <a:avLst/>
          </a:prstGeom>
          <a:noFill/>
        </p:spPr>
        <p:txBody>
          <a:bodyPr wrap="square" rtlCol="0">
            <a:spAutoFit/>
          </a:bodyPr>
          <a:lstStyle/>
          <a:p>
            <a:r>
              <a:rPr lang="en-US" sz="1600" b="0" i="0" u="none" strike="noStrike" baseline="0" dirty="0">
                <a:solidFill>
                  <a:srgbClr val="4471C4"/>
                </a:solidFill>
                <a:latin typeface="+mj-lt"/>
              </a:rPr>
              <a:t># Starting values</a:t>
            </a:r>
          </a:p>
        </p:txBody>
      </p:sp>
      <p:grpSp>
        <p:nvGrpSpPr>
          <p:cNvPr id="12" name="Group 11">
            <a:extLst>
              <a:ext uri="{FF2B5EF4-FFF2-40B4-BE49-F238E27FC236}">
                <a16:creationId xmlns:a16="http://schemas.microsoft.com/office/drawing/2014/main" id="{657D0892-3C85-64D5-4C2B-D35A0E0D0600}"/>
              </a:ext>
            </a:extLst>
          </p:cNvPr>
          <p:cNvGrpSpPr/>
          <p:nvPr/>
        </p:nvGrpSpPr>
        <p:grpSpPr>
          <a:xfrm>
            <a:off x="4667001" y="3482114"/>
            <a:ext cx="7524999" cy="855017"/>
            <a:chOff x="4667001" y="3482114"/>
            <a:chExt cx="7524999" cy="855017"/>
          </a:xfrm>
        </p:grpSpPr>
        <p:sp>
          <p:nvSpPr>
            <p:cNvPr id="9" name="TextBox 8">
              <a:extLst>
                <a:ext uri="{FF2B5EF4-FFF2-40B4-BE49-F238E27FC236}">
                  <a16:creationId xmlns:a16="http://schemas.microsoft.com/office/drawing/2014/main" id="{290EC748-5449-6A42-0839-7C4C0EA1B9D1}"/>
                </a:ext>
              </a:extLst>
            </p:cNvPr>
            <p:cNvSpPr txBox="1"/>
            <p:nvPr/>
          </p:nvSpPr>
          <p:spPr>
            <a:xfrm>
              <a:off x="5332020" y="3752356"/>
              <a:ext cx="6859980" cy="584775"/>
            </a:xfrm>
            <a:prstGeom prst="rect">
              <a:avLst/>
            </a:prstGeom>
            <a:noFill/>
          </p:spPr>
          <p:txBody>
            <a:bodyPr wrap="square" rtlCol="0">
              <a:spAutoFit/>
            </a:bodyPr>
            <a:lstStyle/>
            <a:p>
              <a:r>
                <a:rPr lang="en-US" sz="1600" b="0" i="0" u="none" strike="noStrike" baseline="0" dirty="0">
                  <a:solidFill>
                    <a:srgbClr val="FF0000"/>
                  </a:solidFill>
                </a:rPr>
                <a:t>Ability to investigate impact of covariates on transition probabilities</a:t>
              </a:r>
              <a:endParaRPr lang="en-US" sz="1600" dirty="0"/>
            </a:p>
            <a:p>
              <a:endParaRPr lang="en-US" sz="1600" dirty="0"/>
            </a:p>
          </p:txBody>
        </p:sp>
        <p:cxnSp>
          <p:nvCxnSpPr>
            <p:cNvPr id="11" name="Straight Arrow Connector 10">
              <a:extLst>
                <a:ext uri="{FF2B5EF4-FFF2-40B4-BE49-F238E27FC236}">
                  <a16:creationId xmlns:a16="http://schemas.microsoft.com/office/drawing/2014/main" id="{D8A77442-408E-EF12-8F8F-C418DCCE0CAA}"/>
                </a:ext>
              </a:extLst>
            </p:cNvPr>
            <p:cNvCxnSpPr/>
            <p:nvPr/>
          </p:nvCxnSpPr>
          <p:spPr>
            <a:xfrm flipH="1" flipV="1">
              <a:off x="4667001" y="3482114"/>
              <a:ext cx="665019" cy="34194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89FDEC41-5877-8058-90F1-50314B1A1FD5}"/>
              </a:ext>
            </a:extLst>
          </p:cNvPr>
          <p:cNvSpPr txBox="1"/>
          <p:nvPr/>
        </p:nvSpPr>
        <p:spPr>
          <a:xfrm>
            <a:off x="6730229" y="2029318"/>
            <a:ext cx="4803894" cy="338554"/>
          </a:xfrm>
          <a:prstGeom prst="rect">
            <a:avLst/>
          </a:prstGeom>
          <a:noFill/>
        </p:spPr>
        <p:txBody>
          <a:bodyPr wrap="square">
            <a:spAutoFit/>
          </a:bodyPr>
          <a:lstStyle/>
          <a:p>
            <a:pPr marL="0" indent="0">
              <a:buNone/>
            </a:pPr>
            <a:r>
              <a:rPr lang="en-US" sz="1600" b="0" i="0" u="none" strike="noStrike" baseline="0" dirty="0">
                <a:solidFill>
                  <a:srgbClr val="4471C4"/>
                </a:solidFill>
                <a:latin typeface="+mj-lt"/>
              </a:rPr>
              <a:t># Needs to be specified (≤ 4) </a:t>
            </a:r>
          </a:p>
        </p:txBody>
      </p:sp>
    </p:spTree>
    <p:extLst>
      <p:ext uri="{BB962C8B-B14F-4D97-AF65-F5344CB8AC3E}">
        <p14:creationId xmlns:p14="http://schemas.microsoft.com/office/powerpoint/2010/main" val="2536468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a bird&#10;&#10;Description automatically generated with medium confidence">
            <a:extLst>
              <a:ext uri="{FF2B5EF4-FFF2-40B4-BE49-F238E27FC236}">
                <a16:creationId xmlns:a16="http://schemas.microsoft.com/office/drawing/2014/main" id="{37D667D3-7EF2-B0EB-D372-89B1339348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1047" y="127591"/>
            <a:ext cx="9385945" cy="6293259"/>
          </a:xfrm>
          <a:prstGeom prst="rect">
            <a:avLst/>
          </a:prstGeom>
        </p:spPr>
      </p:pic>
    </p:spTree>
    <p:extLst>
      <p:ext uri="{BB962C8B-B14F-4D97-AF65-F5344CB8AC3E}">
        <p14:creationId xmlns:p14="http://schemas.microsoft.com/office/powerpoint/2010/main" val="2574475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22A073-160A-293C-4DB1-EEB55C506611}"/>
              </a:ext>
            </a:extLst>
          </p:cNvPr>
          <p:cNvPicPr>
            <a:picLocks noChangeAspect="1"/>
          </p:cNvPicPr>
          <p:nvPr/>
        </p:nvPicPr>
        <p:blipFill>
          <a:blip r:embed="rId3"/>
          <a:stretch>
            <a:fillRect/>
          </a:stretch>
        </p:blipFill>
        <p:spPr>
          <a:xfrm>
            <a:off x="0" y="306422"/>
            <a:ext cx="12214433" cy="5838275"/>
          </a:xfrm>
          <a:prstGeom prst="rect">
            <a:avLst/>
          </a:prstGeom>
        </p:spPr>
      </p:pic>
      <p:sp>
        <p:nvSpPr>
          <p:cNvPr id="3" name="TextBox 2">
            <a:extLst>
              <a:ext uri="{FF2B5EF4-FFF2-40B4-BE49-F238E27FC236}">
                <a16:creationId xmlns:a16="http://schemas.microsoft.com/office/drawing/2014/main" id="{D871318B-E20C-FEE9-7B5B-3A37F9D04C1A}"/>
              </a:ext>
            </a:extLst>
          </p:cNvPr>
          <p:cNvSpPr txBox="1"/>
          <p:nvPr/>
        </p:nvSpPr>
        <p:spPr>
          <a:xfrm>
            <a:off x="7370064" y="5960031"/>
            <a:ext cx="4771440" cy="369332"/>
          </a:xfrm>
          <a:prstGeom prst="rect">
            <a:avLst/>
          </a:prstGeom>
          <a:noFill/>
        </p:spPr>
        <p:txBody>
          <a:bodyPr wrap="square">
            <a:spAutoFit/>
          </a:bodyPr>
          <a:lstStyle/>
          <a:p>
            <a:pPr algn="r"/>
            <a:r>
              <a:rPr lang="en-US" sz="1800" b="0" i="0" u="none" strike="noStrike" baseline="0" dirty="0">
                <a:solidFill>
                  <a:srgbClr val="000000"/>
                </a:solidFill>
                <a:latin typeface="Century Gothic" panose="020B0502020202020204" pitchFamily="34" charset="0"/>
              </a:rPr>
              <a:t>Postlethwaite and Dennis 2013</a:t>
            </a:r>
            <a:endParaRPr lang="en-US" dirty="0">
              <a:latin typeface="Century Gothic" panose="020B0502020202020204" pitchFamily="34" charset="0"/>
            </a:endParaRPr>
          </a:p>
        </p:txBody>
      </p:sp>
    </p:spTree>
    <p:extLst>
      <p:ext uri="{BB962C8B-B14F-4D97-AF65-F5344CB8AC3E}">
        <p14:creationId xmlns:p14="http://schemas.microsoft.com/office/powerpoint/2010/main" val="1668391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8E4D343-E403-96F1-07FE-A9B868F8B2C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Challenges to HMMs</a:t>
            </a:r>
            <a:br>
              <a:rPr lang="en-US" sz="3200" b="1" dirty="0">
                <a:solidFill>
                  <a:srgbClr val="000000"/>
                </a:solidFill>
              </a:rPr>
            </a:br>
            <a:endParaRPr lang="en-US" sz="3200" b="1" dirty="0"/>
          </a:p>
        </p:txBody>
      </p:sp>
      <p:sp>
        <p:nvSpPr>
          <p:cNvPr id="5" name="Content Placeholder 2">
            <a:extLst>
              <a:ext uri="{FF2B5EF4-FFF2-40B4-BE49-F238E27FC236}">
                <a16:creationId xmlns:a16="http://schemas.microsoft.com/office/drawing/2014/main" id="{1A7E6DF1-1F3D-2A2F-4B4E-8D7EAEEB7444}"/>
              </a:ext>
            </a:extLst>
          </p:cNvPr>
          <p:cNvSpPr txBox="1">
            <a:spLocks/>
          </p:cNvSpPr>
          <p:nvPr/>
        </p:nvSpPr>
        <p:spPr>
          <a:xfrm>
            <a:off x="969484" y="1420465"/>
            <a:ext cx="10515600" cy="3478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rgbClr val="000000"/>
                </a:solidFill>
                <a:latin typeface="Century Gothic" panose="020B0502020202020204" pitchFamily="34" charset="0"/>
              </a:rPr>
              <a:t>Starting parameters values and correct distributional forms</a:t>
            </a:r>
          </a:p>
          <a:p>
            <a:r>
              <a:rPr lang="en-US" sz="2400" dirty="0">
                <a:solidFill>
                  <a:srgbClr val="000000"/>
                </a:solidFill>
                <a:latin typeface="Century Gothic" panose="020B0502020202020204" pitchFamily="34" charset="0"/>
              </a:rPr>
              <a:t>Choosing the # of states to model (</a:t>
            </a:r>
            <a:r>
              <a:rPr lang="en-US" sz="2400" dirty="0" err="1">
                <a:solidFill>
                  <a:srgbClr val="000000"/>
                </a:solidFill>
                <a:latin typeface="Century Gothic" panose="020B0502020202020204" pitchFamily="34" charset="0"/>
              </a:rPr>
              <a:t>Pohle</a:t>
            </a:r>
            <a:r>
              <a:rPr lang="en-US" sz="2400" dirty="0">
                <a:solidFill>
                  <a:srgbClr val="000000"/>
                </a:solidFill>
                <a:latin typeface="Century Gothic" panose="020B0502020202020204" pitchFamily="34" charset="0"/>
              </a:rPr>
              <a:t> et al. 2017)</a:t>
            </a:r>
          </a:p>
          <a:p>
            <a:r>
              <a:rPr lang="en-US" sz="2400" dirty="0">
                <a:solidFill>
                  <a:srgbClr val="000000"/>
                </a:solidFill>
                <a:latin typeface="Century Gothic" panose="020B0502020202020204" pitchFamily="34" charset="0"/>
              </a:rPr>
              <a:t>Impact of sampling schedule (P</a:t>
            </a:r>
            <a:r>
              <a:rPr lang="en-US" sz="2400" b="0" i="0" u="none" strike="noStrike" baseline="0" dirty="0">
                <a:solidFill>
                  <a:srgbClr val="000000"/>
                </a:solidFill>
                <a:latin typeface="Avenir Next LT Pro" panose="020B0504020202020204" pitchFamily="34" charset="0"/>
              </a:rPr>
              <a:t>ostlethwaite and Dennis, 2013)</a:t>
            </a:r>
          </a:p>
          <a:p>
            <a:pPr lvl="1"/>
            <a:r>
              <a:rPr lang="en-US" sz="2000" dirty="0">
                <a:solidFill>
                  <a:srgbClr val="000000"/>
                </a:solidFill>
                <a:latin typeface="+mj-lt"/>
              </a:rPr>
              <a:t>Higher resolution tends to improve identification of behavioral states as long as error is much smaller than step length</a:t>
            </a:r>
            <a:endParaRPr lang="en-US" sz="2000" b="0" i="0" u="none" strike="noStrike" baseline="0" dirty="0">
              <a:solidFill>
                <a:srgbClr val="000000"/>
              </a:solidFill>
              <a:latin typeface="+mj-lt"/>
            </a:endParaRPr>
          </a:p>
          <a:p>
            <a:r>
              <a:rPr lang="en-US" sz="2400" dirty="0">
                <a:solidFill>
                  <a:srgbClr val="000000"/>
                </a:solidFill>
                <a:latin typeface="Avenir Next LT Pro" panose="020B0504020202020204" pitchFamily="34" charset="0"/>
              </a:rPr>
              <a:t>Irregular sampling</a:t>
            </a:r>
          </a:p>
          <a:p>
            <a:pPr lvl="1"/>
            <a:r>
              <a:rPr lang="en-US" sz="2000" b="0" i="0" u="none" strike="noStrike" baseline="0" dirty="0">
                <a:solidFill>
                  <a:srgbClr val="000000"/>
                </a:solidFill>
                <a:latin typeface="+mj-lt"/>
              </a:rPr>
              <a:t>State space models with </a:t>
            </a:r>
            <a:r>
              <a:rPr lang="en-US" sz="2000" b="0" i="0" u="none" strike="noStrike" baseline="0" dirty="0">
                <a:solidFill>
                  <a:srgbClr val="000000"/>
                </a:solidFill>
                <a:latin typeface="Courier New" panose="02070309020205020404" pitchFamily="49" charset="0"/>
              </a:rPr>
              <a:t>crawl </a:t>
            </a:r>
            <a:r>
              <a:rPr lang="en-US" sz="2000" b="0" i="0" u="none" strike="noStrike" baseline="0" dirty="0">
                <a:solidFill>
                  <a:srgbClr val="000000"/>
                </a:solidFill>
                <a:latin typeface="+mj-lt"/>
              </a:rPr>
              <a:t>or </a:t>
            </a:r>
            <a:r>
              <a:rPr lang="en-US" sz="2000" b="0" i="0" u="none" strike="noStrike" baseline="0" dirty="0" err="1">
                <a:solidFill>
                  <a:srgbClr val="000000"/>
                </a:solidFill>
                <a:latin typeface="Courier New" panose="02070309020205020404" pitchFamily="49" charset="0"/>
              </a:rPr>
              <a:t>aniMotum</a:t>
            </a:r>
            <a:r>
              <a:rPr lang="en-US" sz="2000" b="0" i="0" u="none" strike="noStrike" baseline="0" dirty="0">
                <a:solidFill>
                  <a:srgbClr val="000000"/>
                </a:solidFill>
                <a:latin typeface="Courier New" panose="02070309020205020404" pitchFamily="49" charset="0"/>
              </a:rPr>
              <a:t> or </a:t>
            </a:r>
            <a:r>
              <a:rPr lang="en-US" sz="2000" b="0" i="0" u="none" strike="noStrike" baseline="0" dirty="0">
                <a:solidFill>
                  <a:srgbClr val="000000"/>
                </a:solidFill>
                <a:latin typeface="Century Gothic" panose="020B0502020202020204" pitchFamily="34" charset="0"/>
              </a:rPr>
              <a:t>continuous time models with </a:t>
            </a:r>
            <a:r>
              <a:rPr lang="en-US" sz="2000" b="0" i="0" u="none" strike="noStrike" baseline="0" dirty="0" err="1">
                <a:solidFill>
                  <a:srgbClr val="000000"/>
                </a:solidFill>
                <a:latin typeface="Courier New" panose="02070309020205020404" pitchFamily="49" charset="0"/>
              </a:rPr>
              <a:t>ctmm</a:t>
            </a:r>
            <a:endParaRPr lang="en-US" sz="2000" b="0" i="0" u="none" strike="noStrike" baseline="0" dirty="0">
              <a:solidFill>
                <a:srgbClr val="000000"/>
              </a:solidFill>
              <a:latin typeface="+mj-lt"/>
            </a:endParaRPr>
          </a:p>
        </p:txBody>
      </p:sp>
    </p:spTree>
    <p:extLst>
      <p:ext uri="{BB962C8B-B14F-4D97-AF65-F5344CB8AC3E}">
        <p14:creationId xmlns:p14="http://schemas.microsoft.com/office/powerpoint/2010/main" val="42477305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FABFC51-4893-07E0-77DE-DF6497684D21}"/>
              </a:ext>
            </a:extLst>
          </p:cNvPr>
          <p:cNvPicPr>
            <a:picLocks noChangeAspect="1"/>
          </p:cNvPicPr>
          <p:nvPr/>
        </p:nvPicPr>
        <p:blipFill rotWithShape="1">
          <a:blip r:embed="rId3"/>
          <a:srcRect b="19001"/>
          <a:stretch/>
        </p:blipFill>
        <p:spPr>
          <a:xfrm>
            <a:off x="151730" y="2208809"/>
            <a:ext cx="6722743" cy="3827609"/>
          </a:xfrm>
          <a:prstGeom prst="rect">
            <a:avLst/>
          </a:prstGeom>
        </p:spPr>
      </p:pic>
      <p:pic>
        <p:nvPicPr>
          <p:cNvPr id="5" name="Picture 4">
            <a:extLst>
              <a:ext uri="{FF2B5EF4-FFF2-40B4-BE49-F238E27FC236}">
                <a16:creationId xmlns:a16="http://schemas.microsoft.com/office/drawing/2014/main" id="{A61A141B-1F05-0A9C-58BD-88FA4DCC2E8A}"/>
              </a:ext>
            </a:extLst>
          </p:cNvPr>
          <p:cNvPicPr>
            <a:picLocks noChangeAspect="1"/>
          </p:cNvPicPr>
          <p:nvPr/>
        </p:nvPicPr>
        <p:blipFill>
          <a:blip r:embed="rId4"/>
          <a:stretch>
            <a:fillRect/>
          </a:stretch>
        </p:blipFill>
        <p:spPr>
          <a:xfrm>
            <a:off x="7887373" y="5319887"/>
            <a:ext cx="4221498" cy="993965"/>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9295E781-5852-468D-1186-F7549C10C57F}"/>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pic>
        <p:nvPicPr>
          <p:cNvPr id="10" name="Picture 9">
            <a:extLst>
              <a:ext uri="{FF2B5EF4-FFF2-40B4-BE49-F238E27FC236}">
                <a16:creationId xmlns:a16="http://schemas.microsoft.com/office/drawing/2014/main" id="{2149552D-DB4C-5ABD-0B53-199A4501989B}"/>
              </a:ext>
            </a:extLst>
          </p:cNvPr>
          <p:cNvPicPr>
            <a:picLocks noChangeAspect="1"/>
          </p:cNvPicPr>
          <p:nvPr/>
        </p:nvPicPr>
        <p:blipFill rotWithShape="1">
          <a:blip r:embed="rId5"/>
          <a:srcRect b="11402"/>
          <a:stretch/>
        </p:blipFill>
        <p:spPr>
          <a:xfrm>
            <a:off x="6850153" y="0"/>
            <a:ext cx="4221498" cy="5143954"/>
          </a:xfrm>
          <a:prstGeom prst="rect">
            <a:avLst/>
          </a:prstGeom>
        </p:spPr>
      </p:pic>
      <p:sp>
        <p:nvSpPr>
          <p:cNvPr id="11" name="Content Placeholder 2">
            <a:extLst>
              <a:ext uri="{FF2B5EF4-FFF2-40B4-BE49-F238E27FC236}">
                <a16:creationId xmlns:a16="http://schemas.microsoft.com/office/drawing/2014/main" id="{709AC01A-B934-CBE8-C54E-A9235034FF74}"/>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Humpback whales</a:t>
            </a:r>
          </a:p>
        </p:txBody>
      </p:sp>
    </p:spTree>
    <p:extLst>
      <p:ext uri="{BB962C8B-B14F-4D97-AF65-F5344CB8AC3E}">
        <p14:creationId xmlns:p14="http://schemas.microsoft.com/office/powerpoint/2010/main" val="27907391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E5FB656-3AEC-70A7-E91D-13DF1474A922}"/>
              </a:ext>
            </a:extLst>
          </p:cNvPr>
          <p:cNvPicPr>
            <a:picLocks noChangeAspect="1"/>
          </p:cNvPicPr>
          <p:nvPr/>
        </p:nvPicPr>
        <p:blipFill rotWithShape="1">
          <a:blip r:embed="rId3"/>
          <a:srcRect b="12434"/>
          <a:stretch/>
        </p:blipFill>
        <p:spPr>
          <a:xfrm>
            <a:off x="1414115" y="1448031"/>
            <a:ext cx="9423157" cy="4905268"/>
          </a:xfrm>
          <a:prstGeom prst="rect">
            <a:avLst/>
          </a:prstGeom>
        </p:spPr>
      </p:pic>
      <p:pic>
        <p:nvPicPr>
          <p:cNvPr id="5" name="Picture 4">
            <a:extLst>
              <a:ext uri="{FF2B5EF4-FFF2-40B4-BE49-F238E27FC236}">
                <a16:creationId xmlns:a16="http://schemas.microsoft.com/office/drawing/2014/main" id="{29AA7E6B-0015-F857-1CEC-DF7EA4C83668}"/>
              </a:ext>
            </a:extLst>
          </p:cNvPr>
          <p:cNvPicPr>
            <a:picLocks noChangeAspect="1"/>
          </p:cNvPicPr>
          <p:nvPr/>
        </p:nvPicPr>
        <p:blipFill>
          <a:blip r:embed="rId4"/>
          <a:stretch>
            <a:fillRect/>
          </a:stretch>
        </p:blipFill>
        <p:spPr>
          <a:xfrm>
            <a:off x="8478983" y="114821"/>
            <a:ext cx="3514550" cy="1186806"/>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5D7403EA-D47B-2F1D-8CB6-8C1F76AA6A3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7" name="Content Placeholder 2">
            <a:extLst>
              <a:ext uri="{FF2B5EF4-FFF2-40B4-BE49-F238E27FC236}">
                <a16:creationId xmlns:a16="http://schemas.microsoft.com/office/drawing/2014/main" id="{8E89E664-D3F4-3311-95A8-725AA170EFB7}"/>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White sharks</a:t>
            </a:r>
          </a:p>
        </p:txBody>
      </p:sp>
    </p:spTree>
    <p:extLst>
      <p:ext uri="{BB962C8B-B14F-4D97-AF65-F5344CB8AC3E}">
        <p14:creationId xmlns:p14="http://schemas.microsoft.com/office/powerpoint/2010/main" val="2030565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95B28-469D-456F-E149-DBA3DD45F9D4}"/>
              </a:ext>
            </a:extLst>
          </p:cNvPr>
          <p:cNvPicPr>
            <a:picLocks noChangeAspect="1"/>
          </p:cNvPicPr>
          <p:nvPr/>
        </p:nvPicPr>
        <p:blipFill>
          <a:blip r:embed="rId3"/>
          <a:stretch>
            <a:fillRect/>
          </a:stretch>
        </p:blipFill>
        <p:spPr>
          <a:xfrm>
            <a:off x="8755035" y="189912"/>
            <a:ext cx="3202858" cy="1202108"/>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D2423119-BDFC-20DD-5D3C-34ED838E21B3}"/>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7" name="Content Placeholder 2">
            <a:extLst>
              <a:ext uri="{FF2B5EF4-FFF2-40B4-BE49-F238E27FC236}">
                <a16:creationId xmlns:a16="http://schemas.microsoft.com/office/drawing/2014/main" id="{0763D88C-3DF0-1858-4DF6-215074FE45D0}"/>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Black bears</a:t>
            </a:r>
          </a:p>
        </p:txBody>
      </p:sp>
      <p:pic>
        <p:nvPicPr>
          <p:cNvPr id="10" name="Picture 9">
            <a:extLst>
              <a:ext uri="{FF2B5EF4-FFF2-40B4-BE49-F238E27FC236}">
                <a16:creationId xmlns:a16="http://schemas.microsoft.com/office/drawing/2014/main" id="{F5861BC6-536A-FD03-42D8-A46494586F76}"/>
              </a:ext>
            </a:extLst>
          </p:cNvPr>
          <p:cNvPicPr>
            <a:picLocks noChangeAspect="1"/>
          </p:cNvPicPr>
          <p:nvPr/>
        </p:nvPicPr>
        <p:blipFill>
          <a:blip r:embed="rId4"/>
          <a:stretch>
            <a:fillRect/>
          </a:stretch>
        </p:blipFill>
        <p:spPr>
          <a:xfrm>
            <a:off x="674803" y="1781299"/>
            <a:ext cx="6111547" cy="4342978"/>
          </a:xfrm>
          <a:prstGeom prst="rect">
            <a:avLst/>
          </a:prstGeom>
        </p:spPr>
      </p:pic>
      <p:sp>
        <p:nvSpPr>
          <p:cNvPr id="13" name="Rectangle 12">
            <a:extLst>
              <a:ext uri="{FF2B5EF4-FFF2-40B4-BE49-F238E27FC236}">
                <a16:creationId xmlns:a16="http://schemas.microsoft.com/office/drawing/2014/main" id="{31074A89-6955-FFB3-98B0-677BC9540B55}"/>
              </a:ext>
            </a:extLst>
          </p:cNvPr>
          <p:cNvSpPr/>
          <p:nvPr/>
        </p:nvSpPr>
        <p:spPr>
          <a:xfrm>
            <a:off x="5617029" y="3289465"/>
            <a:ext cx="1009403" cy="7965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4456C346-A9C1-7918-9774-B9658D8BAB89}"/>
              </a:ext>
            </a:extLst>
          </p:cNvPr>
          <p:cNvPicPr>
            <a:picLocks noChangeAspect="1"/>
          </p:cNvPicPr>
          <p:nvPr/>
        </p:nvPicPr>
        <p:blipFill>
          <a:blip r:embed="rId5"/>
          <a:stretch>
            <a:fillRect/>
          </a:stretch>
        </p:blipFill>
        <p:spPr>
          <a:xfrm>
            <a:off x="6143501" y="1781299"/>
            <a:ext cx="5790520" cy="4441273"/>
          </a:xfrm>
          <a:prstGeom prst="rect">
            <a:avLst/>
          </a:prstGeom>
        </p:spPr>
      </p:pic>
      <p:sp>
        <p:nvSpPr>
          <p:cNvPr id="14" name="TextBox 13">
            <a:extLst>
              <a:ext uri="{FF2B5EF4-FFF2-40B4-BE49-F238E27FC236}">
                <a16:creationId xmlns:a16="http://schemas.microsoft.com/office/drawing/2014/main" id="{66145727-7141-F147-1126-2E01ED5C11EE}"/>
              </a:ext>
            </a:extLst>
          </p:cNvPr>
          <p:cNvSpPr txBox="1"/>
          <p:nvPr/>
        </p:nvSpPr>
        <p:spPr>
          <a:xfrm>
            <a:off x="65600" y="2428234"/>
            <a:ext cx="734496" cy="307777"/>
          </a:xfrm>
          <a:prstGeom prst="rect">
            <a:avLst/>
          </a:prstGeom>
          <a:noFill/>
        </p:spPr>
        <p:txBody>
          <a:bodyPr wrap="none" rtlCol="0">
            <a:spAutoFit/>
          </a:bodyPr>
          <a:lstStyle/>
          <a:p>
            <a:r>
              <a:rPr lang="en-US" sz="1400" dirty="0"/>
              <a:t>Winter</a:t>
            </a:r>
          </a:p>
        </p:txBody>
      </p:sp>
      <p:sp>
        <p:nvSpPr>
          <p:cNvPr id="15" name="TextBox 14">
            <a:extLst>
              <a:ext uri="{FF2B5EF4-FFF2-40B4-BE49-F238E27FC236}">
                <a16:creationId xmlns:a16="http://schemas.microsoft.com/office/drawing/2014/main" id="{77531B7A-22AC-4433-58FC-3DD9017B0A26}"/>
              </a:ext>
            </a:extLst>
          </p:cNvPr>
          <p:cNvSpPr txBox="1"/>
          <p:nvPr/>
        </p:nvSpPr>
        <p:spPr>
          <a:xfrm>
            <a:off x="81151" y="3662775"/>
            <a:ext cx="891591" cy="307777"/>
          </a:xfrm>
          <a:prstGeom prst="rect">
            <a:avLst/>
          </a:prstGeom>
          <a:noFill/>
        </p:spPr>
        <p:txBody>
          <a:bodyPr wrap="none" rtlCol="0">
            <a:spAutoFit/>
          </a:bodyPr>
          <a:lstStyle/>
          <a:p>
            <a:r>
              <a:rPr lang="en-US" sz="1400" dirty="0"/>
              <a:t>Summer</a:t>
            </a:r>
          </a:p>
        </p:txBody>
      </p:sp>
      <p:sp>
        <p:nvSpPr>
          <p:cNvPr id="16" name="TextBox 15">
            <a:extLst>
              <a:ext uri="{FF2B5EF4-FFF2-40B4-BE49-F238E27FC236}">
                <a16:creationId xmlns:a16="http://schemas.microsoft.com/office/drawing/2014/main" id="{BED18DDD-4629-5EB8-FF83-9F0FCA545D5F}"/>
              </a:ext>
            </a:extLst>
          </p:cNvPr>
          <p:cNvSpPr txBox="1"/>
          <p:nvPr/>
        </p:nvSpPr>
        <p:spPr>
          <a:xfrm>
            <a:off x="62754" y="4908656"/>
            <a:ext cx="465192" cy="307777"/>
          </a:xfrm>
          <a:prstGeom prst="rect">
            <a:avLst/>
          </a:prstGeom>
          <a:noFill/>
        </p:spPr>
        <p:txBody>
          <a:bodyPr wrap="none" rtlCol="0">
            <a:spAutoFit/>
          </a:bodyPr>
          <a:lstStyle/>
          <a:p>
            <a:r>
              <a:rPr lang="en-US" sz="1400" dirty="0"/>
              <a:t>Fall</a:t>
            </a:r>
          </a:p>
        </p:txBody>
      </p:sp>
    </p:spTree>
    <p:extLst>
      <p:ext uri="{BB962C8B-B14F-4D97-AF65-F5344CB8AC3E}">
        <p14:creationId xmlns:p14="http://schemas.microsoft.com/office/powerpoint/2010/main" val="35921456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36BE2B3-53A8-66AD-9577-C1DF401C8D77}"/>
              </a:ext>
            </a:extLst>
          </p:cNvPr>
          <p:cNvPicPr>
            <a:picLocks noChangeAspect="1"/>
          </p:cNvPicPr>
          <p:nvPr/>
        </p:nvPicPr>
        <p:blipFill>
          <a:blip r:embed="rId3"/>
          <a:stretch>
            <a:fillRect/>
          </a:stretch>
        </p:blipFill>
        <p:spPr>
          <a:xfrm>
            <a:off x="1839010" y="926275"/>
            <a:ext cx="8827216" cy="5402986"/>
          </a:xfrm>
          <a:prstGeom prst="rect">
            <a:avLst/>
          </a:prstGeom>
        </p:spPr>
      </p:pic>
      <p:pic>
        <p:nvPicPr>
          <p:cNvPr id="6" name="Picture 5">
            <a:extLst>
              <a:ext uri="{FF2B5EF4-FFF2-40B4-BE49-F238E27FC236}">
                <a16:creationId xmlns:a16="http://schemas.microsoft.com/office/drawing/2014/main" id="{30B4319F-9470-C945-884E-761E598B0367}"/>
              </a:ext>
            </a:extLst>
          </p:cNvPr>
          <p:cNvPicPr>
            <a:picLocks noChangeAspect="1"/>
          </p:cNvPicPr>
          <p:nvPr/>
        </p:nvPicPr>
        <p:blipFill>
          <a:blip r:embed="rId4"/>
          <a:stretch>
            <a:fillRect/>
          </a:stretch>
        </p:blipFill>
        <p:spPr>
          <a:xfrm>
            <a:off x="7931753" y="109130"/>
            <a:ext cx="4144171" cy="977462"/>
          </a:xfrm>
          <a:prstGeom prst="rect">
            <a:avLst/>
          </a:prstGeom>
          <a:effectLst>
            <a:outerShdw blurRad="50800" dist="38100" dir="2700000" algn="tl" rotWithShape="0">
              <a:prstClr val="black">
                <a:alpha val="40000"/>
              </a:prstClr>
            </a:outerShdw>
          </a:effectLst>
        </p:spPr>
      </p:pic>
      <p:sp>
        <p:nvSpPr>
          <p:cNvPr id="10" name="Content Placeholder 2">
            <a:extLst>
              <a:ext uri="{FF2B5EF4-FFF2-40B4-BE49-F238E27FC236}">
                <a16:creationId xmlns:a16="http://schemas.microsoft.com/office/drawing/2014/main" id="{C76A4B64-63E5-5DBD-FA2F-22FC97AE2331}"/>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Plains zebra</a:t>
            </a:r>
          </a:p>
        </p:txBody>
      </p:sp>
      <p:sp>
        <p:nvSpPr>
          <p:cNvPr id="2" name="Title 1">
            <a:extLst>
              <a:ext uri="{FF2B5EF4-FFF2-40B4-BE49-F238E27FC236}">
                <a16:creationId xmlns:a16="http://schemas.microsoft.com/office/drawing/2014/main" id="{39C317FC-C373-42DA-BD34-BE9D7137F610}"/>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Tree>
    <p:extLst>
      <p:ext uri="{BB962C8B-B14F-4D97-AF65-F5344CB8AC3E}">
        <p14:creationId xmlns:p14="http://schemas.microsoft.com/office/powerpoint/2010/main" val="1604556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DBBC0C-73CC-29FB-2A11-CD401788A449}"/>
              </a:ext>
            </a:extLst>
          </p:cNvPr>
          <p:cNvPicPr>
            <a:picLocks noChangeAspect="1"/>
          </p:cNvPicPr>
          <p:nvPr/>
        </p:nvPicPr>
        <p:blipFill>
          <a:blip r:embed="rId2"/>
          <a:stretch>
            <a:fillRect/>
          </a:stretch>
        </p:blipFill>
        <p:spPr>
          <a:xfrm>
            <a:off x="7796232" y="85543"/>
            <a:ext cx="4291675" cy="1325563"/>
          </a:xfrm>
          <a:prstGeom prst="rect">
            <a:avLst/>
          </a:prstGeom>
          <a:effectLst>
            <a:outerShdw blurRad="50800" dist="38100" dir="2700000" algn="tl" rotWithShape="0">
              <a:prstClr val="black">
                <a:alpha val="40000"/>
              </a:prstClr>
            </a:outerShdw>
          </a:effectLst>
        </p:spPr>
      </p:pic>
      <p:sp>
        <p:nvSpPr>
          <p:cNvPr id="4" name="Title 1">
            <a:extLst>
              <a:ext uri="{FF2B5EF4-FFF2-40B4-BE49-F238E27FC236}">
                <a16:creationId xmlns:a16="http://schemas.microsoft.com/office/drawing/2014/main" id="{5F5CB036-49B3-7911-0438-78B8FDB7BEF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5" name="Content Placeholder 2">
            <a:extLst>
              <a:ext uri="{FF2B5EF4-FFF2-40B4-BE49-F238E27FC236}">
                <a16:creationId xmlns:a16="http://schemas.microsoft.com/office/drawing/2014/main" id="{65637429-5341-0104-56D7-C9D78E6881AF}"/>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Albatross</a:t>
            </a:r>
          </a:p>
        </p:txBody>
      </p:sp>
      <p:pic>
        <p:nvPicPr>
          <p:cNvPr id="7" name="Picture 6">
            <a:extLst>
              <a:ext uri="{FF2B5EF4-FFF2-40B4-BE49-F238E27FC236}">
                <a16:creationId xmlns:a16="http://schemas.microsoft.com/office/drawing/2014/main" id="{54D9E5D1-CE16-75A9-FBF6-C95C7FB3A491}"/>
              </a:ext>
            </a:extLst>
          </p:cNvPr>
          <p:cNvPicPr>
            <a:picLocks noChangeAspect="1"/>
          </p:cNvPicPr>
          <p:nvPr/>
        </p:nvPicPr>
        <p:blipFill>
          <a:blip r:embed="rId3"/>
          <a:stretch>
            <a:fillRect/>
          </a:stretch>
        </p:blipFill>
        <p:spPr>
          <a:xfrm>
            <a:off x="2079172" y="1615730"/>
            <a:ext cx="7849948" cy="4716930"/>
          </a:xfrm>
          <a:prstGeom prst="rect">
            <a:avLst/>
          </a:prstGeom>
        </p:spPr>
      </p:pic>
    </p:spTree>
    <p:extLst>
      <p:ext uri="{BB962C8B-B14F-4D97-AF65-F5344CB8AC3E}">
        <p14:creationId xmlns:p14="http://schemas.microsoft.com/office/powerpoint/2010/main" val="35170562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7664B6-E591-768E-08A1-E2467FE3AA0A}"/>
              </a:ext>
            </a:extLst>
          </p:cNvPr>
          <p:cNvSpPr>
            <a:spLocks noGrp="1"/>
          </p:cNvSpPr>
          <p:nvPr>
            <p:ph idx="4294967295"/>
          </p:nvPr>
        </p:nvSpPr>
        <p:spPr>
          <a:xfrm>
            <a:off x="605641" y="1164664"/>
            <a:ext cx="10770919" cy="5069881"/>
          </a:xfrm>
        </p:spPr>
        <p:txBody>
          <a:bodyPr>
            <a:normAutofit/>
          </a:bodyPr>
          <a:lstStyle/>
          <a:p>
            <a:r>
              <a:rPr lang="en-US" sz="1600" b="0" i="0" u="none" strike="noStrike" baseline="0" dirty="0">
                <a:solidFill>
                  <a:srgbClr val="000000"/>
                </a:solidFill>
              </a:rPr>
              <a:t>Cagnacci, F., Focardi, S., </a:t>
            </a:r>
            <a:r>
              <a:rPr lang="en-US" sz="1600" b="0" i="0" u="none" strike="noStrike" baseline="0" dirty="0" err="1">
                <a:solidFill>
                  <a:srgbClr val="000000"/>
                </a:solidFill>
              </a:rPr>
              <a:t>Ghisla</a:t>
            </a:r>
            <a:r>
              <a:rPr lang="en-US" sz="1600" b="0" i="0" u="none" strike="noStrike" baseline="0" dirty="0">
                <a:solidFill>
                  <a:srgbClr val="000000"/>
                </a:solidFill>
              </a:rPr>
              <a:t>, A., van </a:t>
            </a:r>
            <a:r>
              <a:rPr lang="en-US" sz="1600" b="0" i="0" u="none" strike="noStrike" baseline="0" dirty="0" err="1">
                <a:solidFill>
                  <a:srgbClr val="000000"/>
                </a:solidFill>
              </a:rPr>
              <a:t>Moorter</a:t>
            </a:r>
            <a:r>
              <a:rPr lang="en-US" sz="1600" b="0" i="0" u="none" strike="noStrike" baseline="0" dirty="0">
                <a:solidFill>
                  <a:srgbClr val="000000"/>
                </a:solidFill>
              </a:rPr>
              <a:t>, B., Merrill, E.H., Gurarie, E., </a:t>
            </a:r>
            <a:r>
              <a:rPr lang="en-US" sz="1600" b="0" i="0" u="none" strike="noStrike" baseline="0" dirty="0" err="1">
                <a:solidFill>
                  <a:srgbClr val="000000"/>
                </a:solidFill>
              </a:rPr>
              <a:t>Heurich</a:t>
            </a:r>
            <a:r>
              <a:rPr lang="en-US" sz="1600" b="0" i="0" u="none" strike="noStrike" baseline="0" dirty="0">
                <a:solidFill>
                  <a:srgbClr val="000000"/>
                </a:solidFill>
              </a:rPr>
              <a:t>, M., Mysterud, A., Linnell, J., </a:t>
            </a:r>
            <a:r>
              <a:rPr lang="en-US" sz="1600" b="0" i="0" u="none" strike="noStrike" baseline="0" dirty="0" err="1">
                <a:solidFill>
                  <a:srgbClr val="000000"/>
                </a:solidFill>
              </a:rPr>
              <a:t>Panzacchi</a:t>
            </a:r>
            <a:r>
              <a:rPr lang="en-US" sz="1600" b="0" i="0" u="none" strike="noStrike" baseline="0" dirty="0">
                <a:solidFill>
                  <a:srgbClr val="000000"/>
                </a:solidFill>
              </a:rPr>
              <a:t>, M., May, R., </a:t>
            </a:r>
            <a:r>
              <a:rPr lang="en-US" sz="1600" b="0" i="0" u="none" strike="noStrike" baseline="0" dirty="0" err="1">
                <a:solidFill>
                  <a:srgbClr val="000000"/>
                </a:solidFill>
              </a:rPr>
              <a:t>Nygård</a:t>
            </a:r>
            <a:r>
              <a:rPr lang="en-US" sz="1600" b="0" i="0" u="none" strike="noStrike" baseline="0" dirty="0">
                <a:solidFill>
                  <a:srgbClr val="000000"/>
                </a:solidFill>
              </a:rPr>
              <a:t>, T., </a:t>
            </a:r>
            <a:r>
              <a:rPr lang="en-US" sz="1600" b="0" i="0" u="none" strike="noStrike" baseline="0" dirty="0" err="1">
                <a:solidFill>
                  <a:srgbClr val="000000"/>
                </a:solidFill>
              </a:rPr>
              <a:t>Rolandsen</a:t>
            </a:r>
            <a:r>
              <a:rPr lang="en-US" sz="1600" b="0" i="0" u="none" strike="noStrike" baseline="0" dirty="0">
                <a:solidFill>
                  <a:srgbClr val="000000"/>
                </a:solidFill>
              </a:rPr>
              <a:t>, C. and Hebblewhite, M. (2016), How many routes lead to migration? Comparison of methods to assess and characterize migratory movements. J Anim </a:t>
            </a:r>
            <a:r>
              <a:rPr lang="en-US" sz="1600" b="0" i="0" u="none" strike="noStrike" baseline="0" dirty="0" err="1">
                <a:solidFill>
                  <a:srgbClr val="000000"/>
                </a:solidFill>
              </a:rPr>
              <a:t>Ecol</a:t>
            </a:r>
            <a:r>
              <a:rPr lang="en-US" sz="1600" b="0" i="0" u="none" strike="noStrike" baseline="0" dirty="0">
                <a:solidFill>
                  <a:srgbClr val="000000"/>
                </a:solidFill>
              </a:rPr>
              <a:t>, 85: 54-68. </a:t>
            </a:r>
          </a:p>
          <a:p>
            <a:r>
              <a:rPr lang="en-US" sz="1600" b="0" i="0" u="none" strike="noStrike" baseline="0" dirty="0" err="1">
                <a:solidFill>
                  <a:srgbClr val="000000"/>
                </a:solidFill>
              </a:rPr>
              <a:t>Karelus</a:t>
            </a:r>
            <a:r>
              <a:rPr lang="en-US" sz="1600" b="0" i="0" u="none" strike="noStrike" baseline="0" dirty="0">
                <a:solidFill>
                  <a:srgbClr val="000000"/>
                </a:solidFill>
              </a:rPr>
              <a:t>, D.L., J. Walter McCown, Brian K. </a:t>
            </a:r>
            <a:r>
              <a:rPr lang="en-US" sz="1600" b="0" i="0" u="none" strike="noStrike" baseline="0" dirty="0" err="1">
                <a:solidFill>
                  <a:srgbClr val="000000"/>
                </a:solidFill>
              </a:rPr>
              <a:t>Scheick</a:t>
            </a:r>
            <a:r>
              <a:rPr lang="en-US" sz="1600" b="0" i="0" u="none" strike="noStrike" baseline="0" dirty="0">
                <a:solidFill>
                  <a:srgbClr val="000000"/>
                </a:solidFill>
              </a:rPr>
              <a:t>, </a:t>
            </a:r>
            <a:r>
              <a:rPr lang="en-US" sz="1600" b="0" i="0" u="none" strike="noStrike" baseline="0" dirty="0" err="1">
                <a:solidFill>
                  <a:srgbClr val="000000"/>
                </a:solidFill>
              </a:rPr>
              <a:t>Madelonvan</a:t>
            </a:r>
            <a:r>
              <a:rPr lang="en-US" sz="1600" b="0" i="0" u="none" strike="noStrike" baseline="0" dirty="0">
                <a:solidFill>
                  <a:srgbClr val="000000"/>
                </a:solidFill>
              </a:rPr>
              <a:t> de </a:t>
            </a:r>
            <a:r>
              <a:rPr lang="en-US" sz="1600" b="0" i="0" u="none" strike="noStrike" baseline="0" dirty="0" err="1">
                <a:solidFill>
                  <a:srgbClr val="000000"/>
                </a:solidFill>
              </a:rPr>
              <a:t>Kerk</a:t>
            </a:r>
            <a:r>
              <a:rPr lang="en-US" sz="1600" b="0" i="0" u="none" strike="noStrike" baseline="0" dirty="0">
                <a:solidFill>
                  <a:srgbClr val="000000"/>
                </a:solidFill>
              </a:rPr>
              <a:t>, Benjamin M. </a:t>
            </a:r>
            <a:r>
              <a:rPr lang="en-US" sz="1600" b="0" i="0" u="none" strike="noStrike" baseline="0" dirty="0" err="1">
                <a:solidFill>
                  <a:srgbClr val="000000"/>
                </a:solidFill>
              </a:rPr>
              <a:t>Bolker</a:t>
            </a:r>
            <a:r>
              <a:rPr lang="en-US" sz="1600" b="0" i="0" u="none" strike="noStrike" baseline="0" dirty="0">
                <a:solidFill>
                  <a:srgbClr val="000000"/>
                </a:solidFill>
              </a:rPr>
              <a:t>, Madan K. Oli "Incorporating movement patterns to discern habitat selection: black bears as a case study," Wildlife Research, 46(1), 76-88, (15 February 2019) </a:t>
            </a:r>
          </a:p>
          <a:p>
            <a:r>
              <a:rPr lang="en-US" sz="1600" b="0" i="0" u="none" strike="noStrike" baseline="0" dirty="0">
                <a:solidFill>
                  <a:srgbClr val="000000"/>
                </a:solidFill>
              </a:rPr>
              <a:t>Kennedy, A. S., A. N. </a:t>
            </a:r>
            <a:r>
              <a:rPr lang="en-US" sz="1600" b="0" i="0" u="none" strike="noStrike" baseline="0" dirty="0" err="1">
                <a:solidFill>
                  <a:srgbClr val="000000"/>
                </a:solidFill>
              </a:rPr>
              <a:t>Zerbini</a:t>
            </a:r>
            <a:r>
              <a:rPr lang="en-US" sz="1600" b="0" i="0" u="none" strike="noStrike" baseline="0" dirty="0">
                <a:solidFill>
                  <a:srgbClr val="000000"/>
                </a:solidFill>
              </a:rPr>
              <a:t>, B. K. </a:t>
            </a:r>
            <a:r>
              <a:rPr lang="en-US" sz="1600" b="0" i="0" u="none" strike="noStrike" baseline="0" dirty="0" err="1">
                <a:solidFill>
                  <a:srgbClr val="000000"/>
                </a:solidFill>
              </a:rPr>
              <a:t>Rone</a:t>
            </a:r>
            <a:r>
              <a:rPr lang="en-US" sz="1600" b="0" i="0" u="none" strike="noStrike" baseline="0" dirty="0">
                <a:solidFill>
                  <a:srgbClr val="000000"/>
                </a:solidFill>
              </a:rPr>
              <a:t>, and P. J. Clapham. 2014. Individual variation in movements of satellite-tracked humpback whales Megaptera novaeangliae in the eastern Aleutian Islands and Bering Sea. Endangered Species Research 23:187195 </a:t>
            </a:r>
          </a:p>
          <a:p>
            <a:r>
              <a:rPr lang="en-US" sz="1600" b="0" i="0" u="none" strike="noStrike" baseline="0" dirty="0" err="1">
                <a:solidFill>
                  <a:srgbClr val="000000"/>
                </a:solidFill>
              </a:rPr>
              <a:t>Klappstein</a:t>
            </a:r>
            <a:r>
              <a:rPr lang="en-US" sz="1600" b="0" i="0" u="none" strike="noStrike" baseline="0" dirty="0">
                <a:solidFill>
                  <a:srgbClr val="000000"/>
                </a:solidFill>
              </a:rPr>
              <a:t> NJ, Thomas L, Michelot T. Flexible hidden Markov models for </a:t>
            </a:r>
            <a:r>
              <a:rPr lang="en-US" sz="1600" b="0" i="0" u="none" strike="noStrike" baseline="0" dirty="0" err="1">
                <a:solidFill>
                  <a:srgbClr val="000000"/>
                </a:solidFill>
              </a:rPr>
              <a:t>behaviour</a:t>
            </a:r>
            <a:r>
              <a:rPr lang="en-US" sz="1600" b="0" i="0" u="none" strike="noStrike" baseline="0" dirty="0">
                <a:solidFill>
                  <a:srgbClr val="000000"/>
                </a:solidFill>
              </a:rPr>
              <a:t>-dependent habitat selection. Mov Ecol. 2023 Jun 3;11(1):30. </a:t>
            </a:r>
            <a:r>
              <a:rPr lang="en-US" sz="1600" b="0" i="0" u="none" strike="noStrike" baseline="0" dirty="0" err="1">
                <a:solidFill>
                  <a:srgbClr val="000000"/>
                </a:solidFill>
              </a:rPr>
              <a:t>doi</a:t>
            </a:r>
            <a:r>
              <a:rPr lang="en-US" sz="1600" b="0" i="0" u="none" strike="noStrike" baseline="0" dirty="0">
                <a:solidFill>
                  <a:srgbClr val="000000"/>
                </a:solidFill>
              </a:rPr>
              <a:t>: 10.1186/s40462-023-00392-3. </a:t>
            </a:r>
            <a:endParaRPr lang="en-US" dirty="0"/>
          </a:p>
          <a:p>
            <a:r>
              <a:rPr lang="en-US" sz="1600" dirty="0"/>
              <a:t>McClintock, B.T. and Michelot, T. (2018), </a:t>
            </a:r>
            <a:r>
              <a:rPr lang="en-US" sz="1600" dirty="0" err="1"/>
              <a:t>momentuHMM</a:t>
            </a:r>
            <a:r>
              <a:rPr lang="en-US" sz="1600" dirty="0"/>
              <a:t>: </a:t>
            </a:r>
            <a:r>
              <a:rPr lang="en-US" sz="1600" cap="small" dirty="0"/>
              <a:t>R</a:t>
            </a:r>
            <a:r>
              <a:rPr lang="en-US" sz="1600" dirty="0"/>
              <a:t> package for generalized hidden Markov models of animal movement. </a:t>
            </a:r>
            <a:r>
              <a:rPr lang="en-US" sz="1600" dirty="0">
                <a:solidFill>
                  <a:srgbClr val="000000"/>
                </a:solidFill>
              </a:rPr>
              <a:t>Methods </a:t>
            </a:r>
            <a:r>
              <a:rPr lang="en-US" sz="1600" dirty="0" err="1">
                <a:solidFill>
                  <a:srgbClr val="000000"/>
                </a:solidFill>
              </a:rPr>
              <a:t>Ecol</a:t>
            </a:r>
            <a:r>
              <a:rPr lang="en-US" sz="1600">
                <a:solidFill>
                  <a:srgbClr val="000000"/>
                </a:solidFill>
              </a:rPr>
              <a:t> Evol, 9(6): 1518-1530.</a:t>
            </a:r>
            <a:r>
              <a:rPr lang="en-US" sz="1600"/>
              <a:t> </a:t>
            </a:r>
            <a:r>
              <a:rPr lang="en-US" sz="1600" dirty="0"/>
              <a:t>https://doi.org/10.1111/2041-210X.12995.</a:t>
            </a:r>
          </a:p>
          <a:p>
            <a:r>
              <a:rPr lang="en-US" sz="1600" b="0" i="0" u="none" strike="noStrike" baseline="0" dirty="0">
                <a:solidFill>
                  <a:srgbClr val="000000"/>
                </a:solidFill>
              </a:rPr>
              <a:t>Michelot, T., Langrock, R. and Patterson, T.A. (2016), </a:t>
            </a:r>
            <a:r>
              <a:rPr lang="en-US" sz="1600" b="0" i="0" u="none" strike="noStrike" baseline="0" dirty="0" err="1">
                <a:solidFill>
                  <a:srgbClr val="000000"/>
                </a:solidFill>
              </a:rPr>
              <a:t>moveHMM</a:t>
            </a:r>
            <a:r>
              <a:rPr lang="en-US" sz="1600" b="0" i="0" u="none" strike="noStrike" baseline="0" dirty="0">
                <a:solidFill>
                  <a:srgbClr val="000000"/>
                </a:solidFill>
              </a:rPr>
              <a:t>: an R package for the statistical modelling of animal movement data using hidden Markov models. Methods </a:t>
            </a:r>
            <a:r>
              <a:rPr lang="en-US" sz="1600" b="0" i="0" u="none" strike="noStrike" baseline="0" dirty="0" err="1">
                <a:solidFill>
                  <a:srgbClr val="000000"/>
                </a:solidFill>
              </a:rPr>
              <a:t>Ecol</a:t>
            </a:r>
            <a:r>
              <a:rPr lang="en-US" sz="1600" b="0" i="0" u="none" strike="noStrike" baseline="0" dirty="0">
                <a:solidFill>
                  <a:srgbClr val="000000"/>
                </a:solidFill>
              </a:rPr>
              <a:t> </a:t>
            </a:r>
            <a:r>
              <a:rPr lang="en-US" sz="1600" b="0" i="0" u="none" strike="noStrike" baseline="0" dirty="0" err="1">
                <a:solidFill>
                  <a:srgbClr val="000000"/>
                </a:solidFill>
              </a:rPr>
              <a:t>Evol</a:t>
            </a:r>
            <a:r>
              <a:rPr lang="en-US" sz="1600" b="0" i="0" u="none" strike="noStrike" baseline="0" dirty="0">
                <a:solidFill>
                  <a:srgbClr val="000000"/>
                </a:solidFill>
              </a:rPr>
              <a:t>, 7: 1308-1315. </a:t>
            </a:r>
            <a:endParaRPr lang="en-US" sz="1600" dirty="0"/>
          </a:p>
        </p:txBody>
      </p:sp>
      <p:sp>
        <p:nvSpPr>
          <p:cNvPr id="4" name="Title 1">
            <a:extLst>
              <a:ext uri="{FF2B5EF4-FFF2-40B4-BE49-F238E27FC236}">
                <a16:creationId xmlns:a16="http://schemas.microsoft.com/office/drawing/2014/main" id="{7399F66D-D444-F92A-B5F9-9B6852FEFDCE}"/>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References</a:t>
            </a:r>
            <a:br>
              <a:rPr lang="en-US" sz="3200" b="1" dirty="0">
                <a:solidFill>
                  <a:srgbClr val="000000"/>
                </a:solidFill>
              </a:rPr>
            </a:br>
            <a:endParaRPr lang="en-US" sz="3200" b="1" dirty="0"/>
          </a:p>
        </p:txBody>
      </p:sp>
    </p:spTree>
    <p:extLst>
      <p:ext uri="{BB962C8B-B14F-4D97-AF65-F5344CB8AC3E}">
        <p14:creationId xmlns:p14="http://schemas.microsoft.com/office/powerpoint/2010/main" val="27076039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DC47D5-EC06-36E6-5D6C-07CE82108FC4}"/>
              </a:ext>
            </a:extLst>
          </p:cNvPr>
          <p:cNvSpPr>
            <a:spLocks noGrp="1"/>
          </p:cNvSpPr>
          <p:nvPr>
            <p:ph idx="4294967295"/>
          </p:nvPr>
        </p:nvSpPr>
        <p:spPr>
          <a:xfrm>
            <a:off x="605642" y="1184359"/>
            <a:ext cx="10515600" cy="4351338"/>
          </a:xfrm>
        </p:spPr>
        <p:txBody>
          <a:bodyPr>
            <a:normAutofit lnSpcReduction="10000"/>
          </a:bodyPr>
          <a:lstStyle/>
          <a:p>
            <a:r>
              <a:rPr lang="en-US" sz="1700" b="0" i="0" u="none" strike="noStrike" baseline="0" dirty="0">
                <a:solidFill>
                  <a:srgbClr val="000000"/>
                </a:solidFill>
                <a:latin typeface="+mj-lt"/>
              </a:rPr>
              <a:t>Nicholson, K.L., Matthew J. Warren, Camille </a:t>
            </a:r>
            <a:r>
              <a:rPr lang="en-US" sz="1700" b="0" i="0" u="none" strike="noStrike" baseline="0" dirty="0" err="1">
                <a:solidFill>
                  <a:srgbClr val="000000"/>
                </a:solidFill>
                <a:latin typeface="+mj-lt"/>
              </a:rPr>
              <a:t>Rostan</a:t>
            </a:r>
            <a:r>
              <a:rPr lang="en-US" sz="1700" b="0" i="0" u="none" strike="noStrike" baseline="0" dirty="0">
                <a:solidFill>
                  <a:srgbClr val="000000"/>
                </a:solidFill>
                <a:latin typeface="+mj-lt"/>
              </a:rPr>
              <a:t>, Johan </a:t>
            </a:r>
            <a:r>
              <a:rPr lang="en-US" sz="1700" b="0" i="0" u="none" strike="noStrike" baseline="0" dirty="0" err="1">
                <a:solidFill>
                  <a:srgbClr val="000000"/>
                </a:solidFill>
                <a:latin typeface="+mj-lt"/>
              </a:rPr>
              <a:t>Månsson</a:t>
            </a:r>
            <a:r>
              <a:rPr lang="en-US" sz="1700" b="0" i="0" u="none" strike="noStrike" baseline="0" dirty="0">
                <a:solidFill>
                  <a:srgbClr val="000000"/>
                </a:solidFill>
                <a:latin typeface="+mj-lt"/>
              </a:rPr>
              <a:t>, Thomas F. </a:t>
            </a:r>
            <a:r>
              <a:rPr lang="en-US" sz="1700" b="0" i="0" u="none" strike="noStrike" baseline="0" dirty="0" err="1">
                <a:solidFill>
                  <a:srgbClr val="000000"/>
                </a:solidFill>
                <a:latin typeface="+mj-lt"/>
              </a:rPr>
              <a:t>Paragi</a:t>
            </a:r>
            <a:r>
              <a:rPr lang="en-US" sz="1700" b="0" i="0" u="none" strike="noStrike" baseline="0" dirty="0">
                <a:solidFill>
                  <a:srgbClr val="000000"/>
                </a:solidFill>
                <a:latin typeface="+mj-lt"/>
              </a:rPr>
              <a:t>, </a:t>
            </a:r>
            <a:r>
              <a:rPr lang="en-US" sz="1700" b="0" i="0" u="none" strike="noStrike" baseline="0" dirty="0" err="1">
                <a:solidFill>
                  <a:srgbClr val="000000"/>
                </a:solidFill>
                <a:latin typeface="+mj-lt"/>
              </a:rPr>
              <a:t>HåkanSand</a:t>
            </a:r>
            <a:r>
              <a:rPr lang="en-US" sz="1700" b="0" i="0" u="none" strike="noStrike" baseline="0" dirty="0">
                <a:solidFill>
                  <a:srgbClr val="000000"/>
                </a:solidFill>
                <a:latin typeface="+mj-lt"/>
              </a:rPr>
              <a:t>. 2019. Using fine-scale movement patterns to infer ungulate parturition. Ecological Indicators 101: 22-30. </a:t>
            </a:r>
            <a:r>
              <a:rPr lang="en-US" sz="1700" b="0" i="0" u="none" strike="noStrike" baseline="0" dirty="0">
                <a:solidFill>
                  <a:srgbClr val="0462C1"/>
                </a:solidFill>
                <a:latin typeface="+mj-lt"/>
              </a:rPr>
              <a:t>https://doi.org/10.1016/j.ecolind.2019.01.004</a:t>
            </a:r>
            <a:r>
              <a:rPr lang="en-US" sz="1700" b="0" i="0" u="none" strike="noStrike" baseline="0" dirty="0">
                <a:solidFill>
                  <a:srgbClr val="000000"/>
                </a:solidFill>
                <a:latin typeface="+mj-lt"/>
              </a:rPr>
              <a:t>. </a:t>
            </a:r>
          </a:p>
          <a:p>
            <a:r>
              <a:rPr lang="en-US" sz="1700" b="0" i="0" u="none" strike="noStrike" baseline="0" dirty="0" err="1">
                <a:solidFill>
                  <a:srgbClr val="000000"/>
                </a:solidFill>
                <a:latin typeface="+mj-lt"/>
              </a:rPr>
              <a:t>Patin</a:t>
            </a:r>
            <a:r>
              <a:rPr lang="en-US" sz="1700" b="0" i="0" u="none" strike="noStrike" baseline="0" dirty="0">
                <a:solidFill>
                  <a:srgbClr val="000000"/>
                </a:solidFill>
                <a:latin typeface="+mj-lt"/>
              </a:rPr>
              <a:t>, R, Etienne, M-P, </a:t>
            </a:r>
            <a:r>
              <a:rPr lang="en-US" sz="1700" b="0" i="0" u="none" strike="noStrike" baseline="0" dirty="0" err="1">
                <a:solidFill>
                  <a:srgbClr val="000000"/>
                </a:solidFill>
                <a:latin typeface="+mj-lt"/>
              </a:rPr>
              <a:t>Lebarbier</a:t>
            </a:r>
            <a:r>
              <a:rPr lang="en-US" sz="1700" b="0" i="0" u="none" strike="noStrike" baseline="0" dirty="0">
                <a:solidFill>
                  <a:srgbClr val="000000"/>
                </a:solidFill>
                <a:latin typeface="+mj-lt"/>
              </a:rPr>
              <a:t>, E, Chamaillé-Jammes, S, Benhamou, S. Identifying stationary phases in multivariate time series for highlighting </a:t>
            </a:r>
            <a:r>
              <a:rPr lang="en-US" sz="1700" b="0" i="0" u="none" strike="noStrike" baseline="0" dirty="0" err="1">
                <a:solidFill>
                  <a:srgbClr val="000000"/>
                </a:solidFill>
                <a:latin typeface="+mj-lt"/>
              </a:rPr>
              <a:t>behavioural</a:t>
            </a:r>
            <a:r>
              <a:rPr lang="en-US" sz="1700" b="0" i="0" u="none" strike="noStrike" baseline="0" dirty="0">
                <a:solidFill>
                  <a:srgbClr val="000000"/>
                </a:solidFill>
                <a:latin typeface="+mj-lt"/>
              </a:rPr>
              <a:t> modes and home range settlements. </a:t>
            </a:r>
            <a:r>
              <a:rPr lang="en-US" sz="1700" b="0" i="1" u="none" strike="noStrike" baseline="0" dirty="0">
                <a:solidFill>
                  <a:srgbClr val="000000"/>
                </a:solidFill>
                <a:latin typeface="+mj-lt"/>
              </a:rPr>
              <a:t>J Anim Ecol</a:t>
            </a:r>
            <a:r>
              <a:rPr lang="en-US" sz="1700" b="0" i="0" u="none" strike="noStrike" baseline="0" dirty="0">
                <a:solidFill>
                  <a:srgbClr val="000000"/>
                </a:solidFill>
                <a:latin typeface="+mj-lt"/>
              </a:rPr>
              <a:t>. 2020; 89: 44–56. </a:t>
            </a:r>
          </a:p>
          <a:p>
            <a:r>
              <a:rPr lang="en-US" sz="1700" b="0" i="0" u="none" strike="noStrike" baseline="0" dirty="0" err="1">
                <a:solidFill>
                  <a:srgbClr val="000000"/>
                </a:solidFill>
                <a:latin typeface="+mj-lt"/>
              </a:rPr>
              <a:t>Pohle</a:t>
            </a:r>
            <a:r>
              <a:rPr lang="en-US" sz="1700" b="0" i="0" u="none" strike="noStrike" baseline="0" dirty="0">
                <a:solidFill>
                  <a:srgbClr val="000000"/>
                </a:solidFill>
                <a:latin typeface="+mj-lt"/>
              </a:rPr>
              <a:t>, J., </a:t>
            </a:r>
            <a:r>
              <a:rPr lang="en-US" sz="1700" b="0" i="0" u="none" strike="noStrike" baseline="0" dirty="0" err="1">
                <a:solidFill>
                  <a:srgbClr val="000000"/>
                </a:solidFill>
                <a:latin typeface="+mj-lt"/>
              </a:rPr>
              <a:t>Langrock</a:t>
            </a:r>
            <a:r>
              <a:rPr lang="en-US" sz="1700" b="0" i="0" u="none" strike="noStrike" baseline="0" dirty="0">
                <a:solidFill>
                  <a:srgbClr val="000000"/>
                </a:solidFill>
                <a:latin typeface="+mj-lt"/>
              </a:rPr>
              <a:t>, R., van </a:t>
            </a:r>
            <a:r>
              <a:rPr lang="en-US" sz="1700" b="0" i="0" u="none" strike="noStrike" baseline="0" dirty="0" err="1">
                <a:solidFill>
                  <a:srgbClr val="000000"/>
                </a:solidFill>
                <a:latin typeface="+mj-lt"/>
              </a:rPr>
              <a:t>Beest</a:t>
            </a:r>
            <a:r>
              <a:rPr lang="en-US" sz="1700" b="0" i="0" u="none" strike="noStrike" baseline="0" dirty="0">
                <a:solidFill>
                  <a:srgbClr val="000000"/>
                </a:solidFill>
                <a:latin typeface="+mj-lt"/>
              </a:rPr>
              <a:t>, F.M. et al. Selecting the Number of States in Hidden Markov Models: Pragmatic Solutions Illustrated Using Animal Movement. JABES 22, 270–293 (2017). </a:t>
            </a:r>
            <a:r>
              <a:rPr lang="en-US" sz="1700" b="0" i="0" u="none" strike="noStrike" baseline="0" dirty="0">
                <a:solidFill>
                  <a:srgbClr val="0462C1"/>
                </a:solidFill>
                <a:latin typeface="+mj-lt"/>
              </a:rPr>
              <a:t>https://doi.org/10.1007/s13253-017-0283-8</a:t>
            </a:r>
          </a:p>
          <a:p>
            <a:r>
              <a:rPr lang="en-US" sz="1700" b="0" i="0" u="none" strike="noStrike" baseline="0" dirty="0">
                <a:solidFill>
                  <a:srgbClr val="000000"/>
                </a:solidFill>
                <a:latin typeface="+mj-lt"/>
              </a:rPr>
              <a:t>Postlethwaite CM, Dennis TE (2013) Effects of Temporal Resolution on an Inferential Model of Animal Movement. </a:t>
            </a:r>
            <a:r>
              <a:rPr lang="en-US" sz="1700" b="0" i="0" u="none" strike="noStrike" baseline="0" dirty="0" err="1">
                <a:solidFill>
                  <a:srgbClr val="000000"/>
                </a:solidFill>
                <a:latin typeface="+mj-lt"/>
              </a:rPr>
              <a:t>PLoS</a:t>
            </a:r>
            <a:r>
              <a:rPr lang="en-US" sz="1700" b="0" i="0" u="none" strike="noStrike" baseline="0" dirty="0">
                <a:solidFill>
                  <a:srgbClr val="000000"/>
                </a:solidFill>
                <a:latin typeface="+mj-lt"/>
              </a:rPr>
              <a:t> ONE 8(5): e57640. </a:t>
            </a:r>
          </a:p>
          <a:p>
            <a:r>
              <a:rPr lang="en-US" sz="1700" b="0" i="0" u="none" strike="noStrike" baseline="0" dirty="0">
                <a:solidFill>
                  <a:srgbClr val="000000"/>
                </a:solidFill>
                <a:latin typeface="+mj-lt"/>
              </a:rPr>
              <a:t>Towner, A.V., Leos-Barajas, V., Langrock, R., Schick, R.S., Smale, M.J., </a:t>
            </a:r>
            <a:r>
              <a:rPr lang="en-US" sz="1700" b="0" i="0" u="none" strike="noStrike" baseline="0" dirty="0" err="1">
                <a:solidFill>
                  <a:srgbClr val="000000"/>
                </a:solidFill>
                <a:latin typeface="+mj-lt"/>
              </a:rPr>
              <a:t>Kaschke</a:t>
            </a:r>
            <a:r>
              <a:rPr lang="en-US" sz="1700" b="0" i="0" u="none" strike="noStrike" baseline="0" dirty="0">
                <a:solidFill>
                  <a:srgbClr val="000000"/>
                </a:solidFill>
                <a:latin typeface="+mj-lt"/>
              </a:rPr>
              <a:t>, T., Jewell, O.J.D. and </a:t>
            </a:r>
            <a:r>
              <a:rPr lang="en-US" sz="1700" b="0" i="0" u="none" strike="noStrike" baseline="0" dirty="0" err="1">
                <a:solidFill>
                  <a:srgbClr val="000000"/>
                </a:solidFill>
                <a:latin typeface="+mj-lt"/>
              </a:rPr>
              <a:t>Papastamatiou</a:t>
            </a:r>
            <a:r>
              <a:rPr lang="en-US" sz="1700" b="0" i="0" u="none" strike="noStrike" baseline="0" dirty="0">
                <a:solidFill>
                  <a:srgbClr val="000000"/>
                </a:solidFill>
                <a:latin typeface="+mj-lt"/>
              </a:rPr>
              <a:t>, Y.P. (2016), Sex-specific and individual preferences for hunting strategies in white sharks. </a:t>
            </a:r>
            <a:r>
              <a:rPr lang="en-US" sz="1700" b="0" i="0" u="none" strike="noStrike" baseline="0" dirty="0" err="1">
                <a:solidFill>
                  <a:srgbClr val="000000"/>
                </a:solidFill>
                <a:latin typeface="+mj-lt"/>
              </a:rPr>
              <a:t>Funct</a:t>
            </a:r>
            <a:r>
              <a:rPr lang="en-US" sz="1700" b="0" i="0" u="none" strike="noStrike" baseline="0" dirty="0">
                <a:solidFill>
                  <a:srgbClr val="000000"/>
                </a:solidFill>
                <a:latin typeface="+mj-lt"/>
              </a:rPr>
              <a:t> </a:t>
            </a:r>
            <a:r>
              <a:rPr lang="en-US" sz="1700" b="0" i="0" u="none" strike="noStrike" baseline="0" dirty="0" err="1">
                <a:solidFill>
                  <a:srgbClr val="000000"/>
                </a:solidFill>
                <a:latin typeface="+mj-lt"/>
              </a:rPr>
              <a:t>Ecol</a:t>
            </a:r>
            <a:r>
              <a:rPr lang="en-US" sz="1700" b="0" i="0" u="none" strike="noStrike" baseline="0" dirty="0">
                <a:solidFill>
                  <a:srgbClr val="000000"/>
                </a:solidFill>
                <a:latin typeface="+mj-lt"/>
              </a:rPr>
              <a:t>, 30: 1397-1407. </a:t>
            </a:r>
          </a:p>
          <a:p>
            <a:r>
              <a:rPr lang="en-US" sz="1700" b="0" i="0" u="none" strike="noStrike" baseline="0" dirty="0">
                <a:solidFill>
                  <a:srgbClr val="000000"/>
                </a:solidFill>
                <a:latin typeface="+mj-lt"/>
              </a:rPr>
              <a:t>Zucchini, W., MacDonald, I. L., and </a:t>
            </a:r>
            <a:r>
              <a:rPr lang="en-US" sz="1700" b="0" i="0" u="none" strike="noStrike" baseline="0" dirty="0" err="1">
                <a:solidFill>
                  <a:srgbClr val="000000"/>
                </a:solidFill>
                <a:latin typeface="+mj-lt"/>
              </a:rPr>
              <a:t>Langrock</a:t>
            </a:r>
            <a:r>
              <a:rPr lang="en-US" sz="1700" b="0" i="0" u="none" strike="noStrike" baseline="0" dirty="0">
                <a:solidFill>
                  <a:srgbClr val="000000"/>
                </a:solidFill>
                <a:latin typeface="+mj-lt"/>
              </a:rPr>
              <a:t>, R. (2016). Hidden Markov models for time series: an introduction using R, Second Edition. Chapman and Hall/CRC.</a:t>
            </a:r>
          </a:p>
          <a:p>
            <a:endParaRPr lang="en-US" dirty="0"/>
          </a:p>
        </p:txBody>
      </p:sp>
      <p:sp>
        <p:nvSpPr>
          <p:cNvPr id="4" name="Title 1">
            <a:extLst>
              <a:ext uri="{FF2B5EF4-FFF2-40B4-BE49-F238E27FC236}">
                <a16:creationId xmlns:a16="http://schemas.microsoft.com/office/drawing/2014/main" id="{1C11FC36-095B-3BF9-DE85-1789FC03B8C2}"/>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References (Cont’d)</a:t>
            </a:r>
            <a:br>
              <a:rPr lang="en-US" sz="3200" b="1" dirty="0">
                <a:solidFill>
                  <a:srgbClr val="000000"/>
                </a:solidFill>
              </a:rPr>
            </a:br>
            <a:endParaRPr lang="en-US" sz="3200" b="1" dirty="0"/>
          </a:p>
        </p:txBody>
      </p:sp>
    </p:spTree>
    <p:extLst>
      <p:ext uri="{BB962C8B-B14F-4D97-AF65-F5344CB8AC3E}">
        <p14:creationId xmlns:p14="http://schemas.microsoft.com/office/powerpoint/2010/main" val="154925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1409</TotalTime>
  <Words>4732</Words>
  <Application>Microsoft Office PowerPoint</Application>
  <PresentationFormat>Widescreen</PresentationFormat>
  <Paragraphs>244</Paragraphs>
  <Slides>20</Slides>
  <Notes>17</Notes>
  <HiddenSlides>2</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20</vt:i4>
      </vt:variant>
    </vt:vector>
  </HeadingPairs>
  <TitlesOfParts>
    <vt:vector size="28" baseType="lpstr">
      <vt:lpstr>Aptos</vt:lpstr>
      <vt:lpstr>Aptos Display</vt:lpstr>
      <vt:lpstr>Arial</vt:lpstr>
      <vt:lpstr>Avenir Next LT Pro</vt:lpstr>
      <vt:lpstr>Century Gothic</vt:lpstr>
      <vt:lpstr>Courier New</vt:lpstr>
      <vt:lpstr>Office Theme</vt:lpstr>
      <vt:lpstr>Custom Design</vt:lpstr>
      <vt:lpstr>PowerPoint Presentation</vt:lpstr>
      <vt:lpstr>Behavioral Partitioning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Hidden Markov Models with momentuHMM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Stabach, Jared</dc:creator>
  <cp:lastModifiedBy>Stabach, Jared</cp:lastModifiedBy>
  <cp:revision>40</cp:revision>
  <dcterms:created xsi:type="dcterms:W3CDTF">2024-06-23T19:14:47Z</dcterms:created>
  <dcterms:modified xsi:type="dcterms:W3CDTF">2025-08-05T23:14:55Z</dcterms:modified>
</cp:coreProperties>
</file>